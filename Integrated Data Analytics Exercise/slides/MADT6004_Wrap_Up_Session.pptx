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
        <p:nvSpPr>
          <p:cNvPr id="4" name="Text 2"/>
          <p:cNvSpPr/>
          <p:nvPr/>
        </p:nvSpPr>
        <p:spPr>
          <a:xfrm>
            <a:off x="640080" y="1280160"/>
            <a:ext cx="7863840" cy="365760"/>
          </a:xfrm>
          <a:prstGeom prst="rect">
            <a:avLst/>
          </a:prstGeom>
          <a:noFill/>
          <a:ln/>
        </p:spPr>
        <p:txBody>
          <a:bodyPr wrap="square" lIns="0" tIns="0" rIns="0" bIns="0" rtlCol="0" anchor="ctr"/>
          <a:lstStyle/>
          <a:p>
            <a:pPr indent="0" marL="0">
              <a:buNone/>
            </a:pPr>
            <a:r>
              <a:rPr lang="en-US" sz="1400" dirty="0">
                <a:solidFill>
                  <a:srgbClr val="9CA3AF"/>
                </a:solidFill>
                <a:latin typeface="Arial" pitchFamily="34" charset="0"/>
                <a:ea typeface="Arial" pitchFamily="34" charset="-122"/>
                <a:cs typeface="Arial" pitchFamily="34" charset="-120"/>
              </a:rPr>
              <a:t>Wrap-Up Session</a:t>
            </a:r>
            <a:endParaRPr lang="en-US" sz="1400" dirty="0"/>
          </a:p>
        </p:txBody>
      </p:sp>
      <p:sp>
        <p:nvSpPr>
          <p:cNvPr id="5" name="Shape 3"/>
          <p:cNvSpPr/>
          <p:nvPr/>
        </p:nvSpPr>
        <p:spPr>
          <a:xfrm>
            <a:off x="640080" y="1783080"/>
            <a:ext cx="73152" cy="1554480"/>
          </a:xfrm>
          <a:prstGeom prst="rect">
            <a:avLst/>
          </a:prstGeom>
          <a:solidFill>
            <a:srgbClr val="0891B2"/>
          </a:solidFill>
          <a:ln/>
        </p:spPr>
      </p:sp>
      <p:sp>
        <p:nvSpPr>
          <p:cNvPr id="6" name="Text 4"/>
          <p:cNvSpPr/>
          <p:nvPr/>
        </p:nvSpPr>
        <p:spPr>
          <a:xfrm>
            <a:off x="868680" y="1737360"/>
            <a:ext cx="768096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Integrated Data Analytics Exercise</a:t>
            </a:r>
            <a:endParaRPr lang="en-US" sz="4000" dirty="0"/>
          </a:p>
        </p:txBody>
      </p:sp>
      <p:sp>
        <p:nvSpPr>
          <p:cNvPr id="7" name="Text 5"/>
          <p:cNvSpPr/>
          <p:nvPr/>
        </p:nvSpPr>
        <p:spPr>
          <a:xfrm>
            <a:off x="868680" y="2743200"/>
            <a:ext cx="7680960" cy="54864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Five modules. One coffee chain. The full journey from raw data to defensible decisions.</a:t>
            </a:r>
            <a:endParaRPr lang="en-US" sz="1600" dirty="0"/>
          </a:p>
        </p:txBody>
      </p:sp>
      <p:sp>
        <p:nvSpPr>
          <p:cNvPr id="8" name="Text 6"/>
          <p:cNvSpPr/>
          <p:nvPr/>
        </p:nvSpPr>
        <p:spPr>
          <a:xfrm>
            <a:off x="640080" y="4023360"/>
            <a:ext cx="7863840" cy="274320"/>
          </a:xfrm>
          <a:prstGeom prst="rect">
            <a:avLst/>
          </a:prstGeom>
          <a:noFill/>
          <a:ln/>
        </p:spPr>
        <p:txBody>
          <a:bodyPr wrap="square" lIns="0" tIns="0" rIns="0" bIns="0" rtlCol="0" anchor="ctr"/>
          <a:lstStyle/>
          <a:p>
            <a:pPr indent="0" marL="0">
              <a:buNone/>
            </a:pPr>
            <a:r>
              <a:rPr lang="en-US" sz="1200" dirty="0">
                <a:solidFill>
                  <a:srgbClr val="9CA3AF"/>
                </a:solidFill>
                <a:latin typeface="Arial" pitchFamily="34" charset="0"/>
                <a:ea typeface="Arial" pitchFamily="34" charset="-122"/>
                <a:cs typeface="Arial" pitchFamily="34" charset="-120"/>
              </a:rPr>
              <a:t>MADT6004  |  Applied Data Analytics for Business</a:t>
            </a:r>
            <a:endParaRPr lang="en-US" sz="1200" dirty="0"/>
          </a:p>
        </p:txBody>
      </p:sp>
      <p:sp>
        <p:nvSpPr>
          <p:cNvPr id="9" name="Text 7"/>
          <p:cNvSpPr/>
          <p:nvPr/>
        </p:nvSpPr>
        <p:spPr>
          <a:xfrm>
            <a:off x="640080" y="4297680"/>
            <a:ext cx="7863840" cy="274320"/>
          </a:xfrm>
          <a:prstGeom prst="rect">
            <a:avLst/>
          </a:prstGeom>
          <a:noFill/>
          <a:ln/>
        </p:spPr>
        <p:txBody>
          <a:bodyPr wrap="square" lIns="0" tIns="0" rIns="0" bIns="0" rtlCol="0" anchor="ctr"/>
          <a:lstStyle/>
          <a:p>
            <a:pPr indent="0" marL="0">
              <a:buNone/>
            </a:pPr>
            <a:r>
              <a:rPr lang="en-US" sz="1200" dirty="0">
                <a:solidFill>
                  <a:srgbClr val="9CA3AF"/>
                </a:solidFill>
                <a:latin typeface="Arial" pitchFamily="34" charset="0"/>
                <a:ea typeface="Arial" pitchFamily="34" charset="-122"/>
                <a:cs typeface="Arial" pitchFamily="34" charset="-120"/>
              </a:rPr>
              <a:t>Asst. Prof. Dr. Thanachart Ritbumroong  |  NIDA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Setup</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Brew Lab BKK</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12-branch specialty coffee chain across Bangkok</a:t>
            </a:r>
            <a:endParaRPr lang="en-US" sz="1300" dirty="0"/>
          </a:p>
        </p:txBody>
      </p:sp>
      <p:sp>
        <p:nvSpPr>
          <p:cNvPr id="7" name="Text 5"/>
          <p:cNvSpPr/>
          <p:nvPr/>
        </p:nvSpPr>
        <p:spPr>
          <a:xfrm>
            <a:off x="640080" y="1280160"/>
            <a:ext cx="1463040" cy="640080"/>
          </a:xfrm>
          <a:prstGeom prst="rect">
            <a:avLst/>
          </a:prstGeom>
          <a:noFill/>
          <a:ln/>
        </p:spPr>
        <p:txBody>
          <a:bodyPr wrap="square" lIns="0" tIns="0" rIns="0" bIns="0" rtlCol="0" anchor="ctr"/>
          <a:lstStyle/>
          <a:p>
            <a:pPr algn="ctr" indent="0" marL="0">
              <a:buNone/>
            </a:pPr>
            <a:r>
              <a:rPr lang="en-US" sz="3600" b="1" dirty="0">
                <a:solidFill>
                  <a:srgbClr val="0891B2"/>
                </a:solidFill>
                <a:latin typeface="Arial" pitchFamily="34" charset="0"/>
                <a:ea typeface="Arial" pitchFamily="34" charset="-122"/>
                <a:cs typeface="Arial" pitchFamily="34" charset="-120"/>
              </a:rPr>
              <a:t>12</a:t>
            </a:r>
            <a:endParaRPr lang="en-US" sz="3600" dirty="0"/>
          </a:p>
        </p:txBody>
      </p:sp>
      <p:sp>
        <p:nvSpPr>
          <p:cNvPr id="8" name="Text 6"/>
          <p:cNvSpPr/>
          <p:nvPr/>
        </p:nvSpPr>
        <p:spPr>
          <a:xfrm>
            <a:off x="640080" y="1874520"/>
            <a:ext cx="146304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branches</a:t>
            </a:r>
            <a:endParaRPr lang="en-US" sz="1100" dirty="0"/>
          </a:p>
        </p:txBody>
      </p:sp>
      <p:sp>
        <p:nvSpPr>
          <p:cNvPr id="9" name="Text 7"/>
          <p:cNvSpPr/>
          <p:nvPr/>
        </p:nvSpPr>
        <p:spPr>
          <a:xfrm>
            <a:off x="2267712" y="1280160"/>
            <a:ext cx="1463040" cy="640080"/>
          </a:xfrm>
          <a:prstGeom prst="rect">
            <a:avLst/>
          </a:prstGeom>
          <a:noFill/>
          <a:ln/>
        </p:spPr>
        <p:txBody>
          <a:bodyPr wrap="square" lIns="0" tIns="0" rIns="0" bIns="0" rtlCol="0" anchor="ctr"/>
          <a:lstStyle/>
          <a:p>
            <a:pPr algn="ctr" indent="0" marL="0">
              <a:buNone/>
            </a:pPr>
            <a:r>
              <a:rPr lang="en-US" sz="3600" b="1" dirty="0">
                <a:solidFill>
                  <a:srgbClr val="0891B2"/>
                </a:solidFill>
                <a:latin typeface="Arial" pitchFamily="34" charset="0"/>
                <a:ea typeface="Arial" pitchFamily="34" charset="-122"/>
                <a:cs typeface="Arial" pitchFamily="34" charset="-120"/>
              </a:rPr>
              <a:t>5K</a:t>
            </a:r>
            <a:endParaRPr lang="en-US" sz="3600" dirty="0"/>
          </a:p>
        </p:txBody>
      </p:sp>
      <p:sp>
        <p:nvSpPr>
          <p:cNvPr id="10" name="Text 8"/>
          <p:cNvSpPr/>
          <p:nvPr/>
        </p:nvSpPr>
        <p:spPr>
          <a:xfrm>
            <a:off x="2267712" y="1874520"/>
            <a:ext cx="146304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loyalty members</a:t>
            </a:r>
            <a:endParaRPr lang="en-US" sz="1100" dirty="0"/>
          </a:p>
        </p:txBody>
      </p:sp>
      <p:sp>
        <p:nvSpPr>
          <p:cNvPr id="11" name="Text 9"/>
          <p:cNvSpPr/>
          <p:nvPr/>
        </p:nvSpPr>
        <p:spPr>
          <a:xfrm>
            <a:off x="3895344" y="1280160"/>
            <a:ext cx="1463040" cy="640080"/>
          </a:xfrm>
          <a:prstGeom prst="rect">
            <a:avLst/>
          </a:prstGeom>
          <a:noFill/>
          <a:ln/>
        </p:spPr>
        <p:txBody>
          <a:bodyPr wrap="square" lIns="0" tIns="0" rIns="0" bIns="0" rtlCol="0" anchor="ctr"/>
          <a:lstStyle/>
          <a:p>
            <a:pPr algn="ctr" indent="0" marL="0">
              <a:buNone/>
            </a:pPr>
            <a:r>
              <a:rPr lang="en-US" sz="3600" b="1" dirty="0">
                <a:solidFill>
                  <a:srgbClr val="0891B2"/>
                </a:solidFill>
                <a:latin typeface="Arial" pitchFamily="34" charset="0"/>
                <a:ea typeface="Arial" pitchFamily="34" charset="-122"/>
                <a:cs typeface="Arial" pitchFamily="34" charset="-120"/>
              </a:rPr>
              <a:t>267K</a:t>
            </a:r>
            <a:endParaRPr lang="en-US" sz="3600" dirty="0"/>
          </a:p>
        </p:txBody>
      </p:sp>
      <p:sp>
        <p:nvSpPr>
          <p:cNvPr id="12" name="Text 10"/>
          <p:cNvSpPr/>
          <p:nvPr/>
        </p:nvSpPr>
        <p:spPr>
          <a:xfrm>
            <a:off x="3895344" y="1874520"/>
            <a:ext cx="146304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transactions</a:t>
            </a:r>
            <a:endParaRPr lang="en-US" sz="1100" dirty="0"/>
          </a:p>
        </p:txBody>
      </p:sp>
      <p:sp>
        <p:nvSpPr>
          <p:cNvPr id="13" name="Text 11"/>
          <p:cNvSpPr/>
          <p:nvPr/>
        </p:nvSpPr>
        <p:spPr>
          <a:xfrm>
            <a:off x="5522976" y="1280160"/>
            <a:ext cx="1463040" cy="640080"/>
          </a:xfrm>
          <a:prstGeom prst="rect">
            <a:avLst/>
          </a:prstGeom>
          <a:noFill/>
          <a:ln/>
        </p:spPr>
        <p:txBody>
          <a:bodyPr wrap="square" lIns="0" tIns="0" rIns="0" bIns="0" rtlCol="0" anchor="ctr"/>
          <a:lstStyle/>
          <a:p>
            <a:pPr algn="ctr" indent="0" marL="0">
              <a:buNone/>
            </a:pPr>
            <a:r>
              <a:rPr lang="en-US" sz="3600" b="1" dirty="0">
                <a:solidFill>
                  <a:srgbClr val="0891B2"/>
                </a:solidFill>
                <a:latin typeface="Arial" pitchFamily="34" charset="0"/>
                <a:ea typeface="Arial" pitchFamily="34" charset="-122"/>
                <a:cs typeface="Arial" pitchFamily="34" charset="-120"/>
              </a:rPr>
              <a:t>1.8K</a:t>
            </a:r>
            <a:endParaRPr lang="en-US" sz="3600" dirty="0"/>
          </a:p>
        </p:txBody>
      </p:sp>
      <p:sp>
        <p:nvSpPr>
          <p:cNvPr id="14" name="Text 12"/>
          <p:cNvSpPr/>
          <p:nvPr/>
        </p:nvSpPr>
        <p:spPr>
          <a:xfrm>
            <a:off x="5522976" y="1874520"/>
            <a:ext cx="146304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customer reviews</a:t>
            </a:r>
            <a:endParaRPr lang="en-US" sz="1100" dirty="0"/>
          </a:p>
        </p:txBody>
      </p:sp>
      <p:sp>
        <p:nvSpPr>
          <p:cNvPr id="15" name="Text 13"/>
          <p:cNvSpPr/>
          <p:nvPr/>
        </p:nvSpPr>
        <p:spPr>
          <a:xfrm>
            <a:off x="7150608" y="1280160"/>
            <a:ext cx="1463040" cy="640080"/>
          </a:xfrm>
          <a:prstGeom prst="rect">
            <a:avLst/>
          </a:prstGeom>
          <a:noFill/>
          <a:ln/>
        </p:spPr>
        <p:txBody>
          <a:bodyPr wrap="square" lIns="0" tIns="0" rIns="0" bIns="0" rtlCol="0" anchor="ctr"/>
          <a:lstStyle/>
          <a:p>
            <a:pPr algn="ctr" indent="0" marL="0">
              <a:buNone/>
            </a:pPr>
            <a:r>
              <a:rPr lang="en-US" sz="3600" b="1" dirty="0">
                <a:solidFill>
                  <a:srgbClr val="0891B2"/>
                </a:solidFill>
                <a:latin typeface="Arial" pitchFamily="34" charset="0"/>
                <a:ea typeface="Arial" pitchFamily="34" charset="-122"/>
                <a:cs typeface="Arial" pitchFamily="34" charset="-120"/>
              </a:rPr>
              <a:t>12mo</a:t>
            </a:r>
            <a:endParaRPr lang="en-US" sz="3600" dirty="0"/>
          </a:p>
        </p:txBody>
      </p:sp>
      <p:sp>
        <p:nvSpPr>
          <p:cNvPr id="16" name="Text 14"/>
          <p:cNvSpPr/>
          <p:nvPr/>
        </p:nvSpPr>
        <p:spPr>
          <a:xfrm>
            <a:off x="7150608" y="1874520"/>
            <a:ext cx="146304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Arial" pitchFamily="34" charset="0"/>
                <a:ea typeface="Arial" pitchFamily="34" charset="-122"/>
                <a:cs typeface="Arial" pitchFamily="34" charset="-120"/>
              </a:rPr>
              <a:t>of history</a:t>
            </a:r>
            <a:endParaRPr lang="en-US" sz="1100" dirty="0"/>
          </a:p>
        </p:txBody>
      </p:sp>
      <p:sp>
        <p:nvSpPr>
          <p:cNvPr id="17" name="Text 15"/>
          <p:cNvSpPr/>
          <p:nvPr/>
        </p:nvSpPr>
        <p:spPr>
          <a:xfrm>
            <a:off x="640080" y="2468880"/>
            <a:ext cx="7863840" cy="914400"/>
          </a:xfrm>
          <a:prstGeom prst="rect">
            <a:avLst/>
          </a:prstGeom>
          <a:noFill/>
          <a:ln/>
        </p:spPr>
        <p:txBody>
          <a:bodyPr wrap="square" lIns="0" tIns="0" rIns="0" bIns="0" rtlCol="0" anchor="t"/>
          <a:lstStyle/>
          <a:p>
            <a:pPr indent="0" marL="0">
              <a:buNone/>
            </a:pPr>
            <a:r>
              <a:rPr lang="en-US" sz="1300" dirty="0">
                <a:solidFill>
                  <a:srgbClr val="374151"/>
                </a:solidFill>
                <a:latin typeface="Arial" pitchFamily="34" charset="0"/>
                <a:ea typeface="Arial" pitchFamily="34" charset="-122"/>
                <a:cs typeface="Arial" pitchFamily="34" charset="-120"/>
              </a:rPr>
              <a:t>All branches sit in central Bangkok. Four are drive-thrus on outer roads; eight are walk-in shops in higher-prestige districts. Mixed channel mix: dine-in, takeaway, app, delivery. ~60K loyalty signups; 12 months of clean transaction history through April 2026.</a:t>
            </a:r>
            <a:endParaRPr lang="en-US" sz="1300" dirty="0"/>
          </a:p>
        </p:txBody>
      </p:sp>
      <p:sp>
        <p:nvSpPr>
          <p:cNvPr id="18" name="Shape 16"/>
          <p:cNvSpPr/>
          <p:nvPr/>
        </p:nvSpPr>
        <p:spPr>
          <a:xfrm>
            <a:off x="640080" y="3657600"/>
            <a:ext cx="7863840" cy="777240"/>
          </a:xfrm>
          <a:prstGeom prst="rect">
            <a:avLst/>
          </a:prstGeom>
          <a:solidFill>
            <a:srgbClr val="E0F7FA"/>
          </a:solidFill>
          <a:ln w="12700">
            <a:solidFill>
              <a:srgbClr val="0891B2"/>
            </a:solidFill>
            <a:prstDash val="solid"/>
          </a:ln>
        </p:spPr>
      </p:sp>
      <p:sp>
        <p:nvSpPr>
          <p:cNvPr id="19" name="Text 17"/>
          <p:cNvSpPr/>
          <p:nvPr/>
        </p:nvSpPr>
        <p:spPr>
          <a:xfrm>
            <a:off x="822960" y="3749040"/>
            <a:ext cx="7498080" cy="59436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case is fictional. The patterns are real — engineered to surface signal in every module. What you find today, you will find at every Thai retail client.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The questions</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Khun Ploy's five questions</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The COO doesn't want models. She wants answers.</a:t>
            </a:r>
            <a:endParaRPr lang="en-US" sz="1300" dirty="0"/>
          </a:p>
        </p:txBody>
      </p:sp>
      <p:sp>
        <p:nvSpPr>
          <p:cNvPr id="7" name="Text 5"/>
          <p:cNvSpPr/>
          <p:nvPr/>
        </p:nvSpPr>
        <p:spPr>
          <a:xfrm>
            <a:off x="640080" y="1280160"/>
            <a:ext cx="640080" cy="548640"/>
          </a:xfrm>
          <a:prstGeom prst="rect">
            <a:avLst/>
          </a:prstGeom>
          <a:noFill/>
          <a:ln/>
        </p:spPr>
        <p:txBody>
          <a:bodyPr wrap="square" lIns="0" tIns="0" rIns="0" bIns="0" rtlCol="0" anchor="ctr"/>
          <a:lstStyle/>
          <a:p>
            <a:pPr indent="0" marL="0">
              <a:buNone/>
            </a:pPr>
            <a:r>
              <a:rPr lang="en-US" sz="2400" b="1" dirty="0">
                <a:solidFill>
                  <a:srgbClr val="0891B2"/>
                </a:solidFill>
                <a:latin typeface="Arial" pitchFamily="34" charset="0"/>
                <a:ea typeface="Arial" pitchFamily="34" charset="-122"/>
                <a:cs typeface="Arial" pitchFamily="34" charset="-120"/>
              </a:rPr>
              <a:t>01</a:t>
            </a:r>
            <a:endParaRPr lang="en-US" sz="2400" dirty="0"/>
          </a:p>
        </p:txBody>
      </p:sp>
      <p:sp>
        <p:nvSpPr>
          <p:cNvPr id="8" name="Text 6"/>
          <p:cNvSpPr/>
          <p:nvPr/>
        </p:nvSpPr>
        <p:spPr>
          <a:xfrm>
            <a:off x="1325880" y="1371600"/>
            <a:ext cx="5852160" cy="54864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What actually drives daily branch revenue?</a:t>
            </a:r>
            <a:endParaRPr lang="en-US" sz="1300" dirty="0"/>
          </a:p>
        </p:txBody>
      </p:sp>
      <p:sp>
        <p:nvSpPr>
          <p:cNvPr id="9" name="Shape 7"/>
          <p:cNvSpPr/>
          <p:nvPr/>
        </p:nvSpPr>
        <p:spPr>
          <a:xfrm>
            <a:off x="7315200" y="1325880"/>
            <a:ext cx="1188720" cy="411480"/>
          </a:xfrm>
          <a:prstGeom prst="rect">
            <a:avLst/>
          </a:prstGeom>
          <a:solidFill>
            <a:srgbClr val="E0F7FA"/>
          </a:solidFill>
          <a:ln w="6350">
            <a:solidFill>
              <a:srgbClr val="0891B2"/>
            </a:solidFill>
            <a:prstDash val="solid"/>
          </a:ln>
        </p:spPr>
      </p:sp>
      <p:sp>
        <p:nvSpPr>
          <p:cNvPr id="10" name="Text 8"/>
          <p:cNvSpPr/>
          <p:nvPr/>
        </p:nvSpPr>
        <p:spPr>
          <a:xfrm>
            <a:off x="7315200" y="1325880"/>
            <a:ext cx="1188720" cy="411480"/>
          </a:xfrm>
          <a:prstGeom prst="rect">
            <a:avLst/>
          </a:prstGeom>
          <a:noFill/>
          <a:ln/>
        </p:spPr>
        <p:txBody>
          <a:bodyPr wrap="square" lIns="0" tIns="0" rIns="0" bIns="0" rtlCol="0" anchor="ctr"/>
          <a:lstStyle/>
          <a:p>
            <a:pPr algn="ctr" indent="0" marL="0">
              <a:buNone/>
            </a:pPr>
            <a:r>
              <a:rPr lang="en-US" sz="1000" b="1" dirty="0">
                <a:solidFill>
                  <a:srgbClr val="0891B2"/>
                </a:solidFill>
                <a:latin typeface="Arial" pitchFamily="34" charset="0"/>
                <a:ea typeface="Arial" pitchFamily="34" charset="-122"/>
                <a:cs typeface="Arial" pitchFamily="34" charset="-120"/>
              </a:rPr>
              <a:t>Strategy</a:t>
            </a:r>
            <a:endParaRPr lang="en-US" sz="1000" dirty="0"/>
          </a:p>
        </p:txBody>
      </p:sp>
      <p:sp>
        <p:nvSpPr>
          <p:cNvPr id="11" name="Text 9"/>
          <p:cNvSpPr/>
          <p:nvPr/>
        </p:nvSpPr>
        <p:spPr>
          <a:xfrm>
            <a:off x="640080" y="1965960"/>
            <a:ext cx="640080" cy="548640"/>
          </a:xfrm>
          <a:prstGeom prst="rect">
            <a:avLst/>
          </a:prstGeom>
          <a:noFill/>
          <a:ln/>
        </p:spPr>
        <p:txBody>
          <a:bodyPr wrap="square" lIns="0" tIns="0" rIns="0" bIns="0" rtlCol="0" anchor="ctr"/>
          <a:lstStyle/>
          <a:p>
            <a:pPr indent="0" marL="0">
              <a:buNone/>
            </a:pPr>
            <a:r>
              <a:rPr lang="en-US" sz="2400" b="1" dirty="0">
                <a:solidFill>
                  <a:srgbClr val="0891B2"/>
                </a:solidFill>
                <a:latin typeface="Arial" pitchFamily="34" charset="0"/>
                <a:ea typeface="Arial" pitchFamily="34" charset="-122"/>
                <a:cs typeface="Arial" pitchFamily="34" charset="-120"/>
              </a:rPr>
              <a:t>02</a:t>
            </a:r>
            <a:endParaRPr lang="en-US" sz="2400" dirty="0"/>
          </a:p>
        </p:txBody>
      </p:sp>
      <p:sp>
        <p:nvSpPr>
          <p:cNvPr id="12" name="Text 10"/>
          <p:cNvSpPr/>
          <p:nvPr/>
        </p:nvSpPr>
        <p:spPr>
          <a:xfrm>
            <a:off x="1325880" y="2057400"/>
            <a:ext cx="5852160" cy="54864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How much will each SKU sell at each branch over the next 30 days?</a:t>
            </a:r>
            <a:endParaRPr lang="en-US" sz="1300" dirty="0"/>
          </a:p>
        </p:txBody>
      </p:sp>
      <p:sp>
        <p:nvSpPr>
          <p:cNvPr id="13" name="Shape 11"/>
          <p:cNvSpPr/>
          <p:nvPr/>
        </p:nvSpPr>
        <p:spPr>
          <a:xfrm>
            <a:off x="7315200" y="2011680"/>
            <a:ext cx="1188720" cy="411480"/>
          </a:xfrm>
          <a:prstGeom prst="rect">
            <a:avLst/>
          </a:prstGeom>
          <a:solidFill>
            <a:srgbClr val="E0F7FA"/>
          </a:solidFill>
          <a:ln w="6350">
            <a:solidFill>
              <a:srgbClr val="0891B2"/>
            </a:solidFill>
            <a:prstDash val="solid"/>
          </a:ln>
        </p:spPr>
      </p:sp>
      <p:sp>
        <p:nvSpPr>
          <p:cNvPr id="14" name="Text 12"/>
          <p:cNvSpPr/>
          <p:nvPr/>
        </p:nvSpPr>
        <p:spPr>
          <a:xfrm>
            <a:off x="7315200" y="2011680"/>
            <a:ext cx="1188720" cy="411480"/>
          </a:xfrm>
          <a:prstGeom prst="rect">
            <a:avLst/>
          </a:prstGeom>
          <a:noFill/>
          <a:ln/>
        </p:spPr>
        <p:txBody>
          <a:bodyPr wrap="square" lIns="0" tIns="0" rIns="0" bIns="0" rtlCol="0" anchor="ctr"/>
          <a:lstStyle/>
          <a:p>
            <a:pPr algn="ctr" indent="0" marL="0">
              <a:buNone/>
            </a:pPr>
            <a:r>
              <a:rPr lang="en-US" sz="1000" b="1" dirty="0">
                <a:solidFill>
                  <a:srgbClr val="0891B2"/>
                </a:solidFill>
                <a:latin typeface="Arial" pitchFamily="34" charset="0"/>
                <a:ea typeface="Arial" pitchFamily="34" charset="-122"/>
                <a:cs typeface="Arial" pitchFamily="34" charset="-120"/>
              </a:rPr>
              <a:t>Operations</a:t>
            </a:r>
            <a:endParaRPr lang="en-US" sz="1000" dirty="0"/>
          </a:p>
        </p:txBody>
      </p:sp>
      <p:sp>
        <p:nvSpPr>
          <p:cNvPr id="15" name="Text 13"/>
          <p:cNvSpPr/>
          <p:nvPr/>
        </p:nvSpPr>
        <p:spPr>
          <a:xfrm>
            <a:off x="640080" y="2651760"/>
            <a:ext cx="640080" cy="548640"/>
          </a:xfrm>
          <a:prstGeom prst="rect">
            <a:avLst/>
          </a:prstGeom>
          <a:noFill/>
          <a:ln/>
        </p:spPr>
        <p:txBody>
          <a:bodyPr wrap="square" lIns="0" tIns="0" rIns="0" bIns="0" rtlCol="0" anchor="ctr"/>
          <a:lstStyle/>
          <a:p>
            <a:pPr indent="0" marL="0">
              <a:buNone/>
            </a:pPr>
            <a:r>
              <a:rPr lang="en-US" sz="2400" b="1" dirty="0">
                <a:solidFill>
                  <a:srgbClr val="0891B2"/>
                </a:solidFill>
                <a:latin typeface="Arial" pitchFamily="34" charset="0"/>
                <a:ea typeface="Arial" pitchFamily="34" charset="-122"/>
                <a:cs typeface="Arial" pitchFamily="34" charset="-120"/>
              </a:rPr>
              <a:t>03</a:t>
            </a:r>
            <a:endParaRPr lang="en-US" sz="2400" dirty="0"/>
          </a:p>
        </p:txBody>
      </p:sp>
      <p:sp>
        <p:nvSpPr>
          <p:cNvPr id="16" name="Text 14"/>
          <p:cNvSpPr/>
          <p:nvPr/>
        </p:nvSpPr>
        <p:spPr>
          <a:xfrm>
            <a:off x="1325880" y="2743200"/>
            <a:ext cx="5852160" cy="54864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Of the next batch of lapsed members, who will respond to the comeback voucher?</a:t>
            </a:r>
            <a:endParaRPr lang="en-US" sz="1300" dirty="0"/>
          </a:p>
        </p:txBody>
      </p:sp>
      <p:sp>
        <p:nvSpPr>
          <p:cNvPr id="17" name="Shape 15"/>
          <p:cNvSpPr/>
          <p:nvPr/>
        </p:nvSpPr>
        <p:spPr>
          <a:xfrm>
            <a:off x="7315200" y="2697480"/>
            <a:ext cx="1188720" cy="411480"/>
          </a:xfrm>
          <a:prstGeom prst="rect">
            <a:avLst/>
          </a:prstGeom>
          <a:solidFill>
            <a:srgbClr val="E0F7FA"/>
          </a:solidFill>
          <a:ln w="6350">
            <a:solidFill>
              <a:srgbClr val="0891B2"/>
            </a:solidFill>
            <a:prstDash val="solid"/>
          </a:ln>
        </p:spPr>
      </p:sp>
      <p:sp>
        <p:nvSpPr>
          <p:cNvPr id="18" name="Text 16"/>
          <p:cNvSpPr/>
          <p:nvPr/>
        </p:nvSpPr>
        <p:spPr>
          <a:xfrm>
            <a:off x="7315200" y="2697480"/>
            <a:ext cx="1188720" cy="411480"/>
          </a:xfrm>
          <a:prstGeom prst="rect">
            <a:avLst/>
          </a:prstGeom>
          <a:noFill/>
          <a:ln/>
        </p:spPr>
        <p:txBody>
          <a:bodyPr wrap="square" lIns="0" tIns="0" rIns="0" bIns="0" rtlCol="0" anchor="ctr"/>
          <a:lstStyle/>
          <a:p>
            <a:pPr algn="ctr" indent="0" marL="0">
              <a:buNone/>
            </a:pPr>
            <a:r>
              <a:rPr lang="en-US" sz="1000" b="1" dirty="0">
                <a:solidFill>
                  <a:srgbClr val="0891B2"/>
                </a:solidFill>
                <a:latin typeface="Arial" pitchFamily="34" charset="0"/>
                <a:ea typeface="Arial" pitchFamily="34" charset="-122"/>
                <a:cs typeface="Arial" pitchFamily="34" charset="-120"/>
              </a:rPr>
              <a:t>Marketing</a:t>
            </a:r>
            <a:endParaRPr lang="en-US" sz="1000" dirty="0"/>
          </a:p>
        </p:txBody>
      </p:sp>
      <p:sp>
        <p:nvSpPr>
          <p:cNvPr id="19" name="Text 17"/>
          <p:cNvSpPr/>
          <p:nvPr/>
        </p:nvSpPr>
        <p:spPr>
          <a:xfrm>
            <a:off x="640080" y="3337560"/>
            <a:ext cx="640080" cy="548640"/>
          </a:xfrm>
          <a:prstGeom prst="rect">
            <a:avLst/>
          </a:prstGeom>
          <a:noFill/>
          <a:ln/>
        </p:spPr>
        <p:txBody>
          <a:bodyPr wrap="square" lIns="0" tIns="0" rIns="0" bIns="0" rtlCol="0" anchor="ctr"/>
          <a:lstStyle/>
          <a:p>
            <a:pPr indent="0" marL="0">
              <a:buNone/>
            </a:pPr>
            <a:r>
              <a:rPr lang="en-US" sz="2400" b="1" dirty="0">
                <a:solidFill>
                  <a:srgbClr val="0891B2"/>
                </a:solidFill>
                <a:latin typeface="Arial" pitchFamily="34" charset="0"/>
                <a:ea typeface="Arial" pitchFamily="34" charset="-122"/>
                <a:cs typeface="Arial" pitchFamily="34" charset="-120"/>
              </a:rPr>
              <a:t>04</a:t>
            </a:r>
            <a:endParaRPr lang="en-US" sz="2400" dirty="0"/>
          </a:p>
        </p:txBody>
      </p:sp>
      <p:sp>
        <p:nvSpPr>
          <p:cNvPr id="20" name="Text 18"/>
          <p:cNvSpPr/>
          <p:nvPr/>
        </p:nvSpPr>
        <p:spPr>
          <a:xfrm>
            <a:off x="1325880" y="3429000"/>
            <a:ext cx="5852160" cy="54864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How many real types of customer do we have, and what should we put in front of them?</a:t>
            </a:r>
            <a:endParaRPr lang="en-US" sz="1300" dirty="0"/>
          </a:p>
        </p:txBody>
      </p:sp>
      <p:sp>
        <p:nvSpPr>
          <p:cNvPr id="21" name="Shape 19"/>
          <p:cNvSpPr/>
          <p:nvPr/>
        </p:nvSpPr>
        <p:spPr>
          <a:xfrm>
            <a:off x="7315200" y="3383280"/>
            <a:ext cx="1188720" cy="411480"/>
          </a:xfrm>
          <a:prstGeom prst="rect">
            <a:avLst/>
          </a:prstGeom>
          <a:solidFill>
            <a:srgbClr val="E0F7FA"/>
          </a:solidFill>
          <a:ln w="6350">
            <a:solidFill>
              <a:srgbClr val="0891B2"/>
            </a:solidFill>
            <a:prstDash val="solid"/>
          </a:ln>
        </p:spPr>
      </p:sp>
      <p:sp>
        <p:nvSpPr>
          <p:cNvPr id="22" name="Text 20"/>
          <p:cNvSpPr/>
          <p:nvPr/>
        </p:nvSpPr>
        <p:spPr>
          <a:xfrm>
            <a:off x="7315200" y="3383280"/>
            <a:ext cx="1188720" cy="411480"/>
          </a:xfrm>
          <a:prstGeom prst="rect">
            <a:avLst/>
          </a:prstGeom>
          <a:noFill/>
          <a:ln/>
        </p:spPr>
        <p:txBody>
          <a:bodyPr wrap="square" lIns="0" tIns="0" rIns="0" bIns="0" rtlCol="0" anchor="ctr"/>
          <a:lstStyle/>
          <a:p>
            <a:pPr algn="ctr" indent="0" marL="0">
              <a:buNone/>
            </a:pPr>
            <a:r>
              <a:rPr lang="en-US" sz="1000" b="1" dirty="0">
                <a:solidFill>
                  <a:srgbClr val="0891B2"/>
                </a:solidFill>
                <a:latin typeface="Arial" pitchFamily="34" charset="0"/>
                <a:ea typeface="Arial" pitchFamily="34" charset="-122"/>
                <a:cs typeface="Arial" pitchFamily="34" charset="-120"/>
              </a:rPr>
              <a:t>Product</a:t>
            </a:r>
            <a:endParaRPr lang="en-US" sz="1000" dirty="0"/>
          </a:p>
        </p:txBody>
      </p:sp>
      <p:sp>
        <p:nvSpPr>
          <p:cNvPr id="23" name="Text 21"/>
          <p:cNvSpPr/>
          <p:nvPr/>
        </p:nvSpPr>
        <p:spPr>
          <a:xfrm>
            <a:off x="640080" y="4023360"/>
            <a:ext cx="640080" cy="548640"/>
          </a:xfrm>
          <a:prstGeom prst="rect">
            <a:avLst/>
          </a:prstGeom>
          <a:noFill/>
          <a:ln/>
        </p:spPr>
        <p:txBody>
          <a:bodyPr wrap="square" lIns="0" tIns="0" rIns="0" bIns="0" rtlCol="0" anchor="ctr"/>
          <a:lstStyle/>
          <a:p>
            <a:pPr indent="0" marL="0">
              <a:buNone/>
            </a:pPr>
            <a:r>
              <a:rPr lang="en-US" sz="2400" b="1" dirty="0">
                <a:solidFill>
                  <a:srgbClr val="0891B2"/>
                </a:solidFill>
                <a:latin typeface="Arial" pitchFamily="34" charset="0"/>
                <a:ea typeface="Arial" pitchFamily="34" charset="-122"/>
                <a:cs typeface="Arial" pitchFamily="34" charset="-120"/>
              </a:rPr>
              <a:t>05</a:t>
            </a:r>
            <a:endParaRPr lang="en-US" sz="2400" dirty="0"/>
          </a:p>
        </p:txBody>
      </p:sp>
      <p:sp>
        <p:nvSpPr>
          <p:cNvPr id="24" name="Text 22"/>
          <p:cNvSpPr/>
          <p:nvPr/>
        </p:nvSpPr>
        <p:spPr>
          <a:xfrm>
            <a:off x="1325880" y="4114800"/>
            <a:ext cx="5852160" cy="54864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What are customers actually saying — and where is it worst?</a:t>
            </a:r>
            <a:endParaRPr lang="en-US" sz="1300" dirty="0"/>
          </a:p>
        </p:txBody>
      </p:sp>
      <p:sp>
        <p:nvSpPr>
          <p:cNvPr id="25" name="Shape 23"/>
          <p:cNvSpPr/>
          <p:nvPr/>
        </p:nvSpPr>
        <p:spPr>
          <a:xfrm>
            <a:off x="7315200" y="4069080"/>
            <a:ext cx="1188720" cy="411480"/>
          </a:xfrm>
          <a:prstGeom prst="rect">
            <a:avLst/>
          </a:prstGeom>
          <a:solidFill>
            <a:srgbClr val="E0F7FA"/>
          </a:solidFill>
          <a:ln w="6350">
            <a:solidFill>
              <a:srgbClr val="0891B2"/>
            </a:solidFill>
            <a:prstDash val="solid"/>
          </a:ln>
        </p:spPr>
      </p:sp>
      <p:sp>
        <p:nvSpPr>
          <p:cNvPr id="26" name="Text 24"/>
          <p:cNvSpPr/>
          <p:nvPr/>
        </p:nvSpPr>
        <p:spPr>
          <a:xfrm>
            <a:off x="7315200" y="4069080"/>
            <a:ext cx="1188720" cy="411480"/>
          </a:xfrm>
          <a:prstGeom prst="rect">
            <a:avLst/>
          </a:prstGeom>
          <a:noFill/>
          <a:ln/>
        </p:spPr>
        <p:txBody>
          <a:bodyPr wrap="square" lIns="0" tIns="0" rIns="0" bIns="0" rtlCol="0" anchor="ctr"/>
          <a:lstStyle/>
          <a:p>
            <a:pPr algn="ctr" indent="0" marL="0">
              <a:buNone/>
            </a:pPr>
            <a:r>
              <a:rPr lang="en-US" sz="1000" b="1" dirty="0">
                <a:solidFill>
                  <a:srgbClr val="0891B2"/>
                </a:solidFill>
                <a:latin typeface="Arial" pitchFamily="34" charset="0"/>
                <a:ea typeface="Arial" pitchFamily="34" charset="-122"/>
                <a:cs typeface="Arial" pitchFamily="34" charset="-120"/>
              </a:rPr>
              <a:t>Service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Today</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Today's journey</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Five modules. One thread. Three hours.</a:t>
            </a:r>
            <a:endParaRPr lang="en-US" sz="1300" dirty="0"/>
          </a:p>
        </p:txBody>
      </p:sp>
      <p:sp>
        <p:nvSpPr>
          <p:cNvPr id="7" name="Shape 5"/>
          <p:cNvSpPr/>
          <p:nvPr/>
        </p:nvSpPr>
        <p:spPr>
          <a:xfrm>
            <a:off x="640080" y="1280160"/>
            <a:ext cx="548640" cy="548640"/>
          </a:xfrm>
          <a:prstGeom prst="rect">
            <a:avLst/>
          </a:prstGeom>
          <a:solidFill>
            <a:srgbClr val="0891B2"/>
          </a:solidFill>
          <a:ln/>
        </p:spPr>
      </p:sp>
      <p:sp>
        <p:nvSpPr>
          <p:cNvPr id="8" name="Text 6"/>
          <p:cNvSpPr/>
          <p:nvPr/>
        </p:nvSpPr>
        <p:spPr>
          <a:xfrm>
            <a:off x="640080" y="12801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01</a:t>
            </a:r>
            <a:endParaRPr lang="en-US" sz="1800" dirty="0"/>
          </a:p>
        </p:txBody>
      </p:sp>
      <p:sp>
        <p:nvSpPr>
          <p:cNvPr id="9" name="Text 7"/>
          <p:cNvSpPr/>
          <p:nvPr/>
        </p:nvSpPr>
        <p:spPr>
          <a:xfrm>
            <a:off x="1371600" y="1280160"/>
            <a:ext cx="2286000" cy="27432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Diagnose</a:t>
            </a:r>
            <a:endParaRPr lang="en-US" sz="1600" dirty="0"/>
          </a:p>
        </p:txBody>
      </p:sp>
      <p:sp>
        <p:nvSpPr>
          <p:cNvPr id="10" name="Text 8"/>
          <p:cNvSpPr/>
          <p:nvPr/>
        </p:nvSpPr>
        <p:spPr>
          <a:xfrm>
            <a:off x="1371600" y="1554480"/>
            <a:ext cx="5029200" cy="27432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What's actually true</a:t>
            </a:r>
            <a:endParaRPr lang="en-US" sz="1200" dirty="0"/>
          </a:p>
        </p:txBody>
      </p:sp>
      <p:sp>
        <p:nvSpPr>
          <p:cNvPr id="11" name="Text 9"/>
          <p:cNvSpPr/>
          <p:nvPr/>
        </p:nvSpPr>
        <p:spPr>
          <a:xfrm>
            <a:off x="7772400" y="1325880"/>
            <a:ext cx="822960" cy="457200"/>
          </a:xfrm>
          <a:prstGeom prst="rect">
            <a:avLst/>
          </a:prstGeom>
          <a:noFill/>
          <a:ln/>
        </p:spPr>
        <p:txBody>
          <a:bodyPr wrap="square" lIns="0" tIns="0" rIns="0" bIns="0" rtlCol="0" anchor="ctr"/>
          <a:lstStyle/>
          <a:p>
            <a:pPr algn="r" indent="0" marL="0">
              <a:buNone/>
            </a:pPr>
            <a:r>
              <a:rPr lang="en-US" sz="1200" dirty="0">
                <a:solidFill>
                  <a:srgbClr val="9CA3AF"/>
                </a:solidFill>
                <a:latin typeface="Arial" pitchFamily="34" charset="0"/>
                <a:ea typeface="Arial" pitchFamily="34" charset="-122"/>
                <a:cs typeface="Arial" pitchFamily="34" charset="-120"/>
              </a:rPr>
              <a:t>50 min</a:t>
            </a:r>
            <a:endParaRPr lang="en-US" sz="1200" dirty="0"/>
          </a:p>
        </p:txBody>
      </p:sp>
      <p:sp>
        <p:nvSpPr>
          <p:cNvPr id="12" name="Shape 10"/>
          <p:cNvSpPr/>
          <p:nvPr/>
        </p:nvSpPr>
        <p:spPr>
          <a:xfrm>
            <a:off x="640080" y="1920240"/>
            <a:ext cx="548640" cy="548640"/>
          </a:xfrm>
          <a:prstGeom prst="rect">
            <a:avLst/>
          </a:prstGeom>
          <a:solidFill>
            <a:srgbClr val="059669"/>
          </a:solidFill>
          <a:ln/>
        </p:spPr>
      </p:sp>
      <p:sp>
        <p:nvSpPr>
          <p:cNvPr id="13" name="Text 11"/>
          <p:cNvSpPr/>
          <p:nvPr/>
        </p:nvSpPr>
        <p:spPr>
          <a:xfrm>
            <a:off x="640080" y="19202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02</a:t>
            </a:r>
            <a:endParaRPr lang="en-US" sz="1800" dirty="0"/>
          </a:p>
        </p:txBody>
      </p:sp>
      <p:sp>
        <p:nvSpPr>
          <p:cNvPr id="14" name="Text 12"/>
          <p:cNvSpPr/>
          <p:nvPr/>
        </p:nvSpPr>
        <p:spPr>
          <a:xfrm>
            <a:off x="1371600" y="1920240"/>
            <a:ext cx="2286000" cy="27432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Forecast</a:t>
            </a:r>
            <a:endParaRPr lang="en-US" sz="1600" dirty="0"/>
          </a:p>
        </p:txBody>
      </p:sp>
      <p:sp>
        <p:nvSpPr>
          <p:cNvPr id="15" name="Text 13"/>
          <p:cNvSpPr/>
          <p:nvPr/>
        </p:nvSpPr>
        <p:spPr>
          <a:xfrm>
            <a:off x="1371600" y="2194560"/>
            <a:ext cx="5029200" cy="27432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What's coming</a:t>
            </a:r>
            <a:endParaRPr lang="en-US" sz="1200" dirty="0"/>
          </a:p>
        </p:txBody>
      </p:sp>
      <p:sp>
        <p:nvSpPr>
          <p:cNvPr id="16" name="Text 14"/>
          <p:cNvSpPr/>
          <p:nvPr/>
        </p:nvSpPr>
        <p:spPr>
          <a:xfrm>
            <a:off x="7772400" y="1965960"/>
            <a:ext cx="822960" cy="457200"/>
          </a:xfrm>
          <a:prstGeom prst="rect">
            <a:avLst/>
          </a:prstGeom>
          <a:noFill/>
          <a:ln/>
        </p:spPr>
        <p:txBody>
          <a:bodyPr wrap="square" lIns="0" tIns="0" rIns="0" bIns="0" rtlCol="0" anchor="ctr"/>
          <a:lstStyle/>
          <a:p>
            <a:pPr algn="r" indent="0" marL="0">
              <a:buNone/>
            </a:pPr>
            <a:r>
              <a:rPr lang="en-US" sz="1200" dirty="0">
                <a:solidFill>
                  <a:srgbClr val="9CA3AF"/>
                </a:solidFill>
                <a:latin typeface="Arial" pitchFamily="34" charset="0"/>
                <a:ea typeface="Arial" pitchFamily="34" charset="-122"/>
                <a:cs typeface="Arial" pitchFamily="34" charset="-120"/>
              </a:rPr>
              <a:t>55 min</a:t>
            </a:r>
            <a:endParaRPr lang="en-US" sz="1200" dirty="0"/>
          </a:p>
        </p:txBody>
      </p:sp>
      <p:sp>
        <p:nvSpPr>
          <p:cNvPr id="17" name="Shape 15"/>
          <p:cNvSpPr/>
          <p:nvPr/>
        </p:nvSpPr>
        <p:spPr>
          <a:xfrm>
            <a:off x="640080" y="2560320"/>
            <a:ext cx="548640" cy="548640"/>
          </a:xfrm>
          <a:prstGeom prst="rect">
            <a:avLst/>
          </a:prstGeom>
          <a:solidFill>
            <a:srgbClr val="D97706"/>
          </a:solidFill>
          <a:ln/>
        </p:spPr>
      </p:sp>
      <p:sp>
        <p:nvSpPr>
          <p:cNvPr id="18" name="Text 16"/>
          <p:cNvSpPr/>
          <p:nvPr/>
        </p:nvSpPr>
        <p:spPr>
          <a:xfrm>
            <a:off x="640080" y="25603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03</a:t>
            </a:r>
            <a:endParaRPr lang="en-US" sz="1800" dirty="0"/>
          </a:p>
        </p:txBody>
      </p:sp>
      <p:sp>
        <p:nvSpPr>
          <p:cNvPr id="19" name="Text 17"/>
          <p:cNvSpPr/>
          <p:nvPr/>
        </p:nvSpPr>
        <p:spPr>
          <a:xfrm>
            <a:off x="1371600" y="2560320"/>
            <a:ext cx="2286000" cy="27432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Predict</a:t>
            </a:r>
            <a:endParaRPr lang="en-US" sz="1600" dirty="0"/>
          </a:p>
        </p:txBody>
      </p:sp>
      <p:sp>
        <p:nvSpPr>
          <p:cNvPr id="20" name="Text 18"/>
          <p:cNvSpPr/>
          <p:nvPr/>
        </p:nvSpPr>
        <p:spPr>
          <a:xfrm>
            <a:off x="1371600" y="2834640"/>
            <a:ext cx="5029200" cy="27432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Who responds</a:t>
            </a:r>
            <a:endParaRPr lang="en-US" sz="1200" dirty="0"/>
          </a:p>
        </p:txBody>
      </p:sp>
      <p:sp>
        <p:nvSpPr>
          <p:cNvPr id="21" name="Text 19"/>
          <p:cNvSpPr/>
          <p:nvPr/>
        </p:nvSpPr>
        <p:spPr>
          <a:xfrm>
            <a:off x="7772400" y="2606040"/>
            <a:ext cx="822960" cy="457200"/>
          </a:xfrm>
          <a:prstGeom prst="rect">
            <a:avLst/>
          </a:prstGeom>
          <a:noFill/>
          <a:ln/>
        </p:spPr>
        <p:txBody>
          <a:bodyPr wrap="square" lIns="0" tIns="0" rIns="0" bIns="0" rtlCol="0" anchor="ctr"/>
          <a:lstStyle/>
          <a:p>
            <a:pPr algn="r" indent="0" marL="0">
              <a:buNone/>
            </a:pPr>
            <a:r>
              <a:rPr lang="en-US" sz="1200" dirty="0">
                <a:solidFill>
                  <a:srgbClr val="9CA3AF"/>
                </a:solidFill>
                <a:latin typeface="Arial" pitchFamily="34" charset="0"/>
                <a:ea typeface="Arial" pitchFamily="34" charset="-122"/>
                <a:cs typeface="Arial" pitchFamily="34" charset="-120"/>
              </a:rPr>
              <a:t>30 min</a:t>
            </a:r>
            <a:endParaRPr lang="en-US" sz="1200" dirty="0"/>
          </a:p>
        </p:txBody>
      </p:sp>
      <p:sp>
        <p:nvSpPr>
          <p:cNvPr id="22" name="Shape 20"/>
          <p:cNvSpPr/>
          <p:nvPr/>
        </p:nvSpPr>
        <p:spPr>
          <a:xfrm>
            <a:off x="640080" y="3200400"/>
            <a:ext cx="548640" cy="548640"/>
          </a:xfrm>
          <a:prstGeom prst="rect">
            <a:avLst/>
          </a:prstGeom>
          <a:solidFill>
            <a:srgbClr val="6D28D9"/>
          </a:solidFill>
          <a:ln/>
        </p:spPr>
      </p:sp>
      <p:sp>
        <p:nvSpPr>
          <p:cNvPr id="23" name="Text 21"/>
          <p:cNvSpPr/>
          <p:nvPr/>
        </p:nvSpPr>
        <p:spPr>
          <a:xfrm>
            <a:off x="640080" y="3200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04</a:t>
            </a:r>
            <a:endParaRPr lang="en-US" sz="1800" dirty="0"/>
          </a:p>
        </p:txBody>
      </p:sp>
      <p:sp>
        <p:nvSpPr>
          <p:cNvPr id="24" name="Text 22"/>
          <p:cNvSpPr/>
          <p:nvPr/>
        </p:nvSpPr>
        <p:spPr>
          <a:xfrm>
            <a:off x="1371600" y="3200400"/>
            <a:ext cx="2286000" cy="27432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Segment</a:t>
            </a:r>
            <a:endParaRPr lang="en-US" sz="1600" dirty="0"/>
          </a:p>
        </p:txBody>
      </p:sp>
      <p:sp>
        <p:nvSpPr>
          <p:cNvPr id="25" name="Text 23"/>
          <p:cNvSpPr/>
          <p:nvPr/>
        </p:nvSpPr>
        <p:spPr>
          <a:xfrm>
            <a:off x="1371600" y="3474720"/>
            <a:ext cx="5029200" cy="27432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Who they are + what to offer</a:t>
            </a:r>
            <a:endParaRPr lang="en-US" sz="1200" dirty="0"/>
          </a:p>
        </p:txBody>
      </p:sp>
      <p:sp>
        <p:nvSpPr>
          <p:cNvPr id="26" name="Text 24"/>
          <p:cNvSpPr/>
          <p:nvPr/>
        </p:nvSpPr>
        <p:spPr>
          <a:xfrm>
            <a:off x="7772400" y="3246120"/>
            <a:ext cx="822960" cy="457200"/>
          </a:xfrm>
          <a:prstGeom prst="rect">
            <a:avLst/>
          </a:prstGeom>
          <a:noFill/>
          <a:ln/>
        </p:spPr>
        <p:txBody>
          <a:bodyPr wrap="square" lIns="0" tIns="0" rIns="0" bIns="0" rtlCol="0" anchor="ctr"/>
          <a:lstStyle/>
          <a:p>
            <a:pPr algn="r" indent="0" marL="0">
              <a:buNone/>
            </a:pPr>
            <a:r>
              <a:rPr lang="en-US" sz="1200" dirty="0">
                <a:solidFill>
                  <a:srgbClr val="9CA3AF"/>
                </a:solidFill>
                <a:latin typeface="Arial" pitchFamily="34" charset="0"/>
                <a:ea typeface="Arial" pitchFamily="34" charset="-122"/>
                <a:cs typeface="Arial" pitchFamily="34" charset="-120"/>
              </a:rPr>
              <a:t>30 min</a:t>
            </a:r>
            <a:endParaRPr lang="en-US" sz="1200" dirty="0"/>
          </a:p>
        </p:txBody>
      </p:sp>
      <p:sp>
        <p:nvSpPr>
          <p:cNvPr id="27" name="Shape 25"/>
          <p:cNvSpPr/>
          <p:nvPr/>
        </p:nvSpPr>
        <p:spPr>
          <a:xfrm>
            <a:off x="640080" y="3840480"/>
            <a:ext cx="548640" cy="548640"/>
          </a:xfrm>
          <a:prstGeom prst="rect">
            <a:avLst/>
          </a:prstGeom>
          <a:solidFill>
            <a:srgbClr val="DC2626"/>
          </a:solidFill>
          <a:ln/>
        </p:spPr>
      </p:sp>
      <p:sp>
        <p:nvSpPr>
          <p:cNvPr id="28" name="Text 26"/>
          <p:cNvSpPr/>
          <p:nvPr/>
        </p:nvSpPr>
        <p:spPr>
          <a:xfrm>
            <a:off x="640080" y="3840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05</a:t>
            </a:r>
            <a:endParaRPr lang="en-US" sz="1800" dirty="0"/>
          </a:p>
        </p:txBody>
      </p:sp>
      <p:sp>
        <p:nvSpPr>
          <p:cNvPr id="29" name="Text 27"/>
          <p:cNvSpPr/>
          <p:nvPr/>
        </p:nvSpPr>
        <p:spPr>
          <a:xfrm>
            <a:off x="1371600" y="3840480"/>
            <a:ext cx="2286000" cy="27432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Listen</a:t>
            </a:r>
            <a:endParaRPr lang="en-US" sz="1600" dirty="0"/>
          </a:p>
        </p:txBody>
      </p:sp>
      <p:sp>
        <p:nvSpPr>
          <p:cNvPr id="30" name="Text 28"/>
          <p:cNvSpPr/>
          <p:nvPr/>
        </p:nvSpPr>
        <p:spPr>
          <a:xfrm>
            <a:off x="1371600" y="4114800"/>
            <a:ext cx="5029200" cy="274320"/>
          </a:xfrm>
          <a:prstGeom prst="rect">
            <a:avLst/>
          </a:prstGeom>
          <a:noFill/>
          <a:ln/>
        </p:spPr>
        <p:txBody>
          <a:bodyPr wrap="square" lIns="0" tIns="0" rIns="0" bIns="0" rtlCol="0" anchor="ctr"/>
          <a:lstStyle/>
          <a:p>
            <a:pPr indent="0" marL="0">
              <a:buNone/>
            </a:pPr>
            <a:r>
              <a:rPr lang="en-US" sz="1200" i="1" dirty="0">
                <a:solidFill>
                  <a:srgbClr val="6B7280"/>
                </a:solidFill>
                <a:latin typeface="Arial" pitchFamily="34" charset="0"/>
                <a:ea typeface="Arial" pitchFamily="34" charset="-122"/>
                <a:cs typeface="Arial" pitchFamily="34" charset="-120"/>
              </a:rPr>
              <a:t>What they're saying</a:t>
            </a:r>
            <a:endParaRPr lang="en-US" sz="1200" dirty="0"/>
          </a:p>
        </p:txBody>
      </p:sp>
      <p:sp>
        <p:nvSpPr>
          <p:cNvPr id="31" name="Text 29"/>
          <p:cNvSpPr/>
          <p:nvPr/>
        </p:nvSpPr>
        <p:spPr>
          <a:xfrm>
            <a:off x="7772400" y="3886200"/>
            <a:ext cx="822960" cy="457200"/>
          </a:xfrm>
          <a:prstGeom prst="rect">
            <a:avLst/>
          </a:prstGeom>
          <a:noFill/>
          <a:ln/>
        </p:spPr>
        <p:txBody>
          <a:bodyPr wrap="square" lIns="0" tIns="0" rIns="0" bIns="0" rtlCol="0" anchor="ctr"/>
          <a:lstStyle/>
          <a:p>
            <a:pPr algn="r" indent="0" marL="0">
              <a:buNone/>
            </a:pPr>
            <a:r>
              <a:rPr lang="en-US" sz="1200" dirty="0">
                <a:solidFill>
                  <a:srgbClr val="9CA3AF"/>
                </a:solidFill>
                <a:latin typeface="Arial" pitchFamily="34" charset="0"/>
                <a:ea typeface="Arial" pitchFamily="34" charset="-122"/>
                <a:cs typeface="Arial" pitchFamily="34" charset="-120"/>
              </a:rPr>
              <a:t>25 min</a:t>
            </a:r>
            <a:endParaRPr lang="en-US" sz="1200" dirty="0"/>
          </a:p>
        </p:txBody>
      </p:sp>
      <p:sp>
        <p:nvSpPr>
          <p:cNvPr id="32" name="Shape 30"/>
          <p:cNvSpPr/>
          <p:nvPr/>
        </p:nvSpPr>
        <p:spPr>
          <a:xfrm>
            <a:off x="640080" y="4572000"/>
            <a:ext cx="7863840" cy="411480"/>
          </a:xfrm>
          <a:prstGeom prst="rect">
            <a:avLst/>
          </a:prstGeom>
          <a:solidFill>
            <a:srgbClr val="E0F7FA"/>
          </a:solidFill>
          <a:ln w="12700">
            <a:solidFill>
              <a:srgbClr val="0891B2"/>
            </a:solidFill>
            <a:prstDash val="solid"/>
          </a:ln>
        </p:spPr>
      </p:sp>
      <p:sp>
        <p:nvSpPr>
          <p:cNvPr id="33" name="Text 31"/>
          <p:cNvSpPr/>
          <p:nvPr/>
        </p:nvSpPr>
        <p:spPr>
          <a:xfrm>
            <a:off x="822960" y="4663440"/>
            <a:ext cx="7498080" cy="22860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By the end, Module 5 feeds back into Module 3, and Module 4 filters what we send. The loop closes.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1188720"/>
            <a:ext cx="2286000" cy="1280160"/>
          </a:xfrm>
          <a:prstGeom prst="rect">
            <a:avLst/>
          </a:prstGeom>
          <a:noFill/>
          <a:ln/>
        </p:spPr>
        <p:txBody>
          <a:bodyPr wrap="square" lIns="0" tIns="0" rIns="0" bIns="0" rtlCol="0" anchor="ctr"/>
          <a:lstStyle/>
          <a:p>
            <a:pPr indent="0" marL="0">
              <a:buNone/>
            </a:pPr>
            <a:r>
              <a:rPr lang="en-US" sz="8000" b="1" dirty="0">
                <a:solidFill>
                  <a:srgbClr val="0891B2"/>
                </a:solidFill>
                <a:latin typeface="Arial" pitchFamily="34" charset="0"/>
                <a:ea typeface="Arial" pitchFamily="34" charset="-122"/>
                <a:cs typeface="Arial" pitchFamily="34" charset="-120"/>
              </a:rPr>
              <a:t>01</a:t>
            </a:r>
            <a:endParaRPr lang="en-US" sz="8000" dirty="0"/>
          </a:p>
        </p:txBody>
      </p:sp>
      <p:sp>
        <p:nvSpPr>
          <p:cNvPr id="4" name="Shape 2"/>
          <p:cNvSpPr/>
          <p:nvPr/>
        </p:nvSpPr>
        <p:spPr>
          <a:xfrm>
            <a:off x="640080" y="2606040"/>
            <a:ext cx="3200400" cy="0"/>
          </a:xfrm>
          <a:prstGeom prst="line">
            <a:avLst/>
          </a:prstGeom>
          <a:noFill/>
          <a:ln w="31750">
            <a:solidFill>
              <a:srgbClr val="0891B2"/>
            </a:solidFill>
            <a:prstDash val="solid"/>
          </a:ln>
        </p:spPr>
      </p:sp>
      <p:sp>
        <p:nvSpPr>
          <p:cNvPr id="5" name="Text 3"/>
          <p:cNvSpPr/>
          <p:nvPr/>
        </p:nvSpPr>
        <p:spPr>
          <a:xfrm>
            <a:off x="640080" y="2788920"/>
            <a:ext cx="786384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Diagnose</a:t>
            </a:r>
            <a:endParaRPr lang="en-US" sz="3600" dirty="0"/>
          </a:p>
        </p:txBody>
      </p:sp>
      <p:sp>
        <p:nvSpPr>
          <p:cNvPr id="6" name="Text 4"/>
          <p:cNvSpPr/>
          <p:nvPr/>
        </p:nvSpPr>
        <p:spPr>
          <a:xfrm>
            <a:off x="640080" y="3520440"/>
            <a:ext cx="786384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What is actually driving daily branch revenue?</a:t>
            </a:r>
            <a:endParaRPr lang="en-US" sz="1600" dirty="0"/>
          </a:p>
        </p:txBody>
      </p:sp>
      <p:sp>
        <p:nvSpPr>
          <p:cNvPr id="7" name="Text 5"/>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1 — the trap</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The trap of running many tests</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Run 30 t-tests, report the p&lt;.05 ones, declare insight. This is not analysis.</a:t>
            </a:r>
            <a:endParaRPr lang="en-US" sz="1300" dirty="0"/>
          </a:p>
        </p:txBody>
      </p:sp>
      <p:sp>
        <p:nvSpPr>
          <p:cNvPr id="7" name="Shape 5"/>
          <p:cNvSpPr/>
          <p:nvPr/>
        </p:nvSpPr>
        <p:spPr>
          <a:xfrm>
            <a:off x="640080" y="1280160"/>
            <a:ext cx="3749040" cy="2926080"/>
          </a:xfrm>
          <a:prstGeom prst="rect">
            <a:avLst/>
          </a:prstGeom>
          <a:solidFill>
            <a:srgbClr val="FEF3C7"/>
          </a:solidFill>
          <a:ln w="12700">
            <a:solidFill>
              <a:srgbClr val="D97706"/>
            </a:solidFill>
            <a:prstDash val="solid"/>
          </a:ln>
        </p:spPr>
      </p:sp>
      <p:sp>
        <p:nvSpPr>
          <p:cNvPr id="8" name="Text 6"/>
          <p:cNvSpPr/>
          <p:nvPr/>
        </p:nvSpPr>
        <p:spPr>
          <a:xfrm>
            <a:off x="777240" y="1371600"/>
            <a:ext cx="3474720" cy="320040"/>
          </a:xfrm>
          <a:prstGeom prst="rect">
            <a:avLst/>
          </a:prstGeom>
          <a:noFill/>
          <a:ln/>
        </p:spPr>
        <p:txBody>
          <a:bodyPr wrap="square" lIns="0" tIns="0" rIns="0" bIns="0" rtlCol="0" anchor="ctr"/>
          <a:lstStyle/>
          <a:p>
            <a:pPr indent="0" marL="0">
              <a:buNone/>
            </a:pPr>
            <a:r>
              <a:rPr lang="en-US" sz="1400" b="1" dirty="0">
                <a:solidFill>
                  <a:srgbClr val="D97706"/>
                </a:solidFill>
                <a:latin typeface="Arial" pitchFamily="34" charset="0"/>
                <a:ea typeface="Arial" pitchFamily="34" charset="-122"/>
                <a:cs typeface="Arial" pitchFamily="34" charset="-120"/>
              </a:rPr>
              <a:t>WITHOUT discipline</a:t>
            </a:r>
            <a:endParaRPr lang="en-US" sz="1400" dirty="0"/>
          </a:p>
        </p:txBody>
      </p:sp>
      <p:sp>
        <p:nvSpPr>
          <p:cNvPr id="9" name="Text 7"/>
          <p:cNvSpPr/>
          <p:nvPr/>
        </p:nvSpPr>
        <p:spPr>
          <a:xfrm>
            <a:off x="777240" y="1783080"/>
            <a:ext cx="3474720" cy="2286000"/>
          </a:xfrm>
          <a:prstGeom prst="rect">
            <a:avLst/>
          </a:prstGeom>
          <a:noFill/>
          <a:ln/>
        </p:spPr>
        <p:txBody>
          <a:bodyPr wrap="square" lIns="0" tIns="0" rIns="0" bIns="0" rtlCol="0" anchor="t"/>
          <a:lstStyle/>
          <a:p>
            <a:pPr indent="0" marL="0">
              <a:buNone/>
            </a:pPr>
            <a:r>
              <a:rPr lang="en-US" sz="1200" dirty="0">
                <a:solidFill>
                  <a:srgbClr val="374151"/>
                </a:solidFill>
                <a:latin typeface="Arial" pitchFamily="34" charset="0"/>
                <a:ea typeface="Arial" pitchFamily="34" charset="-122"/>
                <a:cs typeface="Arial" pitchFamily="34" charset="-120"/>
              </a:rPr>
              <a:t>•  Run every comparison you can think of
</a:t>
            </a:r>
            <a:pPr indent="0" marL="0">
              <a:buNone/>
            </a:pPr>
            <a:r>
              <a:rPr lang="en-US" sz="1200" dirty="0">
                <a:solidFill>
                  <a:srgbClr val="374151"/>
                </a:solidFill>
                <a:latin typeface="Arial" pitchFamily="34" charset="0"/>
                <a:ea typeface="Arial" pitchFamily="34" charset="-122"/>
                <a:cs typeface="Arial" pitchFamily="34" charset="-120"/>
              </a:rPr>
              <a:t>•  Pick the ones with p &lt; .05
</a:t>
            </a:r>
            <a:pPr indent="0" marL="0">
              <a:buNone/>
            </a:pPr>
            <a:r>
              <a:rPr lang="en-US" sz="1200" dirty="0">
                <a:solidFill>
                  <a:srgbClr val="374151"/>
                </a:solidFill>
                <a:latin typeface="Arial" pitchFamily="34" charset="0"/>
                <a:ea typeface="Arial" pitchFamily="34" charset="-122"/>
                <a:cs typeface="Arial" pitchFamily="34" charset="-120"/>
              </a:rPr>
              <a:t>•  Tell a story around them
</a:t>
            </a:r>
            <a:pPr indent="0" marL="0">
              <a:buNone/>
            </a:pPr>
            <a:r>
              <a:rPr lang="en-US" sz="1200" dirty="0">
                <a:solidFill>
                  <a:srgbClr val="374151"/>
                </a:solidFill>
                <a:latin typeface="Arial" pitchFamily="34" charset="0"/>
                <a:ea typeface="Arial" pitchFamily="34" charset="-122"/>
                <a:cs typeface="Arial" pitchFamily="34" charset="-120"/>
              </a:rPr>
              <a:t>•  Forget about multiple-comparisons inflation
</a:t>
            </a:r>
            <a:pPr indent="0" marL="0">
              <a:buNone/>
            </a:pPr>
            <a:r>
              <a:rPr lang="en-US" sz="1200" dirty="0">
                <a:solidFill>
                  <a:srgbClr val="374151"/>
                </a:solidFill>
                <a:latin typeface="Arial" pitchFamily="34" charset="0"/>
                <a:ea typeface="Arial" pitchFamily="34" charset="-122"/>
                <a:cs typeface="Arial" pitchFamily="34" charset="-120"/>
              </a:rPr>
              <a:t>•  Confound categorical effects with continuous ones
</a:t>
            </a:r>
            <a:pPr indent="0" marL="0">
              <a:buNone/>
            </a:pPr>
            <a:r>
              <a:rPr lang="en-US" sz="1200" dirty="0">
                <a:solidFill>
                  <a:srgbClr val="000000"/>
                </a:solidFill>
                <a:latin typeface="Arial" pitchFamily="34" charset="0"/>
                <a:ea typeface="Arial" pitchFamily="34" charset="-122"/>
                <a:cs typeface="Arial" pitchFamily="34" charset="-120"/>
              </a:rPr>
              <a:t>
</a:t>
            </a:r>
            <a:pPr indent="0" marL="0">
              <a:buNone/>
            </a:pPr>
            <a:r>
              <a:rPr lang="en-US" sz="1100" b="1" i="1" dirty="0">
                <a:solidFill>
                  <a:srgbClr val="D97706"/>
                </a:solidFill>
                <a:latin typeface="Arial" pitchFamily="34" charset="0"/>
                <a:ea typeface="Arial" pitchFamily="34" charset="-122"/>
                <a:cs typeface="Arial" pitchFamily="34" charset="-120"/>
              </a:rPr>
              <a:t>Result: false positives, lost trust, wrong actions</a:t>
            </a:r>
            <a:endParaRPr lang="en-US" sz="1200" dirty="0"/>
          </a:p>
        </p:txBody>
      </p:sp>
      <p:sp>
        <p:nvSpPr>
          <p:cNvPr id="10" name="Shape 8"/>
          <p:cNvSpPr/>
          <p:nvPr/>
        </p:nvSpPr>
        <p:spPr>
          <a:xfrm>
            <a:off x="4754880" y="1280160"/>
            <a:ext cx="3749040" cy="2926080"/>
          </a:xfrm>
          <a:prstGeom prst="rect">
            <a:avLst/>
          </a:prstGeom>
          <a:solidFill>
            <a:srgbClr val="E0F7FA"/>
          </a:solidFill>
          <a:ln w="12700">
            <a:solidFill>
              <a:srgbClr val="0891B2"/>
            </a:solidFill>
            <a:prstDash val="solid"/>
          </a:ln>
        </p:spPr>
      </p:sp>
      <p:sp>
        <p:nvSpPr>
          <p:cNvPr id="11" name="Text 9"/>
          <p:cNvSpPr/>
          <p:nvPr/>
        </p:nvSpPr>
        <p:spPr>
          <a:xfrm>
            <a:off x="4892040" y="1371600"/>
            <a:ext cx="347472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WITH discipline</a:t>
            </a:r>
            <a:endParaRPr lang="en-US" sz="1400" dirty="0"/>
          </a:p>
        </p:txBody>
      </p:sp>
      <p:sp>
        <p:nvSpPr>
          <p:cNvPr id="12" name="Text 10"/>
          <p:cNvSpPr/>
          <p:nvPr/>
        </p:nvSpPr>
        <p:spPr>
          <a:xfrm>
            <a:off x="4892040" y="1783080"/>
            <a:ext cx="3474720" cy="2286000"/>
          </a:xfrm>
          <a:prstGeom prst="rect">
            <a:avLst/>
          </a:prstGeom>
          <a:noFill/>
          <a:ln/>
        </p:spPr>
        <p:txBody>
          <a:bodyPr wrap="square" lIns="0" tIns="0" rIns="0" bIns="0" rtlCol="0" anchor="t"/>
          <a:lstStyle/>
          <a:p>
            <a:pPr indent="0" marL="0">
              <a:buNone/>
            </a:pPr>
            <a:r>
              <a:rPr lang="en-US" sz="1200" dirty="0">
                <a:solidFill>
                  <a:srgbClr val="374151"/>
                </a:solidFill>
                <a:latin typeface="Arial" pitchFamily="34" charset="0"/>
                <a:ea typeface="Arial" pitchFamily="34" charset="-122"/>
                <a:cs typeface="Arial" pitchFamily="34" charset="-120"/>
              </a:rPr>
              <a:t>•  Pre-register hypotheses as a dictionary
</a:t>
            </a:r>
            <a:pPr indent="0" marL="0">
              <a:buNone/>
            </a:pPr>
            <a:r>
              <a:rPr lang="en-US" sz="1200" dirty="0">
                <a:solidFill>
                  <a:srgbClr val="374151"/>
                </a:solidFill>
                <a:latin typeface="Arial" pitchFamily="34" charset="0"/>
                <a:ea typeface="Arial" pitchFamily="34" charset="-122"/>
                <a:cs typeface="Arial" pitchFamily="34" charset="-120"/>
              </a:rPr>
              <a:t>•  Pick test by data type — automated
</a:t>
            </a:r>
            <a:pPr indent="0" marL="0">
              <a:buNone/>
            </a:pPr>
            <a:r>
              <a:rPr lang="en-US" sz="1200" dirty="0">
                <a:solidFill>
                  <a:srgbClr val="374151"/>
                </a:solidFill>
                <a:latin typeface="Arial" pitchFamily="34" charset="0"/>
                <a:ea typeface="Arial" pitchFamily="34" charset="-122"/>
                <a:cs typeface="Arial" pitchFamily="34" charset="-120"/>
              </a:rPr>
              <a:t>•  Apply FDR (Benjamini-Hochberg) correction
</a:t>
            </a:r>
            <a:pPr indent="0" marL="0">
              <a:buNone/>
            </a:pPr>
            <a:r>
              <a:rPr lang="en-US" sz="1200" dirty="0">
                <a:solidFill>
                  <a:srgbClr val="374151"/>
                </a:solidFill>
                <a:latin typeface="Arial" pitchFamily="34" charset="0"/>
                <a:ea typeface="Arial" pitchFamily="34" charset="-122"/>
                <a:cs typeface="Arial" pitchFamily="34" charset="-120"/>
              </a:rPr>
              <a:t>•  Confirm with regression + interactions
</a:t>
            </a:r>
            <a:pPr indent="0" marL="0">
              <a:buNone/>
            </a:pPr>
            <a:r>
              <a:rPr lang="en-US" sz="1200" dirty="0">
                <a:solidFill>
                  <a:srgbClr val="374151"/>
                </a:solidFill>
                <a:latin typeface="Arial" pitchFamily="34" charset="0"/>
                <a:ea typeface="Arial" pitchFamily="34" charset="-122"/>
                <a:cs typeface="Arial" pitchFamily="34" charset="-120"/>
              </a:rPr>
              <a:t>•  Filter to significant only → dashboard
</a:t>
            </a:r>
            <a:pPr indent="0" marL="0">
              <a:buNone/>
            </a:pPr>
            <a:r>
              <a:rPr lang="en-US" sz="1200" dirty="0">
                <a:solidFill>
                  <a:srgbClr val="000000"/>
                </a:solidFill>
                <a:latin typeface="Arial" pitchFamily="34" charset="0"/>
                <a:ea typeface="Arial" pitchFamily="34" charset="-122"/>
                <a:cs typeface="Arial" pitchFamily="34" charset="-120"/>
              </a:rPr>
              <a:t>
</a:t>
            </a:r>
            <a:pPr indent="0" marL="0">
              <a:buNone/>
            </a:pPr>
            <a:r>
              <a:rPr lang="en-US" sz="1100" b="1" i="1" dirty="0">
                <a:solidFill>
                  <a:srgbClr val="0891B2"/>
                </a:solidFill>
                <a:latin typeface="Arial" pitchFamily="34" charset="0"/>
                <a:ea typeface="Arial" pitchFamily="34" charset="-122"/>
                <a:cs typeface="Arial" pitchFamily="34" charset="-120"/>
              </a:rPr>
              <a:t>Result: a defensible audit trail</a:t>
            </a:r>
            <a:endParaRPr lang="en-US" sz="1200" dirty="0"/>
          </a:p>
        </p:txBody>
      </p:sp>
      <p:sp>
        <p:nvSpPr>
          <p:cNvPr id="13" name="Shape 11"/>
          <p:cNvSpPr/>
          <p:nvPr/>
        </p:nvSpPr>
        <p:spPr>
          <a:xfrm>
            <a:off x="640080" y="4343400"/>
            <a:ext cx="7863840" cy="365760"/>
          </a:xfrm>
          <a:prstGeom prst="rect">
            <a:avLst/>
          </a:prstGeom>
          <a:solidFill>
            <a:srgbClr val="E0F7FA"/>
          </a:solidFill>
          <a:ln w="12700">
            <a:solidFill>
              <a:srgbClr val="0891B2"/>
            </a:solidFill>
            <a:prstDash val="solid"/>
          </a:ln>
        </p:spPr>
      </p:sp>
      <p:sp>
        <p:nvSpPr>
          <p:cNvPr id="14" name="Text 12"/>
          <p:cNvSpPr/>
          <p:nvPr/>
        </p:nvSpPr>
        <p:spPr>
          <a:xfrm>
            <a:off x="822960" y="4434840"/>
            <a:ext cx="7498080" cy="18288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dictionary is the audit trail. Every reviewer can see what you tested — not just what worked.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1 — pattern</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Causal chain as a dictionary</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Every relationship is a row in a table. No hidden tests.</a:t>
            </a:r>
            <a:endParaRPr lang="en-US" sz="1300" dirty="0"/>
          </a:p>
        </p:txBody>
      </p:sp>
      <p:sp>
        <p:nvSpPr>
          <p:cNvPr id="7" name="Shape 5"/>
          <p:cNvSpPr/>
          <p:nvPr/>
        </p:nvSpPr>
        <p:spPr>
          <a:xfrm>
            <a:off x="640080" y="1188720"/>
            <a:ext cx="7863840" cy="2743200"/>
          </a:xfrm>
          <a:prstGeom prst="rect">
            <a:avLst/>
          </a:prstGeom>
          <a:solidFill>
            <a:srgbClr val="F3F4F6"/>
          </a:solidFill>
          <a:ln w="6350">
            <a:solidFill>
              <a:srgbClr val="D1D5DB"/>
            </a:solidFill>
            <a:prstDash val="solid"/>
          </a:ln>
        </p:spPr>
      </p:sp>
      <p:sp>
        <p:nvSpPr>
          <p:cNvPr id="8" name="Text 6"/>
          <p:cNvSpPr/>
          <p:nvPr/>
        </p:nvSpPr>
        <p:spPr>
          <a:xfrm>
            <a:off x="777240" y="1280160"/>
            <a:ext cx="7589520" cy="2560320"/>
          </a:xfrm>
          <a:prstGeom prst="rect">
            <a:avLst/>
          </a:prstGeom>
          <a:noFill/>
          <a:ln/>
        </p:spPr>
        <p:txBody>
          <a:bodyPr wrap="square" lIns="0" tIns="0" rIns="0" bIns="0" rtlCol="0" anchor="t"/>
          <a:lstStyle/>
          <a:p>
            <a:pPr indent="0" marL="0">
              <a:buNone/>
            </a:pPr>
            <a:r>
              <a:rPr lang="en-US" sz="1000" dirty="0">
                <a:solidFill>
                  <a:srgbClr val="374151"/>
                </a:solidFill>
                <a:latin typeface="Consolas" pitchFamily="34" charset="0"/>
                <a:ea typeface="Consolas" pitchFamily="34" charset="-122"/>
                <a:cs typeface="Consolas" pitchFamily="34" charset="-120"/>
              </a:rPr>
              <a:t>CAUSAL_CHAIN = {</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"h01_dt_revenue":         {"cause":"has_drive_thru", "effect":"revenue",</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"cause_type":"binary",     "effect_type":"continuous"},</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"h02_dt_weekend_revenue": {"cause":"has_drive_thru", "effect":"revenue",</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"cause_type":"binary",     "effect_type":"continuous",</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"subset":"is_weekend==1"},</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"h04_weekend_revenue":    {"cause":"is_weekend",     "effect":"revenue",</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"cause_type":"binary",     "effect_type":"continuous"},</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"h07_seats_revenue":      {"cause":"seats",          "effect":"revenue",</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"cause_type":"continuous", "effect_type":"continuous"},</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"h11_district_revenue":   {"cause":"district",       "effect":"revenue",</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"cause_type":"categorical","effect_type":"continuous"},</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 ... 20 hypotheses total, all declared upfront</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640080" y="4069080"/>
            <a:ext cx="7863840" cy="640080"/>
          </a:xfrm>
          <a:prstGeom prst="rect">
            <a:avLst/>
          </a:prstGeom>
          <a:solidFill>
            <a:srgbClr val="E0F7FA"/>
          </a:solidFill>
          <a:ln w="12700">
            <a:solidFill>
              <a:srgbClr val="0891B2"/>
            </a:solidFill>
            <a:prstDash val="solid"/>
          </a:ln>
        </p:spPr>
      </p:sp>
      <p:sp>
        <p:nvSpPr>
          <p:cNvPr id="10" name="Text 8"/>
          <p:cNvSpPr/>
          <p:nvPr/>
        </p:nvSpPr>
        <p:spPr>
          <a:xfrm>
            <a:off x="822960" y="4160520"/>
            <a:ext cx="7498080" cy="45720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dictionary makes hypotheses first-class. You can version them. Diff them. Replay last quarter's analysis when the data changes.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1 — dispatch</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Pick the test by data type</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One function. Four type signatures. Uniform output.</a:t>
            </a:r>
            <a:endParaRPr lang="en-US" sz="1300" dirty="0"/>
          </a:p>
        </p:txBody>
      </p:sp>
      <p:sp>
        <p:nvSpPr>
          <p:cNvPr id="7" name="Shape 5"/>
          <p:cNvSpPr/>
          <p:nvPr/>
        </p:nvSpPr>
        <p:spPr>
          <a:xfrm>
            <a:off x="640080" y="1280160"/>
            <a:ext cx="1371600" cy="365760"/>
          </a:xfrm>
          <a:prstGeom prst="rect">
            <a:avLst/>
          </a:prstGeom>
          <a:solidFill>
            <a:srgbClr val="0891B2"/>
          </a:solidFill>
          <a:ln/>
        </p:spPr>
      </p:sp>
      <p:sp>
        <p:nvSpPr>
          <p:cNvPr id="8" name="Text 6"/>
          <p:cNvSpPr/>
          <p:nvPr/>
        </p:nvSpPr>
        <p:spPr>
          <a:xfrm>
            <a:off x="640080" y="128016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Cause type</a:t>
            </a:r>
            <a:endParaRPr lang="en-US" sz="1100" dirty="0"/>
          </a:p>
        </p:txBody>
      </p:sp>
      <p:sp>
        <p:nvSpPr>
          <p:cNvPr id="9" name="Shape 7"/>
          <p:cNvSpPr/>
          <p:nvPr/>
        </p:nvSpPr>
        <p:spPr>
          <a:xfrm>
            <a:off x="2011680" y="1280160"/>
            <a:ext cx="1371600" cy="365760"/>
          </a:xfrm>
          <a:prstGeom prst="rect">
            <a:avLst/>
          </a:prstGeom>
          <a:solidFill>
            <a:srgbClr val="0891B2"/>
          </a:solidFill>
          <a:ln/>
        </p:spPr>
      </p:sp>
      <p:sp>
        <p:nvSpPr>
          <p:cNvPr id="10" name="Text 8"/>
          <p:cNvSpPr/>
          <p:nvPr/>
        </p:nvSpPr>
        <p:spPr>
          <a:xfrm>
            <a:off x="2011680" y="1280160"/>
            <a:ext cx="13716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Effect type</a:t>
            </a:r>
            <a:endParaRPr lang="en-US" sz="1100" dirty="0"/>
          </a:p>
        </p:txBody>
      </p:sp>
      <p:sp>
        <p:nvSpPr>
          <p:cNvPr id="11" name="Shape 9"/>
          <p:cNvSpPr/>
          <p:nvPr/>
        </p:nvSpPr>
        <p:spPr>
          <a:xfrm>
            <a:off x="3383280" y="1280160"/>
            <a:ext cx="2377440" cy="365760"/>
          </a:xfrm>
          <a:prstGeom prst="rect">
            <a:avLst/>
          </a:prstGeom>
          <a:solidFill>
            <a:srgbClr val="0891B2"/>
          </a:solidFill>
          <a:ln/>
        </p:spPr>
      </p:sp>
      <p:sp>
        <p:nvSpPr>
          <p:cNvPr id="12" name="Text 10"/>
          <p:cNvSpPr/>
          <p:nvPr/>
        </p:nvSpPr>
        <p:spPr>
          <a:xfrm>
            <a:off x="3383280" y="1280160"/>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Test</a:t>
            </a:r>
            <a:endParaRPr lang="en-US" sz="1100" dirty="0"/>
          </a:p>
        </p:txBody>
      </p:sp>
      <p:sp>
        <p:nvSpPr>
          <p:cNvPr id="15" name="Shape 13"/>
          <p:cNvSpPr/>
          <p:nvPr/>
        </p:nvSpPr>
        <p:spPr>
          <a:xfrm>
            <a:off x="640080" y="1645920"/>
            <a:ext cx="1371600" cy="365760"/>
          </a:xfrm>
          <a:prstGeom prst="rect">
            <a:avLst/>
          </a:prstGeom>
          <a:solidFill>
            <a:srgbClr val="FFFFFF"/>
          </a:solidFill>
          <a:ln w="6350">
            <a:solidFill>
              <a:srgbClr val="D1D5DB"/>
            </a:solidFill>
            <a:prstDash val="solid"/>
          </a:ln>
        </p:spPr>
      </p:sp>
      <p:sp>
        <p:nvSpPr>
          <p:cNvPr id="16" name="Text 14"/>
          <p:cNvSpPr/>
          <p:nvPr/>
        </p:nvSpPr>
        <p:spPr>
          <a:xfrm>
            <a:off x="685800" y="164592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binary</a:t>
            </a:r>
            <a:endParaRPr lang="en-US" sz="1100" dirty="0"/>
          </a:p>
        </p:txBody>
      </p:sp>
      <p:sp>
        <p:nvSpPr>
          <p:cNvPr id="17" name="Shape 15"/>
          <p:cNvSpPr/>
          <p:nvPr/>
        </p:nvSpPr>
        <p:spPr>
          <a:xfrm>
            <a:off x="2011680" y="1645920"/>
            <a:ext cx="1371600" cy="365760"/>
          </a:xfrm>
          <a:prstGeom prst="rect">
            <a:avLst/>
          </a:prstGeom>
          <a:solidFill>
            <a:srgbClr val="FFFFFF"/>
          </a:solidFill>
          <a:ln w="6350">
            <a:solidFill>
              <a:srgbClr val="D1D5DB"/>
            </a:solidFill>
            <a:prstDash val="solid"/>
          </a:ln>
        </p:spPr>
      </p:sp>
      <p:sp>
        <p:nvSpPr>
          <p:cNvPr id="18" name="Text 16"/>
          <p:cNvSpPr/>
          <p:nvPr/>
        </p:nvSpPr>
        <p:spPr>
          <a:xfrm>
            <a:off x="2057400" y="164592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continuous</a:t>
            </a:r>
            <a:endParaRPr lang="en-US" sz="1100" dirty="0"/>
          </a:p>
        </p:txBody>
      </p:sp>
      <p:sp>
        <p:nvSpPr>
          <p:cNvPr id="19" name="Shape 17"/>
          <p:cNvSpPr/>
          <p:nvPr/>
        </p:nvSpPr>
        <p:spPr>
          <a:xfrm>
            <a:off x="3383280" y="1645920"/>
            <a:ext cx="2377440" cy="365760"/>
          </a:xfrm>
          <a:prstGeom prst="rect">
            <a:avLst/>
          </a:prstGeom>
          <a:solidFill>
            <a:srgbClr val="FFFFFF"/>
          </a:solidFill>
          <a:ln w="6350">
            <a:solidFill>
              <a:srgbClr val="D1D5DB"/>
            </a:solidFill>
            <a:prstDash val="solid"/>
          </a:ln>
        </p:spPr>
      </p:sp>
      <p:sp>
        <p:nvSpPr>
          <p:cNvPr id="20" name="Text 18"/>
          <p:cNvSpPr/>
          <p:nvPr/>
        </p:nvSpPr>
        <p:spPr>
          <a:xfrm>
            <a:off x="3429000" y="1645920"/>
            <a:ext cx="228600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t-test</a:t>
            </a:r>
            <a:endParaRPr lang="en-US" sz="1100" dirty="0"/>
          </a:p>
        </p:txBody>
      </p:sp>
      <p:sp>
        <p:nvSpPr>
          <p:cNvPr id="23" name="Shape 21"/>
          <p:cNvSpPr/>
          <p:nvPr/>
        </p:nvSpPr>
        <p:spPr>
          <a:xfrm>
            <a:off x="640080" y="2011680"/>
            <a:ext cx="1371600" cy="365760"/>
          </a:xfrm>
          <a:prstGeom prst="rect">
            <a:avLst/>
          </a:prstGeom>
          <a:solidFill>
            <a:srgbClr val="F3F4F6"/>
          </a:solidFill>
          <a:ln w="6350">
            <a:solidFill>
              <a:srgbClr val="D1D5DB"/>
            </a:solidFill>
            <a:prstDash val="solid"/>
          </a:ln>
        </p:spPr>
      </p:sp>
      <p:sp>
        <p:nvSpPr>
          <p:cNvPr id="24" name="Text 22"/>
          <p:cNvSpPr/>
          <p:nvPr/>
        </p:nvSpPr>
        <p:spPr>
          <a:xfrm>
            <a:off x="685800" y="201168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categorical</a:t>
            </a:r>
            <a:endParaRPr lang="en-US" sz="1100" dirty="0"/>
          </a:p>
        </p:txBody>
      </p:sp>
      <p:sp>
        <p:nvSpPr>
          <p:cNvPr id="25" name="Shape 23"/>
          <p:cNvSpPr/>
          <p:nvPr/>
        </p:nvSpPr>
        <p:spPr>
          <a:xfrm>
            <a:off x="2011680" y="2011680"/>
            <a:ext cx="1371600" cy="365760"/>
          </a:xfrm>
          <a:prstGeom prst="rect">
            <a:avLst/>
          </a:prstGeom>
          <a:solidFill>
            <a:srgbClr val="F3F4F6"/>
          </a:solidFill>
          <a:ln w="6350">
            <a:solidFill>
              <a:srgbClr val="D1D5DB"/>
            </a:solidFill>
            <a:prstDash val="solid"/>
          </a:ln>
        </p:spPr>
      </p:sp>
      <p:sp>
        <p:nvSpPr>
          <p:cNvPr id="26" name="Text 24"/>
          <p:cNvSpPr/>
          <p:nvPr/>
        </p:nvSpPr>
        <p:spPr>
          <a:xfrm>
            <a:off x="2057400" y="201168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continuous</a:t>
            </a:r>
            <a:endParaRPr lang="en-US" sz="1100" dirty="0"/>
          </a:p>
        </p:txBody>
      </p:sp>
      <p:sp>
        <p:nvSpPr>
          <p:cNvPr id="27" name="Shape 25"/>
          <p:cNvSpPr/>
          <p:nvPr/>
        </p:nvSpPr>
        <p:spPr>
          <a:xfrm>
            <a:off x="3383280" y="2011680"/>
            <a:ext cx="2377440" cy="365760"/>
          </a:xfrm>
          <a:prstGeom prst="rect">
            <a:avLst/>
          </a:prstGeom>
          <a:solidFill>
            <a:srgbClr val="F3F4F6"/>
          </a:solidFill>
          <a:ln w="6350">
            <a:solidFill>
              <a:srgbClr val="D1D5DB"/>
            </a:solidFill>
            <a:prstDash val="solid"/>
          </a:ln>
        </p:spPr>
      </p:sp>
      <p:sp>
        <p:nvSpPr>
          <p:cNvPr id="28" name="Text 26"/>
          <p:cNvSpPr/>
          <p:nvPr/>
        </p:nvSpPr>
        <p:spPr>
          <a:xfrm>
            <a:off x="3429000" y="2011680"/>
            <a:ext cx="228600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One-way ANOVA</a:t>
            </a:r>
            <a:endParaRPr lang="en-US" sz="1100" dirty="0"/>
          </a:p>
        </p:txBody>
      </p:sp>
      <p:sp>
        <p:nvSpPr>
          <p:cNvPr id="31" name="Shape 29"/>
          <p:cNvSpPr/>
          <p:nvPr/>
        </p:nvSpPr>
        <p:spPr>
          <a:xfrm>
            <a:off x="640080" y="2377440"/>
            <a:ext cx="1371600" cy="365760"/>
          </a:xfrm>
          <a:prstGeom prst="rect">
            <a:avLst/>
          </a:prstGeom>
          <a:solidFill>
            <a:srgbClr val="FFFFFF"/>
          </a:solidFill>
          <a:ln w="6350">
            <a:solidFill>
              <a:srgbClr val="D1D5DB"/>
            </a:solidFill>
            <a:prstDash val="solid"/>
          </a:ln>
        </p:spPr>
      </p:sp>
      <p:sp>
        <p:nvSpPr>
          <p:cNvPr id="32" name="Text 30"/>
          <p:cNvSpPr/>
          <p:nvPr/>
        </p:nvSpPr>
        <p:spPr>
          <a:xfrm>
            <a:off x="685800" y="237744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continuous</a:t>
            </a:r>
            <a:endParaRPr lang="en-US" sz="1100" dirty="0"/>
          </a:p>
        </p:txBody>
      </p:sp>
      <p:sp>
        <p:nvSpPr>
          <p:cNvPr id="33" name="Shape 31"/>
          <p:cNvSpPr/>
          <p:nvPr/>
        </p:nvSpPr>
        <p:spPr>
          <a:xfrm>
            <a:off x="2011680" y="2377440"/>
            <a:ext cx="1371600" cy="365760"/>
          </a:xfrm>
          <a:prstGeom prst="rect">
            <a:avLst/>
          </a:prstGeom>
          <a:solidFill>
            <a:srgbClr val="FFFFFF"/>
          </a:solidFill>
          <a:ln w="6350">
            <a:solidFill>
              <a:srgbClr val="D1D5DB"/>
            </a:solidFill>
            <a:prstDash val="solid"/>
          </a:ln>
        </p:spPr>
      </p:sp>
      <p:sp>
        <p:nvSpPr>
          <p:cNvPr id="34" name="Text 32"/>
          <p:cNvSpPr/>
          <p:nvPr/>
        </p:nvSpPr>
        <p:spPr>
          <a:xfrm>
            <a:off x="2057400" y="237744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continuous</a:t>
            </a:r>
            <a:endParaRPr lang="en-US" sz="1100" dirty="0"/>
          </a:p>
        </p:txBody>
      </p:sp>
      <p:sp>
        <p:nvSpPr>
          <p:cNvPr id="35" name="Shape 33"/>
          <p:cNvSpPr/>
          <p:nvPr/>
        </p:nvSpPr>
        <p:spPr>
          <a:xfrm>
            <a:off x="3383280" y="2377440"/>
            <a:ext cx="2377440" cy="365760"/>
          </a:xfrm>
          <a:prstGeom prst="rect">
            <a:avLst/>
          </a:prstGeom>
          <a:solidFill>
            <a:srgbClr val="FFFFFF"/>
          </a:solidFill>
          <a:ln w="6350">
            <a:solidFill>
              <a:srgbClr val="D1D5DB"/>
            </a:solidFill>
            <a:prstDash val="solid"/>
          </a:ln>
        </p:spPr>
      </p:sp>
      <p:sp>
        <p:nvSpPr>
          <p:cNvPr id="36" name="Text 34"/>
          <p:cNvSpPr/>
          <p:nvPr/>
        </p:nvSpPr>
        <p:spPr>
          <a:xfrm>
            <a:off x="3429000" y="2377440"/>
            <a:ext cx="228600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Pearson correlation</a:t>
            </a:r>
            <a:endParaRPr lang="en-US" sz="1100" dirty="0"/>
          </a:p>
        </p:txBody>
      </p:sp>
      <p:sp>
        <p:nvSpPr>
          <p:cNvPr id="39" name="Shape 37"/>
          <p:cNvSpPr/>
          <p:nvPr/>
        </p:nvSpPr>
        <p:spPr>
          <a:xfrm>
            <a:off x="640080" y="2743200"/>
            <a:ext cx="1371600" cy="365760"/>
          </a:xfrm>
          <a:prstGeom prst="rect">
            <a:avLst/>
          </a:prstGeom>
          <a:solidFill>
            <a:srgbClr val="F3F4F6"/>
          </a:solidFill>
          <a:ln w="6350">
            <a:solidFill>
              <a:srgbClr val="D1D5DB"/>
            </a:solidFill>
            <a:prstDash val="solid"/>
          </a:ln>
        </p:spPr>
      </p:sp>
      <p:sp>
        <p:nvSpPr>
          <p:cNvPr id="40" name="Text 38"/>
          <p:cNvSpPr/>
          <p:nvPr/>
        </p:nvSpPr>
        <p:spPr>
          <a:xfrm>
            <a:off x="685800" y="274320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categorical</a:t>
            </a:r>
            <a:endParaRPr lang="en-US" sz="1100" dirty="0"/>
          </a:p>
        </p:txBody>
      </p:sp>
      <p:sp>
        <p:nvSpPr>
          <p:cNvPr id="41" name="Shape 39"/>
          <p:cNvSpPr/>
          <p:nvPr/>
        </p:nvSpPr>
        <p:spPr>
          <a:xfrm>
            <a:off x="2011680" y="2743200"/>
            <a:ext cx="1371600" cy="365760"/>
          </a:xfrm>
          <a:prstGeom prst="rect">
            <a:avLst/>
          </a:prstGeom>
          <a:solidFill>
            <a:srgbClr val="F3F4F6"/>
          </a:solidFill>
          <a:ln w="6350">
            <a:solidFill>
              <a:srgbClr val="D1D5DB"/>
            </a:solidFill>
            <a:prstDash val="solid"/>
          </a:ln>
        </p:spPr>
      </p:sp>
      <p:sp>
        <p:nvSpPr>
          <p:cNvPr id="42" name="Text 40"/>
          <p:cNvSpPr/>
          <p:nvPr/>
        </p:nvSpPr>
        <p:spPr>
          <a:xfrm>
            <a:off x="2057400" y="2743200"/>
            <a:ext cx="128016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categorical</a:t>
            </a:r>
            <a:endParaRPr lang="en-US" sz="1100" dirty="0"/>
          </a:p>
        </p:txBody>
      </p:sp>
      <p:sp>
        <p:nvSpPr>
          <p:cNvPr id="43" name="Shape 41"/>
          <p:cNvSpPr/>
          <p:nvPr/>
        </p:nvSpPr>
        <p:spPr>
          <a:xfrm>
            <a:off x="3383280" y="2743200"/>
            <a:ext cx="2377440" cy="365760"/>
          </a:xfrm>
          <a:prstGeom prst="rect">
            <a:avLst/>
          </a:prstGeom>
          <a:solidFill>
            <a:srgbClr val="F3F4F6"/>
          </a:solidFill>
          <a:ln w="6350">
            <a:solidFill>
              <a:srgbClr val="D1D5DB"/>
            </a:solidFill>
            <a:prstDash val="solid"/>
          </a:ln>
        </p:spPr>
      </p:sp>
      <p:sp>
        <p:nvSpPr>
          <p:cNvPr id="44" name="Text 42"/>
          <p:cNvSpPr/>
          <p:nvPr/>
        </p:nvSpPr>
        <p:spPr>
          <a:xfrm>
            <a:off x="3429000" y="2743200"/>
            <a:ext cx="2286000" cy="36576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Chi-square</a:t>
            </a:r>
            <a:endParaRPr lang="en-US" sz="1100" dirty="0"/>
          </a:p>
        </p:txBody>
      </p:sp>
      <p:sp>
        <p:nvSpPr>
          <p:cNvPr id="47" name="Text 45"/>
          <p:cNvSpPr/>
          <p:nvPr/>
        </p:nvSpPr>
        <p:spPr>
          <a:xfrm>
            <a:off x="640080" y="3383280"/>
            <a:ext cx="7863840" cy="27432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After the sweep:</a:t>
            </a:r>
            <a:endParaRPr lang="en-US" sz="1300" dirty="0"/>
          </a:p>
        </p:txBody>
      </p:sp>
      <p:sp>
        <p:nvSpPr>
          <p:cNvPr id="48" name="Text 46"/>
          <p:cNvSpPr/>
          <p:nvPr/>
        </p:nvSpPr>
        <p:spPr>
          <a:xfrm>
            <a:off x="640080" y="3703320"/>
            <a:ext cx="7863840" cy="914400"/>
          </a:xfrm>
          <a:prstGeom prst="rect">
            <a:avLst/>
          </a:prstGeom>
          <a:noFill/>
          <a:ln/>
        </p:spPr>
        <p:txBody>
          <a:bodyPr wrap="square" lIns="0" tIns="0" rIns="0" bIns="0" rtlCol="0" anchor="t"/>
          <a:lstStyle/>
          <a:p>
            <a:pPr indent="0" marL="0">
              <a:buNone/>
            </a:pPr>
            <a:r>
              <a:rPr lang="en-US" sz="1200" b="1" dirty="0">
                <a:solidFill>
                  <a:srgbClr val="0891B2"/>
                </a:solidFill>
                <a:latin typeface="Arial" pitchFamily="34" charset="0"/>
                <a:ea typeface="Arial" pitchFamily="34" charset="-122"/>
                <a:cs typeface="Arial" pitchFamily="34" charset="-120"/>
              </a:rPr>
              <a:t>1.  </a:t>
            </a:r>
            <a:pPr indent="0" marL="0">
              <a:buNone/>
            </a:pPr>
            <a:r>
              <a:rPr lang="en-US" sz="1200" dirty="0">
                <a:solidFill>
                  <a:srgbClr val="374151"/>
                </a:solidFill>
                <a:latin typeface="Arial" pitchFamily="34" charset="0"/>
                <a:ea typeface="Arial" pitchFamily="34" charset="-122"/>
                <a:cs typeface="Arial" pitchFamily="34" charset="-120"/>
              </a:rPr>
              <a:t>Apply Benjamini-Hochberg FDR correction across all p-values
</a:t>
            </a:r>
            <a:pPr indent="0" marL="0">
              <a:buNone/>
            </a:pPr>
            <a:r>
              <a:rPr lang="en-US" sz="1200" b="1" dirty="0">
                <a:solidFill>
                  <a:srgbClr val="0891B2"/>
                </a:solidFill>
                <a:latin typeface="Arial" pitchFamily="34" charset="0"/>
                <a:ea typeface="Arial" pitchFamily="34" charset="-122"/>
                <a:cs typeface="Arial" pitchFamily="34" charset="-120"/>
              </a:rPr>
              <a:t>2.  </a:t>
            </a:r>
            <a:pPr indent="0" marL="0">
              <a:buNone/>
            </a:pPr>
            <a:r>
              <a:rPr lang="en-US" sz="1200" dirty="0">
                <a:solidFill>
                  <a:srgbClr val="374151"/>
                </a:solidFill>
                <a:latin typeface="Arial" pitchFamily="34" charset="0"/>
                <a:ea typeface="Arial" pitchFamily="34" charset="-122"/>
                <a:cs typeface="Arial" pitchFamily="34" charset="-120"/>
              </a:rPr>
              <a:t>Filter to q &lt; 0.05 — those are your real findings
</a:t>
            </a:r>
            <a:pPr indent="0" marL="0">
              <a:buNone/>
            </a:pPr>
            <a:r>
              <a:rPr lang="en-US" sz="1200" b="1" dirty="0">
                <a:solidFill>
                  <a:srgbClr val="0891B2"/>
                </a:solidFill>
                <a:latin typeface="Arial" pitchFamily="34" charset="0"/>
                <a:ea typeface="Arial" pitchFamily="34" charset="-122"/>
                <a:cs typeface="Arial" pitchFamily="34" charset="-120"/>
              </a:rPr>
              <a:t>3.  </a:t>
            </a:r>
            <a:pPr indent="0" marL="0">
              <a:buNone/>
            </a:pPr>
            <a:r>
              <a:rPr lang="en-US" sz="1200" dirty="0">
                <a:solidFill>
                  <a:srgbClr val="374151"/>
                </a:solidFill>
                <a:latin typeface="Arial" pitchFamily="34" charset="0"/>
                <a:ea typeface="Arial" pitchFamily="34" charset="-122"/>
                <a:cs typeface="Arial" pitchFamily="34" charset="-120"/>
              </a:rPr>
              <a:t>Confirm key effects with a regression that includes interactions
</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1 — the reveal</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The interaction reveal</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Naive and conditional answers can disagree. The regression is the tiebreaker.</a:t>
            </a:r>
            <a:endParaRPr lang="en-US" sz="1300" dirty="0"/>
          </a:p>
        </p:txBody>
      </p:sp>
      <p:sp>
        <p:nvSpPr>
          <p:cNvPr id="7" name="Shape 5"/>
          <p:cNvSpPr/>
          <p:nvPr/>
        </p:nvSpPr>
        <p:spPr>
          <a:xfrm>
            <a:off x="640080" y="1188720"/>
            <a:ext cx="3749040" cy="1463040"/>
          </a:xfrm>
          <a:prstGeom prst="rect">
            <a:avLst/>
          </a:prstGeom>
          <a:solidFill>
            <a:srgbClr val="FEF3C7"/>
          </a:solidFill>
          <a:ln w="12700">
            <a:solidFill>
              <a:srgbClr val="D97706"/>
            </a:solidFill>
            <a:prstDash val="solid"/>
          </a:ln>
        </p:spPr>
      </p:sp>
      <p:sp>
        <p:nvSpPr>
          <p:cNvPr id="8" name="Text 6"/>
          <p:cNvSpPr/>
          <p:nvPr/>
        </p:nvSpPr>
        <p:spPr>
          <a:xfrm>
            <a:off x="777240" y="1280160"/>
            <a:ext cx="3474720" cy="274320"/>
          </a:xfrm>
          <a:prstGeom prst="rect">
            <a:avLst/>
          </a:prstGeom>
          <a:noFill/>
          <a:ln/>
        </p:spPr>
        <p:txBody>
          <a:bodyPr wrap="square" lIns="0" tIns="0" rIns="0" bIns="0" rtlCol="0" anchor="ctr"/>
          <a:lstStyle/>
          <a:p>
            <a:pPr indent="0" marL="0">
              <a:buNone/>
            </a:pPr>
            <a:r>
              <a:rPr lang="en-US" sz="1300" b="1" dirty="0">
                <a:solidFill>
                  <a:srgbClr val="D97706"/>
                </a:solidFill>
                <a:latin typeface="Arial" pitchFamily="34" charset="0"/>
                <a:ea typeface="Arial" pitchFamily="34" charset="-122"/>
                <a:cs typeface="Arial" pitchFamily="34" charset="-120"/>
              </a:rPr>
              <a:t>Naive t-test</a:t>
            </a:r>
            <a:endParaRPr lang="en-US" sz="1300" dirty="0"/>
          </a:p>
        </p:txBody>
      </p:sp>
      <p:sp>
        <p:nvSpPr>
          <p:cNvPr id="9" name="Text 7"/>
          <p:cNvSpPr/>
          <p:nvPr/>
        </p:nvSpPr>
        <p:spPr>
          <a:xfrm>
            <a:off x="777240" y="1600200"/>
            <a:ext cx="3474720" cy="54864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Drive-thru weekend revenue: 9,714 baht</a:t>
            </a:r>
            <a:endParaRPr lang="en-US" sz="1100" dirty="0"/>
          </a:p>
          <a:p>
            <a:pPr indent="0" marL="0">
              <a:buNone/>
            </a:pPr>
            <a:r>
              <a:rPr lang="en-US" sz="1100" dirty="0">
                <a:solidFill>
                  <a:srgbClr val="374151"/>
                </a:solidFill>
                <a:latin typeface="Arial" pitchFamily="34" charset="0"/>
                <a:ea typeface="Arial" pitchFamily="34" charset="-122"/>
                <a:cs typeface="Arial" pitchFamily="34" charset="-120"/>
              </a:rPr>
              <a:t>Non-drive-thru weekend revenue: 11,395 baht</a:t>
            </a:r>
            <a:endParaRPr lang="en-US" sz="1100" dirty="0"/>
          </a:p>
        </p:txBody>
      </p:sp>
      <p:sp>
        <p:nvSpPr>
          <p:cNvPr id="10" name="Text 8"/>
          <p:cNvSpPr/>
          <p:nvPr/>
        </p:nvSpPr>
        <p:spPr>
          <a:xfrm>
            <a:off x="777240" y="2194560"/>
            <a:ext cx="3474720" cy="365760"/>
          </a:xfrm>
          <a:prstGeom prst="rect">
            <a:avLst/>
          </a:prstGeom>
          <a:noFill/>
          <a:ln/>
        </p:spPr>
        <p:txBody>
          <a:bodyPr wrap="square" lIns="0" tIns="0" rIns="0" bIns="0" rtlCol="0" anchor="ctr"/>
          <a:lstStyle/>
          <a:p>
            <a:pPr indent="0" marL="0">
              <a:buNone/>
            </a:pPr>
            <a:r>
              <a:rPr lang="en-US" sz="1200" b="1" i="1" dirty="0">
                <a:solidFill>
                  <a:srgbClr val="D97706"/>
                </a:solidFill>
                <a:latin typeface="Arial" pitchFamily="34" charset="0"/>
                <a:ea typeface="Arial" pitchFamily="34" charset="-122"/>
                <a:cs typeface="Arial" pitchFamily="34" charset="-120"/>
              </a:rPr>
              <a:t>Conclusion: drive-thru is WORSE on weekends.</a:t>
            </a:r>
            <a:endParaRPr lang="en-US" sz="1200" dirty="0"/>
          </a:p>
        </p:txBody>
      </p:sp>
      <p:sp>
        <p:nvSpPr>
          <p:cNvPr id="11" name="Shape 9"/>
          <p:cNvSpPr/>
          <p:nvPr/>
        </p:nvSpPr>
        <p:spPr>
          <a:xfrm>
            <a:off x="4754880" y="1188720"/>
            <a:ext cx="3749040" cy="1463040"/>
          </a:xfrm>
          <a:prstGeom prst="rect">
            <a:avLst/>
          </a:prstGeom>
          <a:solidFill>
            <a:srgbClr val="E0F7FA"/>
          </a:solidFill>
          <a:ln w="12700">
            <a:solidFill>
              <a:srgbClr val="0891B2"/>
            </a:solidFill>
            <a:prstDash val="solid"/>
          </a:ln>
        </p:spPr>
      </p:sp>
      <p:sp>
        <p:nvSpPr>
          <p:cNvPr id="12" name="Text 10"/>
          <p:cNvSpPr/>
          <p:nvPr/>
        </p:nvSpPr>
        <p:spPr>
          <a:xfrm>
            <a:off x="4892040" y="1280160"/>
            <a:ext cx="3474720" cy="274320"/>
          </a:xfrm>
          <a:prstGeom prst="rect">
            <a:avLst/>
          </a:prstGeom>
          <a:noFill/>
          <a:ln/>
        </p:spPr>
        <p:txBody>
          <a:bodyPr wrap="square" lIns="0" tIns="0" rIns="0" bIns="0" rtlCol="0" anchor="ctr"/>
          <a:lstStyle/>
          <a:p>
            <a:pPr indent="0" marL="0">
              <a:buNone/>
            </a:pPr>
            <a:r>
              <a:rPr lang="en-US" sz="1300" b="1" dirty="0">
                <a:solidFill>
                  <a:srgbClr val="0891B2"/>
                </a:solidFill>
                <a:latin typeface="Arial" pitchFamily="34" charset="0"/>
                <a:ea typeface="Arial" pitchFamily="34" charset="-122"/>
                <a:cs typeface="Arial" pitchFamily="34" charset="-120"/>
              </a:rPr>
              <a:t>Regression with interaction</a:t>
            </a:r>
            <a:endParaRPr lang="en-US" sz="1300" dirty="0"/>
          </a:p>
        </p:txBody>
      </p:sp>
      <p:sp>
        <p:nvSpPr>
          <p:cNvPr id="13" name="Text 11"/>
          <p:cNvSpPr/>
          <p:nvPr/>
        </p:nvSpPr>
        <p:spPr>
          <a:xfrm>
            <a:off x="4892040" y="1600200"/>
            <a:ext cx="3474720" cy="54864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revenue ~ has_drive_thru * is_weekend</a:t>
            </a:r>
            <a:endParaRPr lang="en-US" sz="1100" dirty="0"/>
          </a:p>
          <a:p>
            <a:pPr indent="0" marL="0">
              <a:buNone/>
            </a:pPr>
            <a:r>
              <a:rPr lang="en-US" sz="1100" dirty="0">
                <a:solidFill>
                  <a:srgbClr val="374151"/>
                </a:solidFill>
                <a:latin typeface="Arial" pitchFamily="34" charset="0"/>
                <a:ea typeface="Arial" pitchFamily="34" charset="-122"/>
                <a:cs typeface="Arial" pitchFamily="34" charset="-120"/>
              </a:rPr>
              <a:t>             + district + seats + size</a:t>
            </a:r>
            <a:endParaRPr lang="en-US" sz="1100" dirty="0"/>
          </a:p>
        </p:txBody>
      </p:sp>
      <p:sp>
        <p:nvSpPr>
          <p:cNvPr id="14" name="Text 12"/>
          <p:cNvSpPr/>
          <p:nvPr/>
        </p:nvSpPr>
        <p:spPr>
          <a:xfrm>
            <a:off x="4892040" y="2148840"/>
            <a:ext cx="3474720" cy="457200"/>
          </a:xfrm>
          <a:prstGeom prst="rect">
            <a:avLst/>
          </a:prstGeom>
          <a:noFill/>
          <a:ln/>
        </p:spPr>
        <p:txBody>
          <a:bodyPr wrap="square" lIns="0" tIns="0" rIns="0" bIns="0" rtlCol="0" anchor="ctr"/>
          <a:lstStyle/>
          <a:p>
            <a:pPr indent="0" marL="0">
              <a:buNone/>
            </a:pPr>
            <a:r>
              <a:rPr lang="en-US" sz="1200" b="1" i="1" dirty="0">
                <a:solidFill>
                  <a:srgbClr val="0891B2"/>
                </a:solidFill>
                <a:latin typeface="Arial" pitchFamily="34" charset="0"/>
                <a:ea typeface="Arial" pitchFamily="34" charset="-122"/>
                <a:cs typeface="Arial" pitchFamily="34" charset="-120"/>
              </a:rPr>
              <a:t>The interaction is positive and significant.</a:t>
            </a:r>
            <a:endParaRPr lang="en-US" sz="1200" dirty="0"/>
          </a:p>
          <a:p>
            <a:pPr indent="0" marL="0">
              <a:buNone/>
            </a:pPr>
            <a:r>
              <a:rPr lang="en-US" sz="1200" b="1" i="1" dirty="0">
                <a:solidFill>
                  <a:srgbClr val="0891B2"/>
                </a:solidFill>
                <a:latin typeface="Arial" pitchFamily="34" charset="0"/>
                <a:ea typeface="Arial" pitchFamily="34" charset="-122"/>
                <a:cs typeface="Arial" pitchFamily="34" charset="-120"/>
              </a:rPr>
              <a:t>Drive-thru weekend lift is LARGER, not smaller.</a:t>
            </a:r>
            <a:endParaRPr lang="en-US" sz="1200" dirty="0"/>
          </a:p>
        </p:txBody>
      </p:sp>
      <p:sp>
        <p:nvSpPr>
          <p:cNvPr id="15" name="Text 13"/>
          <p:cNvSpPr/>
          <p:nvPr/>
        </p:nvSpPr>
        <p:spPr>
          <a:xfrm>
            <a:off x="640080" y="2834640"/>
            <a:ext cx="7863840" cy="27432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Why the disagreement?</a:t>
            </a:r>
            <a:endParaRPr lang="en-US" sz="1400" dirty="0"/>
          </a:p>
        </p:txBody>
      </p:sp>
      <p:sp>
        <p:nvSpPr>
          <p:cNvPr id="16" name="Text 14"/>
          <p:cNvSpPr/>
          <p:nvPr/>
        </p:nvSpPr>
        <p:spPr>
          <a:xfrm>
            <a:off x="640080" y="3154680"/>
            <a:ext cx="7863840" cy="914400"/>
          </a:xfrm>
          <a:prstGeom prst="rect">
            <a:avLst/>
          </a:prstGeom>
          <a:noFill/>
          <a:ln/>
        </p:spPr>
        <p:txBody>
          <a:bodyPr wrap="square" lIns="0" tIns="0" rIns="0" bIns="0" rtlCol="0" anchor="t"/>
          <a:lstStyle/>
          <a:p>
            <a:pPr indent="0" marL="0">
              <a:buNone/>
            </a:pPr>
            <a:r>
              <a:rPr lang="en-US" sz="1200" dirty="0">
                <a:solidFill>
                  <a:srgbClr val="374151"/>
                </a:solidFill>
                <a:latin typeface="Arial" pitchFamily="34" charset="0"/>
                <a:ea typeface="Arial" pitchFamily="34" charset="-122"/>
                <a:cs typeface="Arial" pitchFamily="34" charset="-120"/>
              </a:rPr>
              <a:t>Drive-thru branches sit in lower-prestige districts (Ratchada, Ramkhamhaeng, Bangna). Their absolute revenue is lower because of district, not because of weekend dynamics. Once you control for district, the drive-thru weekend lift emerges.</a:t>
            </a:r>
            <a:endParaRPr lang="en-US" sz="1200" dirty="0"/>
          </a:p>
        </p:txBody>
      </p:sp>
      <p:sp>
        <p:nvSpPr>
          <p:cNvPr id="17" name="Shape 15"/>
          <p:cNvSpPr/>
          <p:nvPr/>
        </p:nvSpPr>
        <p:spPr>
          <a:xfrm>
            <a:off x="640080" y="4160520"/>
            <a:ext cx="7863840" cy="502920"/>
          </a:xfrm>
          <a:prstGeom prst="rect">
            <a:avLst/>
          </a:prstGeom>
          <a:solidFill>
            <a:srgbClr val="FEF3C7"/>
          </a:solidFill>
          <a:ln w="12700">
            <a:solidFill>
              <a:srgbClr val="D97706"/>
            </a:solidFill>
            <a:prstDash val="solid"/>
          </a:ln>
        </p:spPr>
      </p:sp>
      <p:sp>
        <p:nvSpPr>
          <p:cNvPr id="18" name="Text 16"/>
          <p:cNvSpPr/>
          <p:nvPr/>
        </p:nvSpPr>
        <p:spPr>
          <a:xfrm>
            <a:off x="822960" y="4251960"/>
            <a:ext cx="7498080" cy="32004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Lesson: a pairwise sweep tells you what's correlated. A regression with the right interactions tells you what's actually causal — given your controls.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1188720"/>
            <a:ext cx="2286000" cy="1280160"/>
          </a:xfrm>
          <a:prstGeom prst="rect">
            <a:avLst/>
          </a:prstGeom>
          <a:noFill/>
          <a:ln/>
        </p:spPr>
        <p:txBody>
          <a:bodyPr wrap="square" lIns="0" tIns="0" rIns="0" bIns="0" rtlCol="0" anchor="ctr"/>
          <a:lstStyle/>
          <a:p>
            <a:pPr indent="0" marL="0">
              <a:buNone/>
            </a:pPr>
            <a:r>
              <a:rPr lang="en-US" sz="8000" b="1" dirty="0">
                <a:solidFill>
                  <a:srgbClr val="0891B2"/>
                </a:solidFill>
                <a:latin typeface="Arial" pitchFamily="34" charset="0"/>
                <a:ea typeface="Arial" pitchFamily="34" charset="-122"/>
                <a:cs typeface="Arial" pitchFamily="34" charset="-120"/>
              </a:rPr>
              <a:t>02</a:t>
            </a:r>
            <a:endParaRPr lang="en-US" sz="8000" dirty="0"/>
          </a:p>
        </p:txBody>
      </p:sp>
      <p:sp>
        <p:nvSpPr>
          <p:cNvPr id="4" name="Shape 2"/>
          <p:cNvSpPr/>
          <p:nvPr/>
        </p:nvSpPr>
        <p:spPr>
          <a:xfrm>
            <a:off x="640080" y="2606040"/>
            <a:ext cx="3200400" cy="0"/>
          </a:xfrm>
          <a:prstGeom prst="line">
            <a:avLst/>
          </a:prstGeom>
          <a:noFill/>
          <a:ln w="31750">
            <a:solidFill>
              <a:srgbClr val="0891B2"/>
            </a:solidFill>
            <a:prstDash val="solid"/>
          </a:ln>
        </p:spPr>
      </p:sp>
      <p:sp>
        <p:nvSpPr>
          <p:cNvPr id="5" name="Text 3"/>
          <p:cNvSpPr/>
          <p:nvPr/>
        </p:nvSpPr>
        <p:spPr>
          <a:xfrm>
            <a:off x="640080" y="2788920"/>
            <a:ext cx="786384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Forecast</a:t>
            </a:r>
            <a:endParaRPr lang="en-US" sz="3600" dirty="0"/>
          </a:p>
        </p:txBody>
      </p:sp>
      <p:sp>
        <p:nvSpPr>
          <p:cNvPr id="6" name="Text 4"/>
          <p:cNvSpPr/>
          <p:nvPr/>
        </p:nvSpPr>
        <p:spPr>
          <a:xfrm>
            <a:off x="640080" y="3520440"/>
            <a:ext cx="786384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How much will each SKU sell at each branch?</a:t>
            </a:r>
            <a:endParaRPr lang="en-US" sz="1600" dirty="0"/>
          </a:p>
        </p:txBody>
      </p:sp>
      <p:sp>
        <p:nvSpPr>
          <p:cNvPr id="7" name="Text 5"/>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2 — the shape</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The forecasting panel</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Top 5 SKUs × 12 branches = 60 daily series</a:t>
            </a:r>
            <a:endParaRPr lang="en-US" sz="1300" dirty="0"/>
          </a:p>
        </p:txBody>
      </p:sp>
      <p:sp>
        <p:nvSpPr>
          <p:cNvPr id="7" name="Shape 5"/>
          <p:cNvSpPr/>
          <p:nvPr/>
        </p:nvSpPr>
        <p:spPr>
          <a:xfrm>
            <a:off x="640080" y="1280160"/>
            <a:ext cx="1874520" cy="1005840"/>
          </a:xfrm>
          <a:prstGeom prst="rect">
            <a:avLst/>
          </a:prstGeom>
          <a:solidFill>
            <a:srgbClr val="F3F4F6"/>
          </a:solidFill>
          <a:ln w="6350">
            <a:solidFill>
              <a:srgbClr val="D1D5DB"/>
            </a:solidFill>
            <a:prstDash val="solid"/>
          </a:ln>
        </p:spPr>
      </p:sp>
      <p:sp>
        <p:nvSpPr>
          <p:cNvPr id="8" name="Shape 6"/>
          <p:cNvSpPr/>
          <p:nvPr/>
        </p:nvSpPr>
        <p:spPr>
          <a:xfrm>
            <a:off x="640080" y="1280160"/>
            <a:ext cx="64008" cy="1005840"/>
          </a:xfrm>
          <a:prstGeom prst="rect">
            <a:avLst/>
          </a:prstGeom>
          <a:solidFill>
            <a:srgbClr val="0891B2"/>
          </a:solidFill>
          <a:ln/>
        </p:spPr>
      </p:sp>
      <p:sp>
        <p:nvSpPr>
          <p:cNvPr id="9" name="Text 7"/>
          <p:cNvSpPr/>
          <p:nvPr/>
        </p:nvSpPr>
        <p:spPr>
          <a:xfrm>
            <a:off x="731520" y="1371600"/>
            <a:ext cx="1737360" cy="502920"/>
          </a:xfrm>
          <a:prstGeom prst="rect">
            <a:avLst/>
          </a:prstGeom>
          <a:noFill/>
          <a:ln/>
        </p:spPr>
        <p:txBody>
          <a:bodyPr wrap="square" lIns="0" tIns="0" rIns="0" bIns="0" rtlCol="0" anchor="ctr"/>
          <a:lstStyle/>
          <a:p>
            <a:pPr algn="ctr" indent="0" marL="0">
              <a:buNone/>
            </a:pPr>
            <a:r>
              <a:rPr lang="en-US" sz="3200" b="1" dirty="0">
                <a:solidFill>
                  <a:srgbClr val="0891B2"/>
                </a:solidFill>
                <a:latin typeface="Arial" pitchFamily="34" charset="0"/>
                <a:ea typeface="Arial" pitchFamily="34" charset="-122"/>
                <a:cs typeface="Arial" pitchFamily="34" charset="-120"/>
              </a:rPr>
              <a:t>60</a:t>
            </a:r>
            <a:endParaRPr lang="en-US" sz="3200" dirty="0"/>
          </a:p>
        </p:txBody>
      </p:sp>
      <p:sp>
        <p:nvSpPr>
          <p:cNvPr id="10" name="Text 8"/>
          <p:cNvSpPr/>
          <p:nvPr/>
        </p:nvSpPr>
        <p:spPr>
          <a:xfrm>
            <a:off x="731520" y="1874520"/>
            <a:ext cx="173736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series to forecast</a:t>
            </a:r>
            <a:endParaRPr lang="en-US" sz="1000" dirty="0"/>
          </a:p>
        </p:txBody>
      </p:sp>
      <p:sp>
        <p:nvSpPr>
          <p:cNvPr id="11" name="Shape 9"/>
          <p:cNvSpPr/>
          <p:nvPr/>
        </p:nvSpPr>
        <p:spPr>
          <a:xfrm>
            <a:off x="2670048" y="1280160"/>
            <a:ext cx="1874520" cy="1005840"/>
          </a:xfrm>
          <a:prstGeom prst="rect">
            <a:avLst/>
          </a:prstGeom>
          <a:solidFill>
            <a:srgbClr val="F3F4F6"/>
          </a:solidFill>
          <a:ln w="6350">
            <a:solidFill>
              <a:srgbClr val="D1D5DB"/>
            </a:solidFill>
            <a:prstDash val="solid"/>
          </a:ln>
        </p:spPr>
      </p:sp>
      <p:sp>
        <p:nvSpPr>
          <p:cNvPr id="12" name="Shape 10"/>
          <p:cNvSpPr/>
          <p:nvPr/>
        </p:nvSpPr>
        <p:spPr>
          <a:xfrm>
            <a:off x="2670048" y="1280160"/>
            <a:ext cx="64008" cy="1005840"/>
          </a:xfrm>
          <a:prstGeom prst="rect">
            <a:avLst/>
          </a:prstGeom>
          <a:solidFill>
            <a:srgbClr val="0891B2"/>
          </a:solidFill>
          <a:ln/>
        </p:spPr>
      </p:sp>
      <p:sp>
        <p:nvSpPr>
          <p:cNvPr id="13" name="Text 11"/>
          <p:cNvSpPr/>
          <p:nvPr/>
        </p:nvSpPr>
        <p:spPr>
          <a:xfrm>
            <a:off x="2761488" y="1371600"/>
            <a:ext cx="1737360" cy="502920"/>
          </a:xfrm>
          <a:prstGeom prst="rect">
            <a:avLst/>
          </a:prstGeom>
          <a:noFill/>
          <a:ln/>
        </p:spPr>
        <p:txBody>
          <a:bodyPr wrap="square" lIns="0" tIns="0" rIns="0" bIns="0" rtlCol="0" anchor="ctr"/>
          <a:lstStyle/>
          <a:p>
            <a:pPr algn="ctr" indent="0" marL="0">
              <a:buNone/>
            </a:pPr>
            <a:r>
              <a:rPr lang="en-US" sz="3200" b="1" dirty="0">
                <a:solidFill>
                  <a:srgbClr val="0891B2"/>
                </a:solidFill>
                <a:latin typeface="Arial" pitchFamily="34" charset="0"/>
                <a:ea typeface="Arial" pitchFamily="34" charset="-122"/>
                <a:cs typeface="Arial" pitchFamily="34" charset="-120"/>
              </a:rPr>
              <a:t>365</a:t>
            </a:r>
            <a:endParaRPr lang="en-US" sz="3200" dirty="0"/>
          </a:p>
        </p:txBody>
      </p:sp>
      <p:sp>
        <p:nvSpPr>
          <p:cNvPr id="14" name="Text 12"/>
          <p:cNvSpPr/>
          <p:nvPr/>
        </p:nvSpPr>
        <p:spPr>
          <a:xfrm>
            <a:off x="2761488" y="1874520"/>
            <a:ext cx="173736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days of history (max)</a:t>
            </a:r>
            <a:endParaRPr lang="en-US" sz="1000" dirty="0"/>
          </a:p>
        </p:txBody>
      </p:sp>
      <p:sp>
        <p:nvSpPr>
          <p:cNvPr id="15" name="Shape 13"/>
          <p:cNvSpPr/>
          <p:nvPr/>
        </p:nvSpPr>
        <p:spPr>
          <a:xfrm>
            <a:off x="4700016" y="1280160"/>
            <a:ext cx="1874520" cy="1005840"/>
          </a:xfrm>
          <a:prstGeom prst="rect">
            <a:avLst/>
          </a:prstGeom>
          <a:solidFill>
            <a:srgbClr val="F3F4F6"/>
          </a:solidFill>
          <a:ln w="6350">
            <a:solidFill>
              <a:srgbClr val="D1D5DB"/>
            </a:solidFill>
            <a:prstDash val="solid"/>
          </a:ln>
        </p:spPr>
      </p:sp>
      <p:sp>
        <p:nvSpPr>
          <p:cNvPr id="16" name="Shape 14"/>
          <p:cNvSpPr/>
          <p:nvPr/>
        </p:nvSpPr>
        <p:spPr>
          <a:xfrm>
            <a:off x="4700016" y="1280160"/>
            <a:ext cx="64008" cy="1005840"/>
          </a:xfrm>
          <a:prstGeom prst="rect">
            <a:avLst/>
          </a:prstGeom>
          <a:solidFill>
            <a:srgbClr val="0891B2"/>
          </a:solidFill>
          <a:ln/>
        </p:spPr>
      </p:sp>
      <p:sp>
        <p:nvSpPr>
          <p:cNvPr id="17" name="Text 15"/>
          <p:cNvSpPr/>
          <p:nvPr/>
        </p:nvSpPr>
        <p:spPr>
          <a:xfrm>
            <a:off x="4791456" y="1371600"/>
            <a:ext cx="1737360" cy="502920"/>
          </a:xfrm>
          <a:prstGeom prst="rect">
            <a:avLst/>
          </a:prstGeom>
          <a:noFill/>
          <a:ln/>
        </p:spPr>
        <p:txBody>
          <a:bodyPr wrap="square" lIns="0" tIns="0" rIns="0" bIns="0" rtlCol="0" anchor="ctr"/>
          <a:lstStyle/>
          <a:p>
            <a:pPr algn="ctr" indent="0" marL="0">
              <a:buNone/>
            </a:pPr>
            <a:r>
              <a:rPr lang="en-US" sz="3200" b="1" dirty="0">
                <a:solidFill>
                  <a:srgbClr val="0891B2"/>
                </a:solidFill>
                <a:latin typeface="Arial" pitchFamily="34" charset="0"/>
                <a:ea typeface="Arial" pitchFamily="34" charset="-122"/>
                <a:cs typeface="Arial" pitchFamily="34" charset="-120"/>
              </a:rPr>
              <a:t>30</a:t>
            </a:r>
            <a:endParaRPr lang="en-US" sz="3200" dirty="0"/>
          </a:p>
        </p:txBody>
      </p:sp>
      <p:sp>
        <p:nvSpPr>
          <p:cNvPr id="18" name="Text 16"/>
          <p:cNvSpPr/>
          <p:nvPr/>
        </p:nvSpPr>
        <p:spPr>
          <a:xfrm>
            <a:off x="4791456" y="1874520"/>
            <a:ext cx="173736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days ahead horizon</a:t>
            </a:r>
            <a:endParaRPr lang="en-US" sz="1000" dirty="0"/>
          </a:p>
        </p:txBody>
      </p:sp>
      <p:sp>
        <p:nvSpPr>
          <p:cNvPr id="19" name="Shape 17"/>
          <p:cNvSpPr/>
          <p:nvPr/>
        </p:nvSpPr>
        <p:spPr>
          <a:xfrm>
            <a:off x="6729984" y="1280160"/>
            <a:ext cx="1874520" cy="1005840"/>
          </a:xfrm>
          <a:prstGeom prst="rect">
            <a:avLst/>
          </a:prstGeom>
          <a:solidFill>
            <a:srgbClr val="F3F4F6"/>
          </a:solidFill>
          <a:ln w="6350">
            <a:solidFill>
              <a:srgbClr val="D1D5DB"/>
            </a:solidFill>
            <a:prstDash val="solid"/>
          </a:ln>
        </p:spPr>
      </p:sp>
      <p:sp>
        <p:nvSpPr>
          <p:cNvPr id="20" name="Shape 18"/>
          <p:cNvSpPr/>
          <p:nvPr/>
        </p:nvSpPr>
        <p:spPr>
          <a:xfrm>
            <a:off x="6729984" y="1280160"/>
            <a:ext cx="64008" cy="1005840"/>
          </a:xfrm>
          <a:prstGeom prst="rect">
            <a:avLst/>
          </a:prstGeom>
          <a:solidFill>
            <a:srgbClr val="0891B2"/>
          </a:solidFill>
          <a:ln/>
        </p:spPr>
      </p:sp>
      <p:sp>
        <p:nvSpPr>
          <p:cNvPr id="21" name="Text 19"/>
          <p:cNvSpPr/>
          <p:nvPr/>
        </p:nvSpPr>
        <p:spPr>
          <a:xfrm>
            <a:off x="6821424" y="1371600"/>
            <a:ext cx="1737360" cy="502920"/>
          </a:xfrm>
          <a:prstGeom prst="rect">
            <a:avLst/>
          </a:prstGeom>
          <a:noFill/>
          <a:ln/>
        </p:spPr>
        <p:txBody>
          <a:bodyPr wrap="square" lIns="0" tIns="0" rIns="0" bIns="0" rtlCol="0" anchor="ctr"/>
          <a:lstStyle/>
          <a:p>
            <a:pPr algn="ctr" indent="0" marL="0">
              <a:buNone/>
            </a:pPr>
            <a:r>
              <a:rPr lang="en-US" sz="3200" b="1" dirty="0">
                <a:solidFill>
                  <a:srgbClr val="0891B2"/>
                </a:solidFill>
                <a:latin typeface="Arial" pitchFamily="34" charset="0"/>
                <a:ea typeface="Arial" pitchFamily="34" charset="-122"/>
                <a:cs typeface="Arial" pitchFamily="34" charset="-120"/>
              </a:rPr>
              <a:t>14</a:t>
            </a:r>
            <a:endParaRPr lang="en-US" sz="3200" dirty="0"/>
          </a:p>
        </p:txBody>
      </p:sp>
      <p:sp>
        <p:nvSpPr>
          <p:cNvPr id="22" name="Text 20"/>
          <p:cNvSpPr/>
          <p:nvPr/>
        </p:nvSpPr>
        <p:spPr>
          <a:xfrm>
            <a:off x="6821424" y="1874520"/>
            <a:ext cx="1737360" cy="365760"/>
          </a:xfrm>
          <a:prstGeom prst="rect">
            <a:avLst/>
          </a:prstGeom>
          <a:noFill/>
          <a:ln/>
        </p:spPr>
        <p:txBody>
          <a:bodyPr wrap="square" lIns="0" tIns="0" rIns="0" bIns="0" rtlCol="0" anchor="ctr"/>
          <a:lstStyle/>
          <a:p>
            <a:pPr algn="ctr" indent="0" marL="0">
              <a:buNone/>
            </a:pPr>
            <a:r>
              <a:rPr lang="en-US" sz="1000" dirty="0">
                <a:solidFill>
                  <a:srgbClr val="6B7280"/>
                </a:solidFill>
                <a:latin typeface="Arial" pitchFamily="34" charset="0"/>
                <a:ea typeface="Arial" pitchFamily="34" charset="-122"/>
                <a:cs typeface="Arial" pitchFamily="34" charset="-120"/>
              </a:rPr>
              <a:t>days holdout for evaluation</a:t>
            </a:r>
            <a:endParaRPr lang="en-US" sz="1000" dirty="0"/>
          </a:p>
        </p:txBody>
      </p:sp>
      <p:sp>
        <p:nvSpPr>
          <p:cNvPr id="23" name="Text 21"/>
          <p:cNvSpPr/>
          <p:nvPr/>
        </p:nvSpPr>
        <p:spPr>
          <a:xfrm>
            <a:off x="640080" y="2514600"/>
            <a:ext cx="786384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Each series gets reindexed to a complete daily date range, zero-filled for missing days.</a:t>
            </a:r>
            <a:endParaRPr lang="en-US" sz="1200" dirty="0"/>
          </a:p>
        </p:txBody>
      </p:sp>
      <p:sp>
        <p:nvSpPr>
          <p:cNvPr id="24" name="Shape 22"/>
          <p:cNvSpPr/>
          <p:nvPr/>
        </p:nvSpPr>
        <p:spPr>
          <a:xfrm>
            <a:off x="640080" y="2880360"/>
            <a:ext cx="7863840" cy="1554480"/>
          </a:xfrm>
          <a:prstGeom prst="rect">
            <a:avLst/>
          </a:prstGeom>
          <a:solidFill>
            <a:srgbClr val="F3F4F6"/>
          </a:solidFill>
          <a:ln w="6350">
            <a:solidFill>
              <a:srgbClr val="D1D5DB"/>
            </a:solidFill>
            <a:prstDash val="solid"/>
          </a:ln>
        </p:spPr>
      </p:sp>
      <p:sp>
        <p:nvSpPr>
          <p:cNvPr id="25" name="Text 23"/>
          <p:cNvSpPr/>
          <p:nvPr/>
        </p:nvSpPr>
        <p:spPr>
          <a:xfrm>
            <a:off x="777240" y="2971800"/>
            <a:ext cx="7589520" cy="1371600"/>
          </a:xfrm>
          <a:prstGeom prst="rect">
            <a:avLst/>
          </a:prstGeom>
          <a:noFill/>
          <a:ln/>
        </p:spPr>
        <p:txBody>
          <a:bodyPr wrap="square" lIns="0" tIns="0" rIns="0" bIns="0" rtlCol="0" anchor="t"/>
          <a:lstStyle/>
          <a:p>
            <a:pPr indent="0" marL="0">
              <a:buNone/>
            </a:pPr>
            <a:r>
              <a:rPr lang="en-US" sz="1100" dirty="0">
                <a:solidFill>
                  <a:srgbClr val="374151"/>
                </a:solidFill>
                <a:latin typeface="Consolas" pitchFamily="34" charset="0"/>
                <a:ea typeface="Consolas" pitchFamily="34" charset="-122"/>
                <a:cs typeface="Consolas" pitchFamily="34" charset="-120"/>
              </a:rPr>
              <a:t>def make_series(daily, sku, branch):</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sub = daily[(daily.product_id == sku) &amp; (daily.branch_id == branch)][['d', 'units']]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sub = sub.set_index('d').sort_index()</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full_idx = pd.date_range(sub.index.min(), sub.index.max(), freq='D')</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return sub.reindex(full_idx, fill_value=0)['units']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2 — methods</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Three baselines worth knowing</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Always try the simple methods first.</a:t>
            </a:r>
            <a:endParaRPr lang="en-US" sz="1300" dirty="0"/>
          </a:p>
        </p:txBody>
      </p:sp>
      <p:sp>
        <p:nvSpPr>
          <p:cNvPr id="7" name="Shape 5"/>
          <p:cNvSpPr/>
          <p:nvPr/>
        </p:nvSpPr>
        <p:spPr>
          <a:xfrm>
            <a:off x="640080" y="1280160"/>
            <a:ext cx="2468880" cy="2926080"/>
          </a:xfrm>
          <a:prstGeom prst="rect">
            <a:avLst/>
          </a:prstGeom>
          <a:solidFill>
            <a:srgbClr val="F3F4F6"/>
          </a:solidFill>
          <a:ln w="6350">
            <a:solidFill>
              <a:srgbClr val="D1D5DB"/>
            </a:solidFill>
            <a:prstDash val="solid"/>
          </a:ln>
        </p:spPr>
      </p:sp>
      <p:sp>
        <p:nvSpPr>
          <p:cNvPr id="8" name="Shape 6"/>
          <p:cNvSpPr/>
          <p:nvPr/>
        </p:nvSpPr>
        <p:spPr>
          <a:xfrm>
            <a:off x="640080" y="1280160"/>
            <a:ext cx="2468880" cy="73152"/>
          </a:xfrm>
          <a:prstGeom prst="rect">
            <a:avLst/>
          </a:prstGeom>
          <a:solidFill>
            <a:srgbClr val="D97706"/>
          </a:solidFill>
          <a:ln/>
        </p:spPr>
      </p:sp>
      <p:sp>
        <p:nvSpPr>
          <p:cNvPr id="9" name="Text 7"/>
          <p:cNvSpPr/>
          <p:nvPr/>
        </p:nvSpPr>
        <p:spPr>
          <a:xfrm>
            <a:off x="777240" y="1417320"/>
            <a:ext cx="2194560" cy="365760"/>
          </a:xfrm>
          <a:prstGeom prst="rect">
            <a:avLst/>
          </a:prstGeom>
          <a:noFill/>
          <a:ln/>
        </p:spPr>
        <p:txBody>
          <a:bodyPr wrap="square" lIns="0" tIns="0" rIns="0" bIns="0" rtlCol="0" anchor="ctr"/>
          <a:lstStyle/>
          <a:p>
            <a:pPr indent="0" marL="0">
              <a:buNone/>
            </a:pPr>
            <a:r>
              <a:rPr lang="en-US" sz="1800" b="1" dirty="0">
                <a:solidFill>
                  <a:srgbClr val="1F2937"/>
                </a:solidFill>
                <a:latin typeface="Arial" pitchFamily="34" charset="0"/>
                <a:ea typeface="Arial" pitchFamily="34" charset="-122"/>
                <a:cs typeface="Arial" pitchFamily="34" charset="-120"/>
              </a:rPr>
              <a:t>Naive</a:t>
            </a:r>
            <a:endParaRPr lang="en-US" sz="1800" dirty="0"/>
          </a:p>
        </p:txBody>
      </p:sp>
      <p:sp>
        <p:nvSpPr>
          <p:cNvPr id="10" name="Text 8"/>
          <p:cNvSpPr/>
          <p:nvPr/>
        </p:nvSpPr>
        <p:spPr>
          <a:xfrm>
            <a:off x="777240" y="1783080"/>
            <a:ext cx="2194560" cy="365760"/>
          </a:xfrm>
          <a:prstGeom prst="rect">
            <a:avLst/>
          </a:prstGeom>
          <a:noFill/>
          <a:ln/>
        </p:spPr>
        <p:txBody>
          <a:bodyPr wrap="square" lIns="0" tIns="0" rIns="0" bIns="0" rtlCol="0" anchor="ctr"/>
          <a:lstStyle/>
          <a:p>
            <a:pPr indent="0" marL="0">
              <a:buNone/>
            </a:pPr>
            <a:r>
              <a:rPr lang="en-US" sz="1100" dirty="0">
                <a:solidFill>
                  <a:srgbClr val="D97706"/>
                </a:solidFill>
                <a:latin typeface="Consolas" pitchFamily="34" charset="0"/>
                <a:ea typeface="Consolas" pitchFamily="34" charset="-122"/>
                <a:cs typeface="Consolas" pitchFamily="34" charset="-120"/>
              </a:rPr>
              <a:t>y_hat = last value</a:t>
            </a:r>
            <a:endParaRPr lang="en-US" sz="1100" dirty="0"/>
          </a:p>
        </p:txBody>
      </p:sp>
      <p:sp>
        <p:nvSpPr>
          <p:cNvPr id="11" name="Text 9"/>
          <p:cNvSpPr/>
          <p:nvPr/>
        </p:nvSpPr>
        <p:spPr>
          <a:xfrm>
            <a:off x="777240" y="2194560"/>
            <a:ext cx="2194560" cy="1828800"/>
          </a:xfrm>
          <a:prstGeom prst="rect">
            <a:avLst/>
          </a:prstGeom>
          <a:noFill/>
          <a:ln/>
        </p:spPr>
        <p:txBody>
          <a:bodyPr wrap="square" lIns="0" tIns="0" rIns="0" bIns="0" rtlCol="0" anchor="t"/>
          <a:lstStyle/>
          <a:p>
            <a:pPr indent="0" marL="0">
              <a:buNone/>
            </a:pPr>
            <a:r>
              <a:rPr lang="en-US" sz="1100" dirty="0">
                <a:solidFill>
                  <a:srgbClr val="374151"/>
                </a:solidFill>
                <a:latin typeface="Arial" pitchFamily="34" charset="0"/>
                <a:ea typeface="Arial" pitchFamily="34" charset="-122"/>
                <a:cs typeface="Arial" pitchFamily="34" charset="-120"/>
              </a:rPr>
              <a:t>Predict tomorrow = today, forever. Useless? Almost. But it's the floor your fancy models must beat.</a:t>
            </a:r>
            <a:endParaRPr lang="en-US" sz="1100" dirty="0"/>
          </a:p>
        </p:txBody>
      </p:sp>
      <p:sp>
        <p:nvSpPr>
          <p:cNvPr id="12" name="Shape 10"/>
          <p:cNvSpPr/>
          <p:nvPr/>
        </p:nvSpPr>
        <p:spPr>
          <a:xfrm>
            <a:off x="3337560" y="1280160"/>
            <a:ext cx="2468880" cy="2926080"/>
          </a:xfrm>
          <a:prstGeom prst="rect">
            <a:avLst/>
          </a:prstGeom>
          <a:solidFill>
            <a:srgbClr val="F3F4F6"/>
          </a:solidFill>
          <a:ln w="6350">
            <a:solidFill>
              <a:srgbClr val="D1D5DB"/>
            </a:solidFill>
            <a:prstDash val="solid"/>
          </a:ln>
        </p:spPr>
      </p:sp>
      <p:sp>
        <p:nvSpPr>
          <p:cNvPr id="13" name="Shape 11"/>
          <p:cNvSpPr/>
          <p:nvPr/>
        </p:nvSpPr>
        <p:spPr>
          <a:xfrm>
            <a:off x="3337560" y="1280160"/>
            <a:ext cx="2468880" cy="73152"/>
          </a:xfrm>
          <a:prstGeom prst="rect">
            <a:avLst/>
          </a:prstGeom>
          <a:solidFill>
            <a:srgbClr val="0891B2"/>
          </a:solidFill>
          <a:ln/>
        </p:spPr>
      </p:sp>
      <p:sp>
        <p:nvSpPr>
          <p:cNvPr id="14" name="Text 12"/>
          <p:cNvSpPr/>
          <p:nvPr/>
        </p:nvSpPr>
        <p:spPr>
          <a:xfrm>
            <a:off x="3474720" y="1417320"/>
            <a:ext cx="2194560" cy="365760"/>
          </a:xfrm>
          <a:prstGeom prst="rect">
            <a:avLst/>
          </a:prstGeom>
          <a:noFill/>
          <a:ln/>
        </p:spPr>
        <p:txBody>
          <a:bodyPr wrap="square" lIns="0" tIns="0" rIns="0" bIns="0" rtlCol="0" anchor="ctr"/>
          <a:lstStyle/>
          <a:p>
            <a:pPr indent="0" marL="0">
              <a:buNone/>
            </a:pPr>
            <a:r>
              <a:rPr lang="en-US" sz="1800" b="1" dirty="0">
                <a:solidFill>
                  <a:srgbClr val="1F2937"/>
                </a:solidFill>
                <a:latin typeface="Arial" pitchFamily="34" charset="0"/>
                <a:ea typeface="Arial" pitchFamily="34" charset="-122"/>
                <a:cs typeface="Arial" pitchFamily="34" charset="-120"/>
              </a:rPr>
              <a:t>Seasonal Naive</a:t>
            </a:r>
            <a:endParaRPr lang="en-US" sz="1800" dirty="0"/>
          </a:p>
        </p:txBody>
      </p:sp>
      <p:sp>
        <p:nvSpPr>
          <p:cNvPr id="15" name="Text 13"/>
          <p:cNvSpPr/>
          <p:nvPr/>
        </p:nvSpPr>
        <p:spPr>
          <a:xfrm>
            <a:off x="3474720" y="1783080"/>
            <a:ext cx="2194560" cy="365760"/>
          </a:xfrm>
          <a:prstGeom prst="rect">
            <a:avLst/>
          </a:prstGeom>
          <a:noFill/>
          <a:ln/>
        </p:spPr>
        <p:txBody>
          <a:bodyPr wrap="square" lIns="0" tIns="0" rIns="0" bIns="0" rtlCol="0" anchor="ctr"/>
          <a:lstStyle/>
          <a:p>
            <a:pPr indent="0" marL="0">
              <a:buNone/>
            </a:pPr>
            <a:r>
              <a:rPr lang="en-US" sz="1100" dirty="0">
                <a:solidFill>
                  <a:srgbClr val="0891B2"/>
                </a:solidFill>
                <a:latin typeface="Consolas" pitchFamily="34" charset="0"/>
                <a:ea typeface="Consolas" pitchFamily="34" charset="-122"/>
                <a:cs typeface="Consolas" pitchFamily="34" charset="-120"/>
              </a:rPr>
              <a:t>y_hat[t+h] = y[t+h-7]</a:t>
            </a:r>
            <a:endParaRPr lang="en-US" sz="1100" dirty="0"/>
          </a:p>
        </p:txBody>
      </p:sp>
      <p:sp>
        <p:nvSpPr>
          <p:cNvPr id="16" name="Text 14"/>
          <p:cNvSpPr/>
          <p:nvPr/>
        </p:nvSpPr>
        <p:spPr>
          <a:xfrm>
            <a:off x="3474720" y="2194560"/>
            <a:ext cx="2194560" cy="1828800"/>
          </a:xfrm>
          <a:prstGeom prst="rect">
            <a:avLst/>
          </a:prstGeom>
          <a:noFill/>
          <a:ln/>
        </p:spPr>
        <p:txBody>
          <a:bodyPr wrap="square" lIns="0" tIns="0" rIns="0" bIns="0" rtlCol="0" anchor="t"/>
          <a:lstStyle/>
          <a:p>
            <a:pPr indent="0" marL="0">
              <a:buNone/>
            </a:pPr>
            <a:r>
              <a:rPr lang="en-US" sz="1100" dirty="0">
                <a:solidFill>
                  <a:srgbClr val="374151"/>
                </a:solidFill>
                <a:latin typeface="Arial" pitchFamily="34" charset="0"/>
                <a:ea typeface="Arial" pitchFamily="34" charset="-122"/>
                <a:cs typeface="Arial" pitchFamily="34" charset="-120"/>
              </a:rPr>
              <a:t>Predict same day-of-week from last week. Captures weekly seasonality — and surprisingly often wins.</a:t>
            </a:r>
            <a:endParaRPr lang="en-US" sz="1100" dirty="0"/>
          </a:p>
        </p:txBody>
      </p:sp>
      <p:sp>
        <p:nvSpPr>
          <p:cNvPr id="17" name="Shape 15"/>
          <p:cNvSpPr/>
          <p:nvPr/>
        </p:nvSpPr>
        <p:spPr>
          <a:xfrm>
            <a:off x="6035040" y="1280160"/>
            <a:ext cx="2468880" cy="2926080"/>
          </a:xfrm>
          <a:prstGeom prst="rect">
            <a:avLst/>
          </a:prstGeom>
          <a:solidFill>
            <a:srgbClr val="F3F4F6"/>
          </a:solidFill>
          <a:ln w="6350">
            <a:solidFill>
              <a:srgbClr val="D1D5DB"/>
            </a:solidFill>
            <a:prstDash val="solid"/>
          </a:ln>
        </p:spPr>
      </p:sp>
      <p:sp>
        <p:nvSpPr>
          <p:cNvPr id="18" name="Shape 16"/>
          <p:cNvSpPr/>
          <p:nvPr/>
        </p:nvSpPr>
        <p:spPr>
          <a:xfrm>
            <a:off x="6035040" y="1280160"/>
            <a:ext cx="2468880" cy="73152"/>
          </a:xfrm>
          <a:prstGeom prst="rect">
            <a:avLst/>
          </a:prstGeom>
          <a:solidFill>
            <a:srgbClr val="059669"/>
          </a:solidFill>
          <a:ln/>
        </p:spPr>
      </p:sp>
      <p:sp>
        <p:nvSpPr>
          <p:cNvPr id="19" name="Text 17"/>
          <p:cNvSpPr/>
          <p:nvPr/>
        </p:nvSpPr>
        <p:spPr>
          <a:xfrm>
            <a:off x="6172200" y="1417320"/>
            <a:ext cx="2194560" cy="365760"/>
          </a:xfrm>
          <a:prstGeom prst="rect">
            <a:avLst/>
          </a:prstGeom>
          <a:noFill/>
          <a:ln/>
        </p:spPr>
        <p:txBody>
          <a:bodyPr wrap="square" lIns="0" tIns="0" rIns="0" bIns="0" rtlCol="0" anchor="ctr"/>
          <a:lstStyle/>
          <a:p>
            <a:pPr indent="0" marL="0">
              <a:buNone/>
            </a:pPr>
            <a:r>
              <a:rPr lang="en-US" sz="1800" b="1" dirty="0">
                <a:solidFill>
                  <a:srgbClr val="1F2937"/>
                </a:solidFill>
                <a:latin typeface="Arial" pitchFamily="34" charset="0"/>
                <a:ea typeface="Arial" pitchFamily="34" charset="-122"/>
                <a:cs typeface="Arial" pitchFamily="34" charset="-120"/>
              </a:rPr>
              <a:t>Holt-Winters</a:t>
            </a:r>
            <a:endParaRPr lang="en-US" sz="1800" dirty="0"/>
          </a:p>
        </p:txBody>
      </p:sp>
      <p:sp>
        <p:nvSpPr>
          <p:cNvPr id="20" name="Text 18"/>
          <p:cNvSpPr/>
          <p:nvPr/>
        </p:nvSpPr>
        <p:spPr>
          <a:xfrm>
            <a:off x="6172200" y="1783080"/>
            <a:ext cx="2194560" cy="365760"/>
          </a:xfrm>
          <a:prstGeom prst="rect">
            <a:avLst/>
          </a:prstGeom>
          <a:noFill/>
          <a:ln/>
        </p:spPr>
        <p:txBody>
          <a:bodyPr wrap="square" lIns="0" tIns="0" rIns="0" bIns="0" rtlCol="0" anchor="ctr"/>
          <a:lstStyle/>
          <a:p>
            <a:pPr indent="0" marL="0">
              <a:buNone/>
            </a:pPr>
            <a:r>
              <a:rPr lang="en-US" sz="1100" dirty="0">
                <a:solidFill>
                  <a:srgbClr val="059669"/>
                </a:solidFill>
                <a:latin typeface="Consolas" pitchFamily="34" charset="0"/>
                <a:ea typeface="Consolas" pitchFamily="34" charset="-122"/>
                <a:cs typeface="Consolas" pitchFamily="34" charset="-120"/>
              </a:rPr>
              <a:t>trend + weekly seasonality, exponentially smoothed</a:t>
            </a:r>
            <a:endParaRPr lang="en-US" sz="1100" dirty="0"/>
          </a:p>
        </p:txBody>
      </p:sp>
      <p:sp>
        <p:nvSpPr>
          <p:cNvPr id="21" name="Text 19"/>
          <p:cNvSpPr/>
          <p:nvPr/>
        </p:nvSpPr>
        <p:spPr>
          <a:xfrm>
            <a:off x="6172200" y="2194560"/>
            <a:ext cx="2194560" cy="1828800"/>
          </a:xfrm>
          <a:prstGeom prst="rect">
            <a:avLst/>
          </a:prstGeom>
          <a:noFill/>
          <a:ln/>
        </p:spPr>
        <p:txBody>
          <a:bodyPr wrap="square" lIns="0" tIns="0" rIns="0" bIns="0" rtlCol="0" anchor="t"/>
          <a:lstStyle/>
          <a:p>
            <a:pPr indent="0" marL="0">
              <a:buNone/>
            </a:pPr>
            <a:r>
              <a:rPr lang="en-US" sz="1100" dirty="0">
                <a:solidFill>
                  <a:srgbClr val="374151"/>
                </a:solidFill>
                <a:latin typeface="Arial" pitchFamily="34" charset="0"/>
                <a:ea typeface="Arial" pitchFamily="34" charset="-122"/>
                <a:cs typeface="Arial" pitchFamily="34" charset="-120"/>
              </a:rPr>
              <a:t>Adds level + trend + seasonal components. Earns its keep when SKUs have real upward/downward trends.</a:t>
            </a:r>
            <a:endParaRPr lang="en-US" sz="1100" dirty="0"/>
          </a:p>
        </p:txBody>
      </p:sp>
      <p:sp>
        <p:nvSpPr>
          <p:cNvPr id="22" name="Shape 20"/>
          <p:cNvSpPr/>
          <p:nvPr/>
        </p:nvSpPr>
        <p:spPr>
          <a:xfrm>
            <a:off x="640080" y="4343400"/>
            <a:ext cx="7863840" cy="365760"/>
          </a:xfrm>
          <a:prstGeom prst="rect">
            <a:avLst/>
          </a:prstGeom>
          <a:solidFill>
            <a:srgbClr val="E0F7FA"/>
          </a:solidFill>
          <a:ln w="12700">
            <a:solidFill>
              <a:srgbClr val="0891B2"/>
            </a:solidFill>
            <a:prstDash val="solid"/>
          </a:ln>
        </p:spPr>
      </p:sp>
      <p:sp>
        <p:nvSpPr>
          <p:cNvPr id="23" name="Text 21"/>
          <p:cNvSpPr/>
          <p:nvPr/>
        </p:nvSpPr>
        <p:spPr>
          <a:xfrm>
            <a:off x="822960" y="4434840"/>
            <a:ext cx="7498080" cy="18288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RMSE is sensitive to large errors. If your business cares about steady misses, switch to MAE. The metric is a business choice, not a default.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2 — evaluation</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Loop, evaluate, pick the winner per series</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60 series × 3 methods = 180 evaluations. Best method varies by SKU.</a:t>
            </a:r>
            <a:endParaRPr lang="en-US" sz="1300" dirty="0"/>
          </a:p>
        </p:txBody>
      </p:sp>
      <p:sp>
        <p:nvSpPr>
          <p:cNvPr id="7" name="Shape 5"/>
          <p:cNvSpPr/>
          <p:nvPr/>
        </p:nvSpPr>
        <p:spPr>
          <a:xfrm>
            <a:off x="640080" y="1188720"/>
            <a:ext cx="7863840" cy="2377440"/>
          </a:xfrm>
          <a:prstGeom prst="rect">
            <a:avLst/>
          </a:prstGeom>
          <a:solidFill>
            <a:srgbClr val="F3F4F6"/>
          </a:solidFill>
          <a:ln w="6350">
            <a:solidFill>
              <a:srgbClr val="D1D5DB"/>
            </a:solidFill>
            <a:prstDash val="solid"/>
          </a:ln>
        </p:spPr>
      </p:sp>
      <p:sp>
        <p:nvSpPr>
          <p:cNvPr id="8" name="Text 6"/>
          <p:cNvSpPr/>
          <p:nvPr/>
        </p:nvSpPr>
        <p:spPr>
          <a:xfrm>
            <a:off x="777240" y="1280160"/>
            <a:ext cx="7589520" cy="2194560"/>
          </a:xfrm>
          <a:prstGeom prst="rect">
            <a:avLst/>
          </a:prstGeom>
          <a:noFill/>
          <a:ln/>
        </p:spPr>
        <p:txBody>
          <a:bodyPr wrap="square" lIns="0" tIns="0" rIns="0" bIns="0" rtlCol="0" anchor="t"/>
          <a:lstStyle/>
          <a:p>
            <a:pPr indent="0" marL="0">
              <a:buNone/>
            </a:pPr>
            <a:r>
              <a:rPr lang="en-US" sz="1100" dirty="0">
                <a:solidFill>
                  <a:srgbClr val="374151"/>
                </a:solidFill>
                <a:latin typeface="Consolas" pitchFamily="34" charset="0"/>
                <a:ea typeface="Consolas" pitchFamily="34" charset="-122"/>
                <a:cs typeface="Consolas" pitchFamily="34" charset="-120"/>
              </a:rPr>
              <a:t>for sku in target_skus: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for br in target_branches: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s = make_series(daily, sku, br)</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train, test = s[:-14], s[-14:]</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for method, fn in {"naive": forecast_naive,</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"seasonal_naive": forecast_seasonal_naive,</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"holt_winters": forecast_holt_winters}.items():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pred = fn(train, 14)</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records.append({"sku": sku, "branch": br, "method": method,</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"rmse": rmse(test, pred)})</a:t>
            </a:r>
            <a:endParaRPr lang="en-US" sz="1100" dirty="0"/>
          </a:p>
        </p:txBody>
      </p:sp>
      <p:sp>
        <p:nvSpPr>
          <p:cNvPr id="9" name="Text 7"/>
          <p:cNvSpPr/>
          <p:nvPr/>
        </p:nvSpPr>
        <p:spPr>
          <a:xfrm>
            <a:off x="640080" y="3703320"/>
            <a:ext cx="7863840" cy="274320"/>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What to look for in the results:</a:t>
            </a:r>
            <a:endParaRPr lang="en-US" sz="1300" dirty="0"/>
          </a:p>
        </p:txBody>
      </p:sp>
      <p:sp>
        <p:nvSpPr>
          <p:cNvPr id="10" name="Text 8"/>
          <p:cNvSpPr/>
          <p:nvPr/>
        </p:nvSpPr>
        <p:spPr>
          <a:xfrm>
            <a:off x="640080" y="4023360"/>
            <a:ext cx="7863840" cy="822960"/>
          </a:xfrm>
          <a:prstGeom prst="rect">
            <a:avLst/>
          </a:prstGeom>
          <a:noFill/>
          <a:ln/>
        </p:spPr>
        <p:txBody>
          <a:bodyPr wrap="square" lIns="0" tIns="0" rIns="0" bIns="0" rtlCol="0" anchor="t"/>
          <a:lstStyle/>
          <a:p>
            <a:pPr indent="0" marL="0">
              <a:buNone/>
            </a:pPr>
            <a:r>
              <a:rPr lang="en-US" sz="1100" b="1" dirty="0">
                <a:solidFill>
                  <a:srgbClr val="0891B2"/>
                </a:solidFill>
                <a:latin typeface="Arial" pitchFamily="34" charset="0"/>
                <a:ea typeface="Arial" pitchFamily="34" charset="-122"/>
                <a:cs typeface="Arial" pitchFamily="34" charset="-120"/>
              </a:rPr>
              <a:t>•  </a:t>
            </a:r>
            <a:pPr indent="0" marL="0">
              <a:buNone/>
            </a:pPr>
            <a:r>
              <a:rPr lang="en-US" sz="1100" dirty="0">
                <a:solidFill>
                  <a:srgbClr val="374151"/>
                </a:solidFill>
                <a:latin typeface="Arial" pitchFamily="34" charset="0"/>
                <a:ea typeface="Arial" pitchFamily="34" charset="-122"/>
                <a:cs typeface="Arial" pitchFamily="34" charset="-120"/>
              </a:rPr>
              <a:t>Seasonal naive often wins on small SKUs (low volume = noise dominates).
</a:t>
            </a:r>
            <a:pPr indent="0" marL="0">
              <a:buNone/>
            </a:pPr>
            <a:r>
              <a:rPr lang="en-US" sz="1100" b="1" dirty="0">
                <a:solidFill>
                  <a:srgbClr val="0891B2"/>
                </a:solidFill>
                <a:latin typeface="Arial" pitchFamily="34" charset="0"/>
                <a:ea typeface="Arial" pitchFamily="34" charset="-122"/>
                <a:cs typeface="Arial" pitchFamily="34" charset="-120"/>
              </a:rPr>
              <a:t>•  </a:t>
            </a:r>
            <a:pPr indent="0" marL="0">
              <a:buNone/>
            </a:pPr>
            <a:r>
              <a:rPr lang="en-US" sz="1100" dirty="0">
                <a:solidFill>
                  <a:srgbClr val="374151"/>
                </a:solidFill>
                <a:latin typeface="Arial" pitchFamily="34" charset="0"/>
                <a:ea typeface="Arial" pitchFamily="34" charset="-122"/>
                <a:cs typeface="Arial" pitchFamily="34" charset="-120"/>
              </a:rPr>
              <a:t>Holt-Winters wins on high-volume SKUs with clear trend (e.g., Latte at Asoke).
</a:t>
            </a:r>
            <a:pPr indent="0" marL="0">
              <a:buNone/>
            </a:pPr>
            <a:r>
              <a:rPr lang="en-US" sz="1100" b="1" dirty="0">
                <a:solidFill>
                  <a:srgbClr val="0891B2"/>
                </a:solidFill>
                <a:latin typeface="Arial" pitchFamily="34" charset="0"/>
                <a:ea typeface="Arial" pitchFamily="34" charset="-122"/>
                <a:cs typeface="Arial" pitchFamily="34" charset="-120"/>
              </a:rPr>
              <a:t>•  </a:t>
            </a:r>
            <a:pPr indent="0" marL="0">
              <a:buNone/>
            </a:pPr>
            <a:r>
              <a:rPr lang="en-US" sz="1100" dirty="0">
                <a:solidFill>
                  <a:srgbClr val="374151"/>
                </a:solidFill>
                <a:latin typeface="Arial" pitchFamily="34" charset="0"/>
                <a:ea typeface="Arial" pitchFamily="34" charset="-122"/>
                <a:cs typeface="Arial" pitchFamily="34" charset="-120"/>
              </a:rPr>
              <a:t>The heatmap of best-method RMSE is the operational artifact.
</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1188720"/>
            <a:ext cx="2286000" cy="1280160"/>
          </a:xfrm>
          <a:prstGeom prst="rect">
            <a:avLst/>
          </a:prstGeom>
          <a:noFill/>
          <a:ln/>
        </p:spPr>
        <p:txBody>
          <a:bodyPr wrap="square" lIns="0" tIns="0" rIns="0" bIns="0" rtlCol="0" anchor="ctr"/>
          <a:lstStyle/>
          <a:p>
            <a:pPr indent="0" marL="0">
              <a:buNone/>
            </a:pPr>
            <a:r>
              <a:rPr lang="en-US" sz="8000" b="1" dirty="0">
                <a:solidFill>
                  <a:srgbClr val="0891B2"/>
                </a:solidFill>
                <a:latin typeface="Arial" pitchFamily="34" charset="0"/>
                <a:ea typeface="Arial" pitchFamily="34" charset="-122"/>
                <a:cs typeface="Arial" pitchFamily="34" charset="-120"/>
              </a:rPr>
              <a:t>03</a:t>
            </a:r>
            <a:endParaRPr lang="en-US" sz="8000" dirty="0"/>
          </a:p>
        </p:txBody>
      </p:sp>
      <p:sp>
        <p:nvSpPr>
          <p:cNvPr id="4" name="Shape 2"/>
          <p:cNvSpPr/>
          <p:nvPr/>
        </p:nvSpPr>
        <p:spPr>
          <a:xfrm>
            <a:off x="640080" y="2606040"/>
            <a:ext cx="3200400" cy="0"/>
          </a:xfrm>
          <a:prstGeom prst="line">
            <a:avLst/>
          </a:prstGeom>
          <a:noFill/>
          <a:ln w="31750">
            <a:solidFill>
              <a:srgbClr val="0891B2"/>
            </a:solidFill>
            <a:prstDash val="solid"/>
          </a:ln>
        </p:spPr>
      </p:sp>
      <p:sp>
        <p:nvSpPr>
          <p:cNvPr id="5" name="Text 3"/>
          <p:cNvSpPr/>
          <p:nvPr/>
        </p:nvSpPr>
        <p:spPr>
          <a:xfrm>
            <a:off x="640080" y="2788920"/>
            <a:ext cx="786384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Predict</a:t>
            </a:r>
            <a:endParaRPr lang="en-US" sz="3600" dirty="0"/>
          </a:p>
        </p:txBody>
      </p:sp>
      <p:sp>
        <p:nvSpPr>
          <p:cNvPr id="6" name="Text 4"/>
          <p:cNvSpPr/>
          <p:nvPr/>
        </p:nvSpPr>
        <p:spPr>
          <a:xfrm>
            <a:off x="640080" y="3520440"/>
            <a:ext cx="786384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Who will respond to the comeback voucher?</a:t>
            </a:r>
            <a:endParaRPr lang="en-US" sz="1600" dirty="0"/>
          </a:p>
        </p:txBody>
      </p:sp>
      <p:sp>
        <p:nvSpPr>
          <p:cNvPr id="7" name="Text 5"/>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3 — imbalance</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11% positive class</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Imbalanced enough to matter. Not so imbalanced that nothing trains.</a:t>
            </a:r>
            <a:endParaRPr lang="en-US" sz="1300" dirty="0"/>
          </a:p>
        </p:txBody>
      </p:sp>
      <p:sp>
        <p:nvSpPr>
          <p:cNvPr id="7" name="Text 5"/>
          <p:cNvSpPr/>
          <p:nvPr/>
        </p:nvSpPr>
        <p:spPr>
          <a:xfrm>
            <a:off x="640080" y="1188720"/>
            <a:ext cx="3657600" cy="1371600"/>
          </a:xfrm>
          <a:prstGeom prst="rect">
            <a:avLst/>
          </a:prstGeom>
          <a:noFill/>
          <a:ln/>
        </p:spPr>
        <p:txBody>
          <a:bodyPr wrap="square" lIns="0" tIns="0" rIns="0" bIns="0" rtlCol="0" anchor="ctr"/>
          <a:lstStyle/>
          <a:p>
            <a:pPr algn="ctr" indent="0" marL="0">
              <a:buNone/>
            </a:pPr>
            <a:r>
              <a:rPr lang="en-US" sz="10000" b="1" dirty="0">
                <a:solidFill>
                  <a:srgbClr val="0891B2"/>
                </a:solidFill>
                <a:latin typeface="Arial" pitchFamily="34" charset="0"/>
                <a:ea typeface="Arial" pitchFamily="34" charset="-122"/>
                <a:cs typeface="Arial" pitchFamily="34" charset="-120"/>
              </a:rPr>
              <a:t>11%</a:t>
            </a:r>
            <a:endParaRPr lang="en-US" sz="10000" dirty="0"/>
          </a:p>
        </p:txBody>
      </p:sp>
      <p:sp>
        <p:nvSpPr>
          <p:cNvPr id="8" name="Text 6"/>
          <p:cNvSpPr/>
          <p:nvPr/>
        </p:nvSpPr>
        <p:spPr>
          <a:xfrm>
            <a:off x="640080" y="2606040"/>
            <a:ext cx="3657600" cy="365760"/>
          </a:xfrm>
          <a:prstGeom prst="rect">
            <a:avLst/>
          </a:prstGeom>
          <a:noFill/>
          <a:ln/>
        </p:spPr>
        <p:txBody>
          <a:bodyPr wrap="square" lIns="0" tIns="0" rIns="0" bIns="0" rtlCol="0" anchor="ctr"/>
          <a:lstStyle/>
          <a:p>
            <a:pPr algn="ctr" indent="0" marL="0">
              <a:buNone/>
            </a:pPr>
            <a:r>
              <a:rPr lang="en-US" sz="1400" dirty="0">
                <a:solidFill>
                  <a:srgbClr val="6B7280"/>
                </a:solidFill>
                <a:latin typeface="Arial" pitchFamily="34" charset="0"/>
                <a:ea typeface="Arial" pitchFamily="34" charset="-122"/>
                <a:cs typeface="Arial" pitchFamily="34" charset="-120"/>
              </a:rPr>
              <a:t>of lapsed members responded</a:t>
            </a:r>
            <a:endParaRPr lang="en-US" sz="1400" dirty="0"/>
          </a:p>
        </p:txBody>
      </p:sp>
      <p:sp>
        <p:nvSpPr>
          <p:cNvPr id="9" name="Text 7"/>
          <p:cNvSpPr/>
          <p:nvPr/>
        </p:nvSpPr>
        <p:spPr>
          <a:xfrm>
            <a:off x="4572000" y="1188720"/>
            <a:ext cx="3931920" cy="36576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Why the imbalance matters</a:t>
            </a:r>
            <a:endParaRPr lang="en-US" sz="1600" dirty="0"/>
          </a:p>
        </p:txBody>
      </p:sp>
      <p:sp>
        <p:nvSpPr>
          <p:cNvPr id="10" name="Text 8"/>
          <p:cNvSpPr/>
          <p:nvPr/>
        </p:nvSpPr>
        <p:spPr>
          <a:xfrm>
            <a:off x="4572000" y="1554480"/>
            <a:ext cx="3931920" cy="2468880"/>
          </a:xfrm>
          <a:prstGeom prst="rect">
            <a:avLst/>
          </a:prstGeom>
          <a:noFill/>
          <a:ln/>
        </p:spPr>
        <p:txBody>
          <a:bodyPr wrap="square" lIns="0" tIns="0" rIns="0" bIns="0" rtlCol="0" anchor="t"/>
          <a:lstStyle/>
          <a:p>
            <a:pPr indent="0" marL="0">
              <a:buNone/>
            </a:pPr>
            <a:r>
              <a:rPr lang="en-US" sz="1200" dirty="0">
                <a:solidFill>
                  <a:srgbClr val="374151"/>
                </a:solidFill>
                <a:latin typeface="Arial" pitchFamily="34" charset="0"/>
                <a:ea typeface="Arial" pitchFamily="34" charset="-122"/>
                <a:cs typeface="Arial" pitchFamily="34" charset="-120"/>
              </a:rPr>
              <a:t>Accuracy is useless: predict 'no' always = 89% accurate.
</a:t>
            </a:r>
            <a:pPr indent="0" marL="0">
              <a:buNone/>
            </a:pPr>
            <a:r>
              <a:rPr lang="en-US" sz="1200" dirty="0">
                <a:solidFill>
                  <a:srgbClr val="000000"/>
                </a:solidFill>
                <a:latin typeface="Arial" pitchFamily="34" charset="0"/>
                <a:ea typeface="Arial" pitchFamily="34" charset="-122"/>
                <a:cs typeface="Arial" pitchFamily="34" charset="-120"/>
              </a:rPr>
              <a:t>
</a:t>
            </a:r>
            <a:pPr indent="0" marL="0">
              <a:buNone/>
            </a:pPr>
            <a:r>
              <a:rPr lang="en-US" sz="1200" dirty="0">
                <a:solidFill>
                  <a:srgbClr val="374151"/>
                </a:solidFill>
                <a:latin typeface="Arial" pitchFamily="34" charset="0"/>
                <a:ea typeface="Arial" pitchFamily="34" charset="-122"/>
                <a:cs typeface="Arial" pitchFamily="34" charset="-120"/>
              </a:rPr>
              <a:t>We need to maximize </a:t>
            </a:r>
            <a:pPr indent="0" marL="0">
              <a:buNone/>
            </a:pPr>
            <a:r>
              <a:rPr lang="en-US" sz="1200" b="1" dirty="0">
                <a:solidFill>
                  <a:srgbClr val="374151"/>
                </a:solidFill>
                <a:latin typeface="Arial" pitchFamily="34" charset="0"/>
                <a:ea typeface="Arial" pitchFamily="34" charset="-122"/>
                <a:cs typeface="Arial" pitchFamily="34" charset="-120"/>
              </a:rPr>
              <a:t>recall on the positive class</a:t>
            </a:r>
            <a:pPr indent="0" marL="0">
              <a:buNone/>
            </a:pPr>
            <a:r>
              <a:rPr lang="en-US" sz="1200" dirty="0">
                <a:solidFill>
                  <a:srgbClr val="374151"/>
                </a:solidFill>
                <a:latin typeface="Arial" pitchFamily="34" charset="0"/>
                <a:ea typeface="Arial" pitchFamily="34" charset="-122"/>
                <a:cs typeface="Arial" pitchFamily="34" charset="-120"/>
              </a:rPr>
              <a:t> without losing too much precision.
</a:t>
            </a:r>
            <a:pPr indent="0" marL="0">
              <a:buNone/>
            </a:pPr>
            <a:r>
              <a:rPr lang="en-US" sz="1200" dirty="0">
                <a:solidFill>
                  <a:srgbClr val="000000"/>
                </a:solidFill>
                <a:latin typeface="Arial" pitchFamily="34" charset="0"/>
                <a:ea typeface="Arial" pitchFamily="34" charset="-122"/>
                <a:cs typeface="Arial" pitchFamily="34" charset="-120"/>
              </a:rPr>
              <a:t>
</a:t>
            </a:r>
            <a:pPr indent="0" marL="0">
              <a:buNone/>
            </a:pPr>
            <a:r>
              <a:rPr lang="en-US" sz="1200" b="1" dirty="0">
                <a:solidFill>
                  <a:srgbClr val="374151"/>
                </a:solidFill>
                <a:latin typeface="Arial" pitchFamily="34" charset="0"/>
                <a:ea typeface="Arial" pitchFamily="34" charset="-122"/>
                <a:cs typeface="Arial" pitchFamily="34" charset="-120"/>
              </a:rPr>
              <a:t>Two paths:
</a:t>
            </a:r>
            <a:pPr indent="0" marL="0">
              <a:buNone/>
            </a:pPr>
            <a:r>
              <a:rPr lang="en-US" sz="1100" dirty="0">
                <a:solidFill>
                  <a:srgbClr val="374151"/>
                </a:solidFill>
                <a:latin typeface="Arial" pitchFamily="34" charset="0"/>
                <a:ea typeface="Arial" pitchFamily="34" charset="-122"/>
                <a:cs typeface="Arial" pitchFamily="34" charset="-120"/>
              </a:rPr>
              <a:t>  •  Resample the training data (under, over, SMOTE)
</a:t>
            </a:r>
            <a:pPr indent="0" marL="0">
              <a:buNone/>
            </a:pPr>
            <a:r>
              <a:rPr lang="en-US" sz="1100" dirty="0">
                <a:solidFill>
                  <a:srgbClr val="374151"/>
                </a:solidFill>
                <a:latin typeface="Arial" pitchFamily="34" charset="0"/>
                <a:ea typeface="Arial" pitchFamily="34" charset="-122"/>
                <a:cs typeface="Arial" pitchFamily="34" charset="-120"/>
              </a:rPr>
              <a:t>  •  Use class-aware models that handle imbalance internally
</a:t>
            </a:r>
            <a:endParaRPr lang="en-US" sz="1200" dirty="0"/>
          </a:p>
        </p:txBody>
      </p:sp>
      <p:sp>
        <p:nvSpPr>
          <p:cNvPr id="11" name="Shape 9"/>
          <p:cNvSpPr/>
          <p:nvPr/>
        </p:nvSpPr>
        <p:spPr>
          <a:xfrm>
            <a:off x="640080" y="4297680"/>
            <a:ext cx="7863840" cy="411480"/>
          </a:xfrm>
          <a:prstGeom prst="rect">
            <a:avLst/>
          </a:prstGeom>
          <a:solidFill>
            <a:srgbClr val="FEF3C7"/>
          </a:solidFill>
          <a:ln w="12700">
            <a:solidFill>
              <a:srgbClr val="D97706"/>
            </a:solidFill>
            <a:prstDash val="solid"/>
          </a:ln>
        </p:spPr>
      </p:sp>
      <p:sp>
        <p:nvSpPr>
          <p:cNvPr id="12" name="Text 10"/>
          <p:cNvSpPr/>
          <p:nvPr/>
        </p:nvSpPr>
        <p:spPr>
          <a:xfrm>
            <a:off x="822960" y="4389120"/>
            <a:ext cx="7498080" cy="22860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Sampling is applied to TRAINING data only. Validation and test sets keep the original class balance — that's the population we'll deploy against.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3 — the grid</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4 sampling × 5 algorithms = 20 combinations</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One loop function. One uniform metric table.</a:t>
            </a:r>
            <a:endParaRPr lang="en-US" sz="1300" dirty="0"/>
          </a:p>
        </p:txBody>
      </p:sp>
      <p:sp>
        <p:nvSpPr>
          <p:cNvPr id="7" name="Text 5"/>
          <p:cNvSpPr/>
          <p:nvPr/>
        </p:nvSpPr>
        <p:spPr>
          <a:xfrm>
            <a:off x="640080" y="1280160"/>
            <a:ext cx="320040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Samplers</a:t>
            </a:r>
            <a:endParaRPr lang="en-US" sz="1400" dirty="0"/>
          </a:p>
        </p:txBody>
      </p:sp>
      <p:sp>
        <p:nvSpPr>
          <p:cNvPr id="8" name="Text 6"/>
          <p:cNvSpPr/>
          <p:nvPr/>
        </p:nvSpPr>
        <p:spPr>
          <a:xfrm>
            <a:off x="777240" y="1645920"/>
            <a:ext cx="310896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none  (baseline)</a:t>
            </a:r>
            <a:endParaRPr lang="en-US" sz="1200" dirty="0"/>
          </a:p>
        </p:txBody>
      </p:sp>
      <p:sp>
        <p:nvSpPr>
          <p:cNvPr id="9" name="Text 7"/>
          <p:cNvSpPr/>
          <p:nvPr/>
        </p:nvSpPr>
        <p:spPr>
          <a:xfrm>
            <a:off x="777240" y="1938528"/>
            <a:ext cx="310896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RandomUnderSampler</a:t>
            </a:r>
            <a:endParaRPr lang="en-US" sz="1200" dirty="0"/>
          </a:p>
        </p:txBody>
      </p:sp>
      <p:sp>
        <p:nvSpPr>
          <p:cNvPr id="10" name="Text 8"/>
          <p:cNvSpPr/>
          <p:nvPr/>
        </p:nvSpPr>
        <p:spPr>
          <a:xfrm>
            <a:off x="777240" y="2231136"/>
            <a:ext cx="310896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RandomOverSampler</a:t>
            </a:r>
            <a:endParaRPr lang="en-US" sz="1200" dirty="0"/>
          </a:p>
        </p:txBody>
      </p:sp>
      <p:sp>
        <p:nvSpPr>
          <p:cNvPr id="11" name="Text 9"/>
          <p:cNvSpPr/>
          <p:nvPr/>
        </p:nvSpPr>
        <p:spPr>
          <a:xfrm>
            <a:off x="777240" y="2523744"/>
            <a:ext cx="310896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SMOTE</a:t>
            </a:r>
            <a:endParaRPr lang="en-US" sz="1200" dirty="0"/>
          </a:p>
        </p:txBody>
      </p:sp>
      <p:sp>
        <p:nvSpPr>
          <p:cNvPr id="12" name="Text 10"/>
          <p:cNvSpPr/>
          <p:nvPr/>
        </p:nvSpPr>
        <p:spPr>
          <a:xfrm>
            <a:off x="4572000" y="1280160"/>
            <a:ext cx="393192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Algorithms</a:t>
            </a:r>
            <a:endParaRPr lang="en-US" sz="1400" dirty="0"/>
          </a:p>
        </p:txBody>
      </p:sp>
      <p:sp>
        <p:nvSpPr>
          <p:cNvPr id="13" name="Text 11"/>
          <p:cNvSpPr/>
          <p:nvPr/>
        </p:nvSpPr>
        <p:spPr>
          <a:xfrm>
            <a:off x="4709160" y="1645920"/>
            <a:ext cx="374904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DecisionTreeClassifier</a:t>
            </a:r>
            <a:endParaRPr lang="en-US" sz="1200" dirty="0"/>
          </a:p>
        </p:txBody>
      </p:sp>
      <p:sp>
        <p:nvSpPr>
          <p:cNvPr id="14" name="Text 12"/>
          <p:cNvSpPr/>
          <p:nvPr/>
        </p:nvSpPr>
        <p:spPr>
          <a:xfrm>
            <a:off x="4709160" y="1938528"/>
            <a:ext cx="374904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LogisticRegression</a:t>
            </a:r>
            <a:endParaRPr lang="en-US" sz="1200" dirty="0"/>
          </a:p>
        </p:txBody>
      </p:sp>
      <p:sp>
        <p:nvSpPr>
          <p:cNvPr id="15" name="Text 13"/>
          <p:cNvSpPr/>
          <p:nvPr/>
        </p:nvSpPr>
        <p:spPr>
          <a:xfrm>
            <a:off x="4709160" y="2231136"/>
            <a:ext cx="374904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SVC (RBF kernel)</a:t>
            </a:r>
            <a:endParaRPr lang="en-US" sz="1200" dirty="0"/>
          </a:p>
        </p:txBody>
      </p:sp>
      <p:sp>
        <p:nvSpPr>
          <p:cNvPr id="16" name="Text 14"/>
          <p:cNvSpPr/>
          <p:nvPr/>
        </p:nvSpPr>
        <p:spPr>
          <a:xfrm>
            <a:off x="4709160" y="2523744"/>
            <a:ext cx="374904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RandomForestClassifier</a:t>
            </a:r>
            <a:endParaRPr lang="en-US" sz="1200" dirty="0"/>
          </a:p>
        </p:txBody>
      </p:sp>
      <p:sp>
        <p:nvSpPr>
          <p:cNvPr id="17" name="Text 15"/>
          <p:cNvSpPr/>
          <p:nvPr/>
        </p:nvSpPr>
        <p:spPr>
          <a:xfrm>
            <a:off x="4709160" y="2816352"/>
            <a:ext cx="3749040" cy="27432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  XGBClassifier</a:t>
            </a:r>
            <a:endParaRPr lang="en-US" sz="1200" dirty="0"/>
          </a:p>
        </p:txBody>
      </p:sp>
      <p:sp>
        <p:nvSpPr>
          <p:cNvPr id="18" name="Shape 16"/>
          <p:cNvSpPr/>
          <p:nvPr/>
        </p:nvSpPr>
        <p:spPr>
          <a:xfrm>
            <a:off x="640080" y="3291840"/>
            <a:ext cx="7863840" cy="1280160"/>
          </a:xfrm>
          <a:prstGeom prst="rect">
            <a:avLst/>
          </a:prstGeom>
          <a:solidFill>
            <a:srgbClr val="F3F4F6"/>
          </a:solidFill>
          <a:ln w="6350">
            <a:solidFill>
              <a:srgbClr val="D1D5DB"/>
            </a:solidFill>
            <a:prstDash val="solid"/>
          </a:ln>
        </p:spPr>
      </p:sp>
      <p:sp>
        <p:nvSpPr>
          <p:cNvPr id="19" name="Text 17"/>
          <p:cNvSpPr/>
          <p:nvPr/>
        </p:nvSpPr>
        <p:spPr>
          <a:xfrm>
            <a:off x="777240" y="3383280"/>
            <a:ext cx="7589520" cy="1097280"/>
          </a:xfrm>
          <a:prstGeom prst="rect">
            <a:avLst/>
          </a:prstGeom>
          <a:noFill/>
          <a:ln/>
        </p:spPr>
        <p:txBody>
          <a:bodyPr wrap="square" lIns="0" tIns="0" rIns="0" bIns="0" rtlCol="0" anchor="t"/>
          <a:lstStyle/>
          <a:p>
            <a:pPr indent="0" marL="0">
              <a:buNone/>
            </a:pPr>
            <a:r>
              <a:rPr lang="en-US" sz="1100" dirty="0">
                <a:solidFill>
                  <a:srgbClr val="374151"/>
                </a:solidFill>
                <a:latin typeface="Consolas" pitchFamily="34" charset="0"/>
                <a:ea typeface="Consolas" pitchFamily="34" charset="-122"/>
                <a:cs typeface="Consolas" pitchFamily="34" charset="-120"/>
              </a:rPr>
              <a:t>for s_name, sampler in SAMPLERS.items():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Xtr_s, ytr_s = sampler.fit_resample(Xtr, ytr) if sampler else (Xtr, ytr)</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for a_name, make_alg in ALGORITHMS.items():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model = make_alg().fit(Xtr_s, ytr_s)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rows.append({**evaluate(model, Xv, yv), "sampling": s_name, "algorithm": a_name})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3 — split</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Train / Validation / Test  —  60 / 20 / 20</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Tune on validation. Lock the winner. Touch the test set once.</a:t>
            </a:r>
            <a:endParaRPr lang="en-US" sz="1300" dirty="0"/>
          </a:p>
        </p:txBody>
      </p:sp>
      <p:sp>
        <p:nvSpPr>
          <p:cNvPr id="7" name="Shape 5"/>
          <p:cNvSpPr/>
          <p:nvPr/>
        </p:nvSpPr>
        <p:spPr>
          <a:xfrm>
            <a:off x="1097280" y="1371600"/>
            <a:ext cx="4114800" cy="640080"/>
          </a:xfrm>
          <a:prstGeom prst="rect">
            <a:avLst/>
          </a:prstGeom>
          <a:solidFill>
            <a:srgbClr val="0891B2"/>
          </a:solidFill>
          <a:ln/>
        </p:spPr>
      </p:sp>
      <p:sp>
        <p:nvSpPr>
          <p:cNvPr id="8" name="Text 6"/>
          <p:cNvSpPr/>
          <p:nvPr/>
        </p:nvSpPr>
        <p:spPr>
          <a:xfrm>
            <a:off x="1097280" y="1371600"/>
            <a:ext cx="41148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Train (60%)</a:t>
            </a:r>
            <a:endParaRPr lang="en-US" sz="1300" dirty="0"/>
          </a:p>
        </p:txBody>
      </p:sp>
      <p:sp>
        <p:nvSpPr>
          <p:cNvPr id="9" name="Text 7"/>
          <p:cNvSpPr/>
          <p:nvPr/>
        </p:nvSpPr>
        <p:spPr>
          <a:xfrm>
            <a:off x="1097280" y="2057400"/>
            <a:ext cx="41148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Arial" pitchFamily="34" charset="0"/>
                <a:ea typeface="Arial" pitchFamily="34" charset="-122"/>
                <a:cs typeface="Arial" pitchFamily="34" charset="-120"/>
              </a:rPr>
              <a:t>Fit + sample</a:t>
            </a:r>
            <a:endParaRPr lang="en-US" sz="1000" dirty="0"/>
          </a:p>
        </p:txBody>
      </p:sp>
      <p:sp>
        <p:nvSpPr>
          <p:cNvPr id="10" name="Shape 8"/>
          <p:cNvSpPr/>
          <p:nvPr/>
        </p:nvSpPr>
        <p:spPr>
          <a:xfrm>
            <a:off x="5212080" y="1371600"/>
            <a:ext cx="1371600" cy="640080"/>
          </a:xfrm>
          <a:prstGeom prst="rect">
            <a:avLst/>
          </a:prstGeom>
          <a:solidFill>
            <a:srgbClr val="D97706"/>
          </a:solidFill>
          <a:ln/>
        </p:spPr>
      </p:sp>
      <p:sp>
        <p:nvSpPr>
          <p:cNvPr id="11" name="Text 9"/>
          <p:cNvSpPr/>
          <p:nvPr/>
        </p:nvSpPr>
        <p:spPr>
          <a:xfrm>
            <a:off x="521208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Validation (20%)</a:t>
            </a:r>
            <a:endParaRPr lang="en-US" sz="1300" dirty="0"/>
          </a:p>
        </p:txBody>
      </p:sp>
      <p:sp>
        <p:nvSpPr>
          <p:cNvPr id="12" name="Text 10"/>
          <p:cNvSpPr/>
          <p:nvPr/>
        </p:nvSpPr>
        <p:spPr>
          <a:xfrm>
            <a:off x="5212080" y="2057400"/>
            <a:ext cx="1371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Arial" pitchFamily="34" charset="0"/>
                <a:ea typeface="Arial" pitchFamily="34" charset="-122"/>
                <a:cs typeface="Arial" pitchFamily="34" charset="-120"/>
              </a:rPr>
              <a:t>Pick winner</a:t>
            </a:r>
            <a:endParaRPr lang="en-US" sz="1000" dirty="0"/>
          </a:p>
        </p:txBody>
      </p:sp>
      <p:sp>
        <p:nvSpPr>
          <p:cNvPr id="13" name="Shape 11"/>
          <p:cNvSpPr/>
          <p:nvPr/>
        </p:nvSpPr>
        <p:spPr>
          <a:xfrm>
            <a:off x="6583680" y="1371600"/>
            <a:ext cx="1371600" cy="640080"/>
          </a:xfrm>
          <a:prstGeom prst="rect">
            <a:avLst/>
          </a:prstGeom>
          <a:solidFill>
            <a:srgbClr val="059669"/>
          </a:solidFill>
          <a:ln/>
        </p:spPr>
      </p:sp>
      <p:sp>
        <p:nvSpPr>
          <p:cNvPr id="14" name="Text 12"/>
          <p:cNvSpPr/>
          <p:nvPr/>
        </p:nvSpPr>
        <p:spPr>
          <a:xfrm>
            <a:off x="658368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Test (20%)</a:t>
            </a:r>
            <a:endParaRPr lang="en-US" sz="1300" dirty="0"/>
          </a:p>
        </p:txBody>
      </p:sp>
      <p:sp>
        <p:nvSpPr>
          <p:cNvPr id="15" name="Text 13"/>
          <p:cNvSpPr/>
          <p:nvPr/>
        </p:nvSpPr>
        <p:spPr>
          <a:xfrm>
            <a:off x="6583680" y="2057400"/>
            <a:ext cx="1371600" cy="274320"/>
          </a:xfrm>
          <a:prstGeom prst="rect">
            <a:avLst/>
          </a:prstGeom>
          <a:noFill/>
          <a:ln/>
        </p:spPr>
        <p:txBody>
          <a:bodyPr wrap="square" lIns="0" tIns="0" rIns="0" bIns="0" rtlCol="0" anchor="ctr"/>
          <a:lstStyle/>
          <a:p>
            <a:pPr algn="ctr" indent="0" marL="0">
              <a:buNone/>
            </a:pPr>
            <a:r>
              <a:rPr lang="en-US" sz="1000" i="1" dirty="0">
                <a:solidFill>
                  <a:srgbClr val="6B7280"/>
                </a:solidFill>
                <a:latin typeface="Arial" pitchFamily="34" charset="0"/>
                <a:ea typeface="Arial" pitchFamily="34" charset="-122"/>
                <a:cs typeface="Arial" pitchFamily="34" charset="-120"/>
              </a:rPr>
              <a:t>Final number</a:t>
            </a:r>
            <a:endParaRPr lang="en-US" sz="1000" dirty="0"/>
          </a:p>
        </p:txBody>
      </p:sp>
      <p:sp>
        <p:nvSpPr>
          <p:cNvPr id="16" name="Text 14"/>
          <p:cNvSpPr/>
          <p:nvPr/>
        </p:nvSpPr>
        <p:spPr>
          <a:xfrm>
            <a:off x="640080" y="2606040"/>
            <a:ext cx="7863840" cy="274320"/>
          </a:xfrm>
          <a:prstGeom prst="rect">
            <a:avLst/>
          </a:prstGeom>
          <a:noFill/>
          <a:ln/>
        </p:spPr>
        <p:txBody>
          <a:bodyPr wrap="square" lIns="0" tIns="0" rIns="0" bIns="0" rtlCol="0" anchor="ctr"/>
          <a:lstStyle/>
          <a:p>
            <a:pPr algn="ctr" indent="0" marL="0">
              <a:buNone/>
            </a:pPr>
            <a:r>
              <a:rPr lang="en-US" sz="1200" i="1" dirty="0">
                <a:solidFill>
                  <a:srgbClr val="374151"/>
                </a:solidFill>
                <a:latin typeface="Arial" pitchFamily="34" charset="0"/>
                <a:ea typeface="Arial" pitchFamily="34" charset="-122"/>
                <a:cs typeface="Arial" pitchFamily="34" charset="-120"/>
              </a:rPr>
              <a:t>Stratified split — each partition keeps the 11% positive rate.</a:t>
            </a:r>
            <a:endParaRPr lang="en-US" sz="1200" dirty="0"/>
          </a:p>
        </p:txBody>
      </p:sp>
      <p:sp>
        <p:nvSpPr>
          <p:cNvPr id="17" name="Text 15"/>
          <p:cNvSpPr/>
          <p:nvPr/>
        </p:nvSpPr>
        <p:spPr>
          <a:xfrm>
            <a:off x="640080" y="3108960"/>
            <a:ext cx="786384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Metrics reported per (sampling × algorithm)</a:t>
            </a:r>
            <a:endParaRPr lang="en-US" sz="1400" dirty="0"/>
          </a:p>
        </p:txBody>
      </p:sp>
      <p:sp>
        <p:nvSpPr>
          <p:cNvPr id="18" name="Text 16"/>
          <p:cNvSpPr/>
          <p:nvPr/>
        </p:nvSpPr>
        <p:spPr>
          <a:xfrm>
            <a:off x="640080" y="3520440"/>
            <a:ext cx="1188720" cy="274320"/>
          </a:xfrm>
          <a:prstGeom prst="rect">
            <a:avLst/>
          </a:prstGeom>
          <a:noFill/>
          <a:ln/>
        </p:spPr>
        <p:txBody>
          <a:bodyPr wrap="square" lIns="0" tIns="0" rIns="0" bIns="0" rtlCol="0" anchor="ctr"/>
          <a:lstStyle/>
          <a:p>
            <a:pPr indent="0" marL="0">
              <a:buNone/>
            </a:pPr>
            <a:r>
              <a:rPr lang="en-US" sz="1200" b="1" dirty="0">
                <a:solidFill>
                  <a:srgbClr val="0891B2"/>
                </a:solidFill>
                <a:latin typeface="Consolas" pitchFamily="34" charset="0"/>
                <a:ea typeface="Consolas" pitchFamily="34" charset="-122"/>
                <a:cs typeface="Consolas" pitchFamily="34" charset="-120"/>
              </a:rPr>
              <a:t>F1</a:t>
            </a:r>
            <a:endParaRPr lang="en-US" sz="1200" dirty="0"/>
          </a:p>
        </p:txBody>
      </p:sp>
      <p:sp>
        <p:nvSpPr>
          <p:cNvPr id="19" name="Text 17"/>
          <p:cNvSpPr/>
          <p:nvPr/>
        </p:nvSpPr>
        <p:spPr>
          <a:xfrm>
            <a:off x="1828800" y="3520440"/>
            <a:ext cx="6675120" cy="27432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Harmonic mean of precision and recall — the balanced view</a:t>
            </a:r>
            <a:endParaRPr lang="en-US" sz="1100" dirty="0"/>
          </a:p>
        </p:txBody>
      </p:sp>
      <p:sp>
        <p:nvSpPr>
          <p:cNvPr id="20" name="Text 18"/>
          <p:cNvSpPr/>
          <p:nvPr/>
        </p:nvSpPr>
        <p:spPr>
          <a:xfrm>
            <a:off x="640080" y="3831336"/>
            <a:ext cx="1188720" cy="274320"/>
          </a:xfrm>
          <a:prstGeom prst="rect">
            <a:avLst/>
          </a:prstGeom>
          <a:noFill/>
          <a:ln/>
        </p:spPr>
        <p:txBody>
          <a:bodyPr wrap="square" lIns="0" tIns="0" rIns="0" bIns="0" rtlCol="0" anchor="ctr"/>
          <a:lstStyle/>
          <a:p>
            <a:pPr indent="0" marL="0">
              <a:buNone/>
            </a:pPr>
            <a:r>
              <a:rPr lang="en-US" sz="1200" b="1" dirty="0">
                <a:solidFill>
                  <a:srgbClr val="0891B2"/>
                </a:solidFill>
                <a:latin typeface="Consolas" pitchFamily="34" charset="0"/>
                <a:ea typeface="Consolas" pitchFamily="34" charset="-122"/>
                <a:cs typeface="Consolas" pitchFamily="34" charset="-120"/>
              </a:rPr>
              <a:t>Precision</a:t>
            </a:r>
            <a:endParaRPr lang="en-US" sz="1200" dirty="0"/>
          </a:p>
        </p:txBody>
      </p:sp>
      <p:sp>
        <p:nvSpPr>
          <p:cNvPr id="21" name="Text 19"/>
          <p:cNvSpPr/>
          <p:nvPr/>
        </p:nvSpPr>
        <p:spPr>
          <a:xfrm>
            <a:off x="1828800" y="3831336"/>
            <a:ext cx="6675120" cy="27432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Of those we flagged, how many actually responded</a:t>
            </a:r>
            <a:endParaRPr lang="en-US" sz="1100" dirty="0"/>
          </a:p>
        </p:txBody>
      </p:sp>
      <p:sp>
        <p:nvSpPr>
          <p:cNvPr id="22" name="Text 20"/>
          <p:cNvSpPr/>
          <p:nvPr/>
        </p:nvSpPr>
        <p:spPr>
          <a:xfrm>
            <a:off x="640080" y="4142232"/>
            <a:ext cx="1188720" cy="274320"/>
          </a:xfrm>
          <a:prstGeom prst="rect">
            <a:avLst/>
          </a:prstGeom>
          <a:noFill/>
          <a:ln/>
        </p:spPr>
        <p:txBody>
          <a:bodyPr wrap="square" lIns="0" tIns="0" rIns="0" bIns="0" rtlCol="0" anchor="ctr"/>
          <a:lstStyle/>
          <a:p>
            <a:pPr indent="0" marL="0">
              <a:buNone/>
            </a:pPr>
            <a:r>
              <a:rPr lang="en-US" sz="1200" b="1" dirty="0">
                <a:solidFill>
                  <a:srgbClr val="0891B2"/>
                </a:solidFill>
                <a:latin typeface="Consolas" pitchFamily="34" charset="0"/>
                <a:ea typeface="Consolas" pitchFamily="34" charset="-122"/>
                <a:cs typeface="Consolas" pitchFamily="34" charset="-120"/>
              </a:rPr>
              <a:t>Recall</a:t>
            </a:r>
            <a:endParaRPr lang="en-US" sz="1200" dirty="0"/>
          </a:p>
        </p:txBody>
      </p:sp>
      <p:sp>
        <p:nvSpPr>
          <p:cNvPr id="23" name="Text 21"/>
          <p:cNvSpPr/>
          <p:nvPr/>
        </p:nvSpPr>
        <p:spPr>
          <a:xfrm>
            <a:off x="1828800" y="4142232"/>
            <a:ext cx="6675120" cy="27432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Of those who responded, how many did we catch</a:t>
            </a:r>
            <a:endParaRPr lang="en-US" sz="1100" dirty="0"/>
          </a:p>
        </p:txBody>
      </p:sp>
      <p:sp>
        <p:nvSpPr>
          <p:cNvPr id="24" name="Text 22"/>
          <p:cNvSpPr/>
          <p:nvPr/>
        </p:nvSpPr>
        <p:spPr>
          <a:xfrm>
            <a:off x="640080" y="4453128"/>
            <a:ext cx="1188720" cy="274320"/>
          </a:xfrm>
          <a:prstGeom prst="rect">
            <a:avLst/>
          </a:prstGeom>
          <a:noFill/>
          <a:ln/>
        </p:spPr>
        <p:txBody>
          <a:bodyPr wrap="square" lIns="0" tIns="0" rIns="0" bIns="0" rtlCol="0" anchor="ctr"/>
          <a:lstStyle/>
          <a:p>
            <a:pPr indent="0" marL="0">
              <a:buNone/>
            </a:pPr>
            <a:r>
              <a:rPr lang="en-US" sz="1200" b="1" dirty="0">
                <a:solidFill>
                  <a:srgbClr val="0891B2"/>
                </a:solidFill>
                <a:latin typeface="Consolas" pitchFamily="34" charset="0"/>
                <a:ea typeface="Consolas" pitchFamily="34" charset="-122"/>
                <a:cs typeface="Consolas" pitchFamily="34" charset="-120"/>
              </a:rPr>
              <a:t>AUC</a:t>
            </a:r>
            <a:endParaRPr lang="en-US" sz="1200" dirty="0"/>
          </a:p>
        </p:txBody>
      </p:sp>
      <p:sp>
        <p:nvSpPr>
          <p:cNvPr id="25" name="Text 23"/>
          <p:cNvSpPr/>
          <p:nvPr/>
        </p:nvSpPr>
        <p:spPr>
          <a:xfrm>
            <a:off x="1828800" y="4453128"/>
            <a:ext cx="6675120" cy="274320"/>
          </a:xfrm>
          <a:prstGeom prst="rect">
            <a:avLst/>
          </a:prstGeom>
          <a:noFill/>
          <a:ln/>
        </p:spPr>
        <p:txBody>
          <a:bodyPr wrap="square" lIns="0" tIns="0" rIns="0" bIns="0" rtlCol="0" anchor="ctr"/>
          <a:lstStyle/>
          <a:p>
            <a:pPr indent="0" marL="0">
              <a:buNone/>
            </a:pPr>
            <a:r>
              <a:rPr lang="en-US" sz="1100" dirty="0">
                <a:solidFill>
                  <a:srgbClr val="374151"/>
                </a:solidFill>
                <a:latin typeface="Arial" pitchFamily="34" charset="0"/>
                <a:ea typeface="Arial" pitchFamily="34" charset="-122"/>
                <a:cs typeface="Arial" pitchFamily="34" charset="-120"/>
              </a:rPr>
              <a:t>Ranking quality — does the model order responders above non-responders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3 — lift</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Lift by decile</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The chart that survives every campaign post-mortem.</a:t>
            </a:r>
            <a:endParaRPr lang="en-US" sz="1300" dirty="0"/>
          </a:p>
        </p:txBody>
      </p:sp>
      <p:sp>
        <p:nvSpPr>
          <p:cNvPr id="7" name="Shape 5"/>
          <p:cNvSpPr/>
          <p:nvPr/>
        </p:nvSpPr>
        <p:spPr>
          <a:xfrm>
            <a:off x="640080" y="1280160"/>
            <a:ext cx="1280160" cy="365760"/>
          </a:xfrm>
          <a:prstGeom prst="rect">
            <a:avLst/>
          </a:prstGeom>
          <a:solidFill>
            <a:srgbClr val="0891B2"/>
          </a:solidFill>
          <a:ln/>
        </p:spPr>
      </p:sp>
      <p:sp>
        <p:nvSpPr>
          <p:cNvPr id="8" name="Text 6"/>
          <p:cNvSpPr/>
          <p:nvPr/>
        </p:nvSpPr>
        <p:spPr>
          <a:xfrm>
            <a:off x="640080" y="128016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Decile</a:t>
            </a:r>
            <a:endParaRPr lang="en-US" sz="1100" dirty="0"/>
          </a:p>
        </p:txBody>
      </p:sp>
      <p:sp>
        <p:nvSpPr>
          <p:cNvPr id="9" name="Shape 7"/>
          <p:cNvSpPr/>
          <p:nvPr/>
        </p:nvSpPr>
        <p:spPr>
          <a:xfrm>
            <a:off x="1920240" y="1280160"/>
            <a:ext cx="1463040" cy="365760"/>
          </a:xfrm>
          <a:prstGeom prst="rect">
            <a:avLst/>
          </a:prstGeom>
          <a:solidFill>
            <a:srgbClr val="0891B2"/>
          </a:solidFill>
          <a:ln/>
        </p:spPr>
      </p:sp>
      <p:sp>
        <p:nvSpPr>
          <p:cNvPr id="10" name="Text 8"/>
          <p:cNvSpPr/>
          <p:nvPr/>
        </p:nvSpPr>
        <p:spPr>
          <a:xfrm>
            <a:off x="1920240" y="128016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 of pop</a:t>
            </a:r>
            <a:endParaRPr lang="en-US" sz="1100" dirty="0"/>
          </a:p>
        </p:txBody>
      </p:sp>
      <p:sp>
        <p:nvSpPr>
          <p:cNvPr id="11" name="Shape 9"/>
          <p:cNvSpPr/>
          <p:nvPr/>
        </p:nvSpPr>
        <p:spPr>
          <a:xfrm>
            <a:off x="3383280" y="1280160"/>
            <a:ext cx="1463040" cy="365760"/>
          </a:xfrm>
          <a:prstGeom prst="rect">
            <a:avLst/>
          </a:prstGeom>
          <a:solidFill>
            <a:srgbClr val="0891B2"/>
          </a:solidFill>
          <a:ln/>
        </p:spPr>
      </p:sp>
      <p:sp>
        <p:nvSpPr>
          <p:cNvPr id="12" name="Text 10"/>
          <p:cNvSpPr/>
          <p:nvPr/>
        </p:nvSpPr>
        <p:spPr>
          <a:xfrm>
            <a:off x="3383280" y="1280160"/>
            <a:ext cx="14630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Resp rate</a:t>
            </a:r>
            <a:endParaRPr lang="en-US" sz="1100" dirty="0"/>
          </a:p>
        </p:txBody>
      </p:sp>
      <p:sp>
        <p:nvSpPr>
          <p:cNvPr id="13" name="Shape 11"/>
          <p:cNvSpPr/>
          <p:nvPr/>
        </p:nvSpPr>
        <p:spPr>
          <a:xfrm>
            <a:off x="4846320" y="1280160"/>
            <a:ext cx="1280160" cy="365760"/>
          </a:xfrm>
          <a:prstGeom prst="rect">
            <a:avLst/>
          </a:prstGeom>
          <a:solidFill>
            <a:srgbClr val="0891B2"/>
          </a:solidFill>
          <a:ln/>
        </p:spPr>
      </p:sp>
      <p:sp>
        <p:nvSpPr>
          <p:cNvPr id="14" name="Text 12"/>
          <p:cNvSpPr/>
          <p:nvPr/>
        </p:nvSpPr>
        <p:spPr>
          <a:xfrm>
            <a:off x="4846320" y="1280160"/>
            <a:ext cx="12801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Lift</a:t>
            </a:r>
            <a:endParaRPr lang="en-US" sz="1100" dirty="0"/>
          </a:p>
        </p:txBody>
      </p:sp>
      <p:sp>
        <p:nvSpPr>
          <p:cNvPr id="15" name="Shape 13"/>
          <p:cNvSpPr/>
          <p:nvPr/>
        </p:nvSpPr>
        <p:spPr>
          <a:xfrm>
            <a:off x="6126480" y="1280160"/>
            <a:ext cx="2286000" cy="365760"/>
          </a:xfrm>
          <a:prstGeom prst="rect">
            <a:avLst/>
          </a:prstGeom>
          <a:solidFill>
            <a:srgbClr val="0891B2"/>
          </a:solidFill>
          <a:ln/>
        </p:spPr>
      </p:sp>
      <p:sp>
        <p:nvSpPr>
          <p:cNvPr id="16" name="Text 14"/>
          <p:cNvSpPr/>
          <p:nvPr/>
        </p:nvSpPr>
        <p:spPr>
          <a:xfrm>
            <a:off x="6126480" y="1280160"/>
            <a:ext cx="22860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Cum capture</a:t>
            </a:r>
            <a:endParaRPr lang="en-US" sz="1100" dirty="0"/>
          </a:p>
        </p:txBody>
      </p:sp>
      <p:sp>
        <p:nvSpPr>
          <p:cNvPr id="17" name="Shape 15"/>
          <p:cNvSpPr/>
          <p:nvPr/>
        </p:nvSpPr>
        <p:spPr>
          <a:xfrm>
            <a:off x="640080" y="1645920"/>
            <a:ext cx="1280160" cy="292608"/>
          </a:xfrm>
          <a:prstGeom prst="rect">
            <a:avLst/>
          </a:prstGeom>
          <a:solidFill>
            <a:srgbClr val="FFFFFF"/>
          </a:solidFill>
          <a:ln w="6350">
            <a:solidFill>
              <a:srgbClr val="D1D5DB"/>
            </a:solidFill>
            <a:prstDash val="solid"/>
          </a:ln>
        </p:spPr>
      </p:sp>
      <p:sp>
        <p:nvSpPr>
          <p:cNvPr id="18" name="Text 16"/>
          <p:cNvSpPr/>
          <p:nvPr/>
        </p:nvSpPr>
        <p:spPr>
          <a:xfrm>
            <a:off x="685800" y="1645920"/>
            <a:ext cx="1188720" cy="292608"/>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1 (top)</a:t>
            </a:r>
            <a:endParaRPr lang="en-US" sz="1100" dirty="0"/>
          </a:p>
        </p:txBody>
      </p:sp>
      <p:sp>
        <p:nvSpPr>
          <p:cNvPr id="19" name="Shape 17"/>
          <p:cNvSpPr/>
          <p:nvPr/>
        </p:nvSpPr>
        <p:spPr>
          <a:xfrm>
            <a:off x="1920240" y="1645920"/>
            <a:ext cx="1463040" cy="292608"/>
          </a:xfrm>
          <a:prstGeom prst="rect">
            <a:avLst/>
          </a:prstGeom>
          <a:solidFill>
            <a:srgbClr val="FFFFFF"/>
          </a:solidFill>
          <a:ln w="6350">
            <a:solidFill>
              <a:srgbClr val="D1D5DB"/>
            </a:solidFill>
            <a:prstDash val="solid"/>
          </a:ln>
        </p:spPr>
      </p:sp>
      <p:sp>
        <p:nvSpPr>
          <p:cNvPr id="20" name="Text 18"/>
          <p:cNvSpPr/>
          <p:nvPr/>
        </p:nvSpPr>
        <p:spPr>
          <a:xfrm>
            <a:off x="1965960" y="1645920"/>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a:t>
            </a:r>
            <a:endParaRPr lang="en-US" sz="1100" dirty="0"/>
          </a:p>
        </p:txBody>
      </p:sp>
      <p:sp>
        <p:nvSpPr>
          <p:cNvPr id="21" name="Shape 19"/>
          <p:cNvSpPr/>
          <p:nvPr/>
        </p:nvSpPr>
        <p:spPr>
          <a:xfrm>
            <a:off x="3383280" y="1645920"/>
            <a:ext cx="1463040" cy="292608"/>
          </a:xfrm>
          <a:prstGeom prst="rect">
            <a:avLst/>
          </a:prstGeom>
          <a:solidFill>
            <a:srgbClr val="FFFFFF"/>
          </a:solidFill>
          <a:ln w="6350">
            <a:solidFill>
              <a:srgbClr val="D1D5DB"/>
            </a:solidFill>
            <a:prstDash val="solid"/>
          </a:ln>
        </p:spPr>
      </p:sp>
      <p:sp>
        <p:nvSpPr>
          <p:cNvPr id="22" name="Text 20"/>
          <p:cNvSpPr/>
          <p:nvPr/>
        </p:nvSpPr>
        <p:spPr>
          <a:xfrm>
            <a:off x="3429000" y="1645920"/>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33%</a:t>
            </a:r>
            <a:endParaRPr lang="en-US" sz="1100" dirty="0"/>
          </a:p>
        </p:txBody>
      </p:sp>
      <p:sp>
        <p:nvSpPr>
          <p:cNvPr id="23" name="Shape 21"/>
          <p:cNvSpPr/>
          <p:nvPr/>
        </p:nvSpPr>
        <p:spPr>
          <a:xfrm>
            <a:off x="4846320" y="1645920"/>
            <a:ext cx="1280160" cy="292608"/>
          </a:xfrm>
          <a:prstGeom prst="rect">
            <a:avLst/>
          </a:prstGeom>
          <a:solidFill>
            <a:srgbClr val="FFFFFF"/>
          </a:solidFill>
          <a:ln w="6350">
            <a:solidFill>
              <a:srgbClr val="D1D5DB"/>
            </a:solidFill>
            <a:prstDash val="solid"/>
          </a:ln>
        </p:spPr>
      </p:sp>
      <p:sp>
        <p:nvSpPr>
          <p:cNvPr id="24" name="Text 22"/>
          <p:cNvSpPr/>
          <p:nvPr/>
        </p:nvSpPr>
        <p:spPr>
          <a:xfrm>
            <a:off x="4892040" y="1645920"/>
            <a:ext cx="1188720" cy="292608"/>
          </a:xfrm>
          <a:prstGeom prst="rect">
            <a:avLst/>
          </a:prstGeom>
          <a:noFill/>
          <a:ln/>
        </p:spPr>
        <p:txBody>
          <a:bodyPr wrap="square" lIns="0" tIns="0" rIns="0" bIns="0" rtlCol="0" anchor="ctr"/>
          <a:lstStyle/>
          <a:p>
            <a:pPr algn="ctr" indent="0" marL="0">
              <a:buNone/>
            </a:pPr>
            <a:r>
              <a:rPr lang="en-US" sz="1100" b="1" dirty="0">
                <a:solidFill>
                  <a:srgbClr val="0891B2"/>
                </a:solidFill>
                <a:latin typeface="Consolas" pitchFamily="34" charset="0"/>
                <a:ea typeface="Consolas" pitchFamily="34" charset="-122"/>
                <a:cs typeface="Consolas" pitchFamily="34" charset="-120"/>
              </a:rPr>
              <a:t>3.0x</a:t>
            </a:r>
            <a:endParaRPr lang="en-US" sz="1100" dirty="0"/>
          </a:p>
        </p:txBody>
      </p:sp>
      <p:sp>
        <p:nvSpPr>
          <p:cNvPr id="25" name="Shape 23"/>
          <p:cNvSpPr/>
          <p:nvPr/>
        </p:nvSpPr>
        <p:spPr>
          <a:xfrm>
            <a:off x="6126480" y="1645920"/>
            <a:ext cx="2286000" cy="292608"/>
          </a:xfrm>
          <a:prstGeom prst="rect">
            <a:avLst/>
          </a:prstGeom>
          <a:solidFill>
            <a:srgbClr val="FFFFFF"/>
          </a:solidFill>
          <a:ln w="6350">
            <a:solidFill>
              <a:srgbClr val="D1D5DB"/>
            </a:solidFill>
            <a:prstDash val="solid"/>
          </a:ln>
        </p:spPr>
      </p:sp>
      <p:sp>
        <p:nvSpPr>
          <p:cNvPr id="26" name="Text 24"/>
          <p:cNvSpPr/>
          <p:nvPr/>
        </p:nvSpPr>
        <p:spPr>
          <a:xfrm>
            <a:off x="6172200" y="1645920"/>
            <a:ext cx="219456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27%</a:t>
            </a:r>
            <a:endParaRPr lang="en-US" sz="1100" dirty="0"/>
          </a:p>
        </p:txBody>
      </p:sp>
      <p:sp>
        <p:nvSpPr>
          <p:cNvPr id="27" name="Shape 25"/>
          <p:cNvSpPr/>
          <p:nvPr/>
        </p:nvSpPr>
        <p:spPr>
          <a:xfrm>
            <a:off x="640080" y="1938528"/>
            <a:ext cx="1280160" cy="292608"/>
          </a:xfrm>
          <a:prstGeom prst="rect">
            <a:avLst/>
          </a:prstGeom>
          <a:solidFill>
            <a:srgbClr val="F3F4F6"/>
          </a:solidFill>
          <a:ln w="6350">
            <a:solidFill>
              <a:srgbClr val="D1D5DB"/>
            </a:solidFill>
            <a:prstDash val="solid"/>
          </a:ln>
        </p:spPr>
      </p:sp>
      <p:sp>
        <p:nvSpPr>
          <p:cNvPr id="28" name="Text 26"/>
          <p:cNvSpPr/>
          <p:nvPr/>
        </p:nvSpPr>
        <p:spPr>
          <a:xfrm>
            <a:off x="685800" y="1938528"/>
            <a:ext cx="1188720" cy="292608"/>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2</a:t>
            </a:r>
            <a:endParaRPr lang="en-US" sz="1100" dirty="0"/>
          </a:p>
        </p:txBody>
      </p:sp>
      <p:sp>
        <p:nvSpPr>
          <p:cNvPr id="29" name="Shape 27"/>
          <p:cNvSpPr/>
          <p:nvPr/>
        </p:nvSpPr>
        <p:spPr>
          <a:xfrm>
            <a:off x="1920240" y="1938528"/>
            <a:ext cx="1463040" cy="292608"/>
          </a:xfrm>
          <a:prstGeom prst="rect">
            <a:avLst/>
          </a:prstGeom>
          <a:solidFill>
            <a:srgbClr val="F3F4F6"/>
          </a:solidFill>
          <a:ln w="6350">
            <a:solidFill>
              <a:srgbClr val="D1D5DB"/>
            </a:solidFill>
            <a:prstDash val="solid"/>
          </a:ln>
        </p:spPr>
      </p:sp>
      <p:sp>
        <p:nvSpPr>
          <p:cNvPr id="30" name="Text 28"/>
          <p:cNvSpPr/>
          <p:nvPr/>
        </p:nvSpPr>
        <p:spPr>
          <a:xfrm>
            <a:off x="1965960" y="1938528"/>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a:t>
            </a:r>
            <a:endParaRPr lang="en-US" sz="1100" dirty="0"/>
          </a:p>
        </p:txBody>
      </p:sp>
      <p:sp>
        <p:nvSpPr>
          <p:cNvPr id="31" name="Shape 29"/>
          <p:cNvSpPr/>
          <p:nvPr/>
        </p:nvSpPr>
        <p:spPr>
          <a:xfrm>
            <a:off x="3383280" y="1938528"/>
            <a:ext cx="1463040" cy="292608"/>
          </a:xfrm>
          <a:prstGeom prst="rect">
            <a:avLst/>
          </a:prstGeom>
          <a:solidFill>
            <a:srgbClr val="F3F4F6"/>
          </a:solidFill>
          <a:ln w="6350">
            <a:solidFill>
              <a:srgbClr val="D1D5DB"/>
            </a:solidFill>
            <a:prstDash val="solid"/>
          </a:ln>
        </p:spPr>
      </p:sp>
      <p:sp>
        <p:nvSpPr>
          <p:cNvPr id="32" name="Text 30"/>
          <p:cNvSpPr/>
          <p:nvPr/>
        </p:nvSpPr>
        <p:spPr>
          <a:xfrm>
            <a:off x="3429000" y="1938528"/>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22%</a:t>
            </a:r>
            <a:endParaRPr lang="en-US" sz="1100" dirty="0"/>
          </a:p>
        </p:txBody>
      </p:sp>
      <p:sp>
        <p:nvSpPr>
          <p:cNvPr id="33" name="Shape 31"/>
          <p:cNvSpPr/>
          <p:nvPr/>
        </p:nvSpPr>
        <p:spPr>
          <a:xfrm>
            <a:off x="4846320" y="1938528"/>
            <a:ext cx="1280160" cy="292608"/>
          </a:xfrm>
          <a:prstGeom prst="rect">
            <a:avLst/>
          </a:prstGeom>
          <a:solidFill>
            <a:srgbClr val="F3F4F6"/>
          </a:solidFill>
          <a:ln w="6350">
            <a:solidFill>
              <a:srgbClr val="D1D5DB"/>
            </a:solidFill>
            <a:prstDash val="solid"/>
          </a:ln>
        </p:spPr>
      </p:sp>
      <p:sp>
        <p:nvSpPr>
          <p:cNvPr id="34" name="Text 32"/>
          <p:cNvSpPr/>
          <p:nvPr/>
        </p:nvSpPr>
        <p:spPr>
          <a:xfrm>
            <a:off x="4892040" y="1938528"/>
            <a:ext cx="1188720" cy="292608"/>
          </a:xfrm>
          <a:prstGeom prst="rect">
            <a:avLst/>
          </a:prstGeom>
          <a:noFill/>
          <a:ln/>
        </p:spPr>
        <p:txBody>
          <a:bodyPr wrap="square" lIns="0" tIns="0" rIns="0" bIns="0" rtlCol="0" anchor="ctr"/>
          <a:lstStyle/>
          <a:p>
            <a:pPr algn="ctr" indent="0" marL="0">
              <a:buNone/>
            </a:pPr>
            <a:r>
              <a:rPr lang="en-US" sz="1100" b="1" dirty="0">
                <a:solidFill>
                  <a:srgbClr val="0891B2"/>
                </a:solidFill>
                <a:latin typeface="Consolas" pitchFamily="34" charset="0"/>
                <a:ea typeface="Consolas" pitchFamily="34" charset="-122"/>
                <a:cs typeface="Consolas" pitchFamily="34" charset="-120"/>
              </a:rPr>
              <a:t>2.0x</a:t>
            </a:r>
            <a:endParaRPr lang="en-US" sz="1100" dirty="0"/>
          </a:p>
        </p:txBody>
      </p:sp>
      <p:sp>
        <p:nvSpPr>
          <p:cNvPr id="35" name="Shape 33"/>
          <p:cNvSpPr/>
          <p:nvPr/>
        </p:nvSpPr>
        <p:spPr>
          <a:xfrm>
            <a:off x="6126480" y="1938528"/>
            <a:ext cx="2286000" cy="292608"/>
          </a:xfrm>
          <a:prstGeom prst="rect">
            <a:avLst/>
          </a:prstGeom>
          <a:solidFill>
            <a:srgbClr val="F3F4F6"/>
          </a:solidFill>
          <a:ln w="6350">
            <a:solidFill>
              <a:srgbClr val="D1D5DB"/>
            </a:solidFill>
            <a:prstDash val="solid"/>
          </a:ln>
        </p:spPr>
      </p:sp>
      <p:sp>
        <p:nvSpPr>
          <p:cNvPr id="36" name="Text 34"/>
          <p:cNvSpPr/>
          <p:nvPr/>
        </p:nvSpPr>
        <p:spPr>
          <a:xfrm>
            <a:off x="6172200" y="1938528"/>
            <a:ext cx="219456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45%</a:t>
            </a:r>
            <a:endParaRPr lang="en-US" sz="1100" dirty="0"/>
          </a:p>
        </p:txBody>
      </p:sp>
      <p:sp>
        <p:nvSpPr>
          <p:cNvPr id="37" name="Shape 35"/>
          <p:cNvSpPr/>
          <p:nvPr/>
        </p:nvSpPr>
        <p:spPr>
          <a:xfrm>
            <a:off x="640080" y="2231136"/>
            <a:ext cx="1280160" cy="292608"/>
          </a:xfrm>
          <a:prstGeom prst="rect">
            <a:avLst/>
          </a:prstGeom>
          <a:solidFill>
            <a:srgbClr val="FFFFFF"/>
          </a:solidFill>
          <a:ln w="6350">
            <a:solidFill>
              <a:srgbClr val="D1D5DB"/>
            </a:solidFill>
            <a:prstDash val="solid"/>
          </a:ln>
        </p:spPr>
      </p:sp>
      <p:sp>
        <p:nvSpPr>
          <p:cNvPr id="38" name="Text 36"/>
          <p:cNvSpPr/>
          <p:nvPr/>
        </p:nvSpPr>
        <p:spPr>
          <a:xfrm>
            <a:off x="685800" y="2231136"/>
            <a:ext cx="1188720" cy="292608"/>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3</a:t>
            </a:r>
            <a:endParaRPr lang="en-US" sz="1100" dirty="0"/>
          </a:p>
        </p:txBody>
      </p:sp>
      <p:sp>
        <p:nvSpPr>
          <p:cNvPr id="39" name="Shape 37"/>
          <p:cNvSpPr/>
          <p:nvPr/>
        </p:nvSpPr>
        <p:spPr>
          <a:xfrm>
            <a:off x="1920240" y="2231136"/>
            <a:ext cx="1463040" cy="292608"/>
          </a:xfrm>
          <a:prstGeom prst="rect">
            <a:avLst/>
          </a:prstGeom>
          <a:solidFill>
            <a:srgbClr val="FFFFFF"/>
          </a:solidFill>
          <a:ln w="6350">
            <a:solidFill>
              <a:srgbClr val="D1D5DB"/>
            </a:solidFill>
            <a:prstDash val="solid"/>
          </a:ln>
        </p:spPr>
      </p:sp>
      <p:sp>
        <p:nvSpPr>
          <p:cNvPr id="40" name="Text 38"/>
          <p:cNvSpPr/>
          <p:nvPr/>
        </p:nvSpPr>
        <p:spPr>
          <a:xfrm>
            <a:off x="1965960" y="2231136"/>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a:t>
            </a:r>
            <a:endParaRPr lang="en-US" sz="1100" dirty="0"/>
          </a:p>
        </p:txBody>
      </p:sp>
      <p:sp>
        <p:nvSpPr>
          <p:cNvPr id="41" name="Shape 39"/>
          <p:cNvSpPr/>
          <p:nvPr/>
        </p:nvSpPr>
        <p:spPr>
          <a:xfrm>
            <a:off x="3383280" y="2231136"/>
            <a:ext cx="1463040" cy="292608"/>
          </a:xfrm>
          <a:prstGeom prst="rect">
            <a:avLst/>
          </a:prstGeom>
          <a:solidFill>
            <a:srgbClr val="FFFFFF"/>
          </a:solidFill>
          <a:ln w="6350">
            <a:solidFill>
              <a:srgbClr val="D1D5DB"/>
            </a:solidFill>
            <a:prstDash val="solid"/>
          </a:ln>
        </p:spPr>
      </p:sp>
      <p:sp>
        <p:nvSpPr>
          <p:cNvPr id="42" name="Text 40"/>
          <p:cNvSpPr/>
          <p:nvPr/>
        </p:nvSpPr>
        <p:spPr>
          <a:xfrm>
            <a:off x="3429000" y="2231136"/>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16%</a:t>
            </a:r>
            <a:endParaRPr lang="en-US" sz="1100" dirty="0"/>
          </a:p>
        </p:txBody>
      </p:sp>
      <p:sp>
        <p:nvSpPr>
          <p:cNvPr id="43" name="Shape 41"/>
          <p:cNvSpPr/>
          <p:nvPr/>
        </p:nvSpPr>
        <p:spPr>
          <a:xfrm>
            <a:off x="4846320" y="2231136"/>
            <a:ext cx="1280160" cy="292608"/>
          </a:xfrm>
          <a:prstGeom prst="rect">
            <a:avLst/>
          </a:prstGeom>
          <a:solidFill>
            <a:srgbClr val="FFFFFF"/>
          </a:solidFill>
          <a:ln w="6350">
            <a:solidFill>
              <a:srgbClr val="D1D5DB"/>
            </a:solidFill>
            <a:prstDash val="solid"/>
          </a:ln>
        </p:spPr>
      </p:sp>
      <p:sp>
        <p:nvSpPr>
          <p:cNvPr id="44" name="Text 42"/>
          <p:cNvSpPr/>
          <p:nvPr/>
        </p:nvSpPr>
        <p:spPr>
          <a:xfrm>
            <a:off x="4892040" y="2231136"/>
            <a:ext cx="1188720" cy="292608"/>
          </a:xfrm>
          <a:prstGeom prst="rect">
            <a:avLst/>
          </a:prstGeom>
          <a:noFill/>
          <a:ln/>
        </p:spPr>
        <p:txBody>
          <a:bodyPr wrap="square" lIns="0" tIns="0" rIns="0" bIns="0" rtlCol="0" anchor="ctr"/>
          <a:lstStyle/>
          <a:p>
            <a:pPr algn="ctr" indent="0" marL="0">
              <a:buNone/>
            </a:pPr>
            <a:r>
              <a:rPr lang="en-US" sz="1100" b="1" dirty="0">
                <a:solidFill>
                  <a:srgbClr val="0891B2"/>
                </a:solidFill>
                <a:latin typeface="Consolas" pitchFamily="34" charset="0"/>
                <a:ea typeface="Consolas" pitchFamily="34" charset="-122"/>
                <a:cs typeface="Consolas" pitchFamily="34" charset="-120"/>
              </a:rPr>
              <a:t>1.5x</a:t>
            </a:r>
            <a:endParaRPr lang="en-US" sz="1100" dirty="0"/>
          </a:p>
        </p:txBody>
      </p:sp>
      <p:sp>
        <p:nvSpPr>
          <p:cNvPr id="45" name="Shape 43"/>
          <p:cNvSpPr/>
          <p:nvPr/>
        </p:nvSpPr>
        <p:spPr>
          <a:xfrm>
            <a:off x="6126480" y="2231136"/>
            <a:ext cx="2286000" cy="292608"/>
          </a:xfrm>
          <a:prstGeom prst="rect">
            <a:avLst/>
          </a:prstGeom>
          <a:solidFill>
            <a:srgbClr val="FFFFFF"/>
          </a:solidFill>
          <a:ln w="6350">
            <a:solidFill>
              <a:srgbClr val="D1D5DB"/>
            </a:solidFill>
            <a:prstDash val="solid"/>
          </a:ln>
        </p:spPr>
      </p:sp>
      <p:sp>
        <p:nvSpPr>
          <p:cNvPr id="46" name="Text 44"/>
          <p:cNvSpPr/>
          <p:nvPr/>
        </p:nvSpPr>
        <p:spPr>
          <a:xfrm>
            <a:off x="6172200" y="2231136"/>
            <a:ext cx="219456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59%</a:t>
            </a:r>
            <a:endParaRPr lang="en-US" sz="1100" dirty="0"/>
          </a:p>
        </p:txBody>
      </p:sp>
      <p:sp>
        <p:nvSpPr>
          <p:cNvPr id="47" name="Shape 45"/>
          <p:cNvSpPr/>
          <p:nvPr/>
        </p:nvSpPr>
        <p:spPr>
          <a:xfrm>
            <a:off x="640080" y="2523744"/>
            <a:ext cx="1280160" cy="292608"/>
          </a:xfrm>
          <a:prstGeom prst="rect">
            <a:avLst/>
          </a:prstGeom>
          <a:solidFill>
            <a:srgbClr val="F3F4F6"/>
          </a:solidFill>
          <a:ln w="6350">
            <a:solidFill>
              <a:srgbClr val="D1D5DB"/>
            </a:solidFill>
            <a:prstDash val="solid"/>
          </a:ln>
        </p:spPr>
      </p:sp>
      <p:sp>
        <p:nvSpPr>
          <p:cNvPr id="48" name="Text 46"/>
          <p:cNvSpPr/>
          <p:nvPr/>
        </p:nvSpPr>
        <p:spPr>
          <a:xfrm>
            <a:off x="685800" y="2523744"/>
            <a:ext cx="1188720" cy="292608"/>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4</a:t>
            </a:r>
            <a:endParaRPr lang="en-US" sz="1100" dirty="0"/>
          </a:p>
        </p:txBody>
      </p:sp>
      <p:sp>
        <p:nvSpPr>
          <p:cNvPr id="49" name="Shape 47"/>
          <p:cNvSpPr/>
          <p:nvPr/>
        </p:nvSpPr>
        <p:spPr>
          <a:xfrm>
            <a:off x="1920240" y="2523744"/>
            <a:ext cx="1463040" cy="292608"/>
          </a:xfrm>
          <a:prstGeom prst="rect">
            <a:avLst/>
          </a:prstGeom>
          <a:solidFill>
            <a:srgbClr val="F3F4F6"/>
          </a:solidFill>
          <a:ln w="6350">
            <a:solidFill>
              <a:srgbClr val="D1D5DB"/>
            </a:solidFill>
            <a:prstDash val="solid"/>
          </a:ln>
        </p:spPr>
      </p:sp>
      <p:sp>
        <p:nvSpPr>
          <p:cNvPr id="50" name="Text 48"/>
          <p:cNvSpPr/>
          <p:nvPr/>
        </p:nvSpPr>
        <p:spPr>
          <a:xfrm>
            <a:off x="1965960" y="2523744"/>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a:t>
            </a:r>
            <a:endParaRPr lang="en-US" sz="1100" dirty="0"/>
          </a:p>
        </p:txBody>
      </p:sp>
      <p:sp>
        <p:nvSpPr>
          <p:cNvPr id="51" name="Shape 49"/>
          <p:cNvSpPr/>
          <p:nvPr/>
        </p:nvSpPr>
        <p:spPr>
          <a:xfrm>
            <a:off x="3383280" y="2523744"/>
            <a:ext cx="1463040" cy="292608"/>
          </a:xfrm>
          <a:prstGeom prst="rect">
            <a:avLst/>
          </a:prstGeom>
          <a:solidFill>
            <a:srgbClr val="F3F4F6"/>
          </a:solidFill>
          <a:ln w="6350">
            <a:solidFill>
              <a:srgbClr val="D1D5DB"/>
            </a:solidFill>
            <a:prstDash val="solid"/>
          </a:ln>
        </p:spPr>
      </p:sp>
      <p:sp>
        <p:nvSpPr>
          <p:cNvPr id="52" name="Text 50"/>
          <p:cNvSpPr/>
          <p:nvPr/>
        </p:nvSpPr>
        <p:spPr>
          <a:xfrm>
            <a:off x="3429000" y="2523744"/>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12%</a:t>
            </a:r>
            <a:endParaRPr lang="en-US" sz="1100" dirty="0"/>
          </a:p>
        </p:txBody>
      </p:sp>
      <p:sp>
        <p:nvSpPr>
          <p:cNvPr id="53" name="Shape 51"/>
          <p:cNvSpPr/>
          <p:nvPr/>
        </p:nvSpPr>
        <p:spPr>
          <a:xfrm>
            <a:off x="4846320" y="2523744"/>
            <a:ext cx="1280160" cy="292608"/>
          </a:xfrm>
          <a:prstGeom prst="rect">
            <a:avLst/>
          </a:prstGeom>
          <a:solidFill>
            <a:srgbClr val="F3F4F6"/>
          </a:solidFill>
          <a:ln w="6350">
            <a:solidFill>
              <a:srgbClr val="D1D5DB"/>
            </a:solidFill>
            <a:prstDash val="solid"/>
          </a:ln>
        </p:spPr>
      </p:sp>
      <p:sp>
        <p:nvSpPr>
          <p:cNvPr id="54" name="Text 52"/>
          <p:cNvSpPr/>
          <p:nvPr/>
        </p:nvSpPr>
        <p:spPr>
          <a:xfrm>
            <a:off x="4892040" y="2523744"/>
            <a:ext cx="1188720" cy="292608"/>
          </a:xfrm>
          <a:prstGeom prst="rect">
            <a:avLst/>
          </a:prstGeom>
          <a:noFill/>
          <a:ln/>
        </p:spPr>
        <p:txBody>
          <a:bodyPr wrap="square" lIns="0" tIns="0" rIns="0" bIns="0" rtlCol="0" anchor="ctr"/>
          <a:lstStyle/>
          <a:p>
            <a:pPr algn="ctr" indent="0" marL="0">
              <a:buNone/>
            </a:pPr>
            <a:r>
              <a:rPr lang="en-US" sz="1100" b="1" dirty="0">
                <a:solidFill>
                  <a:srgbClr val="0891B2"/>
                </a:solidFill>
                <a:latin typeface="Consolas" pitchFamily="34" charset="0"/>
                <a:ea typeface="Consolas" pitchFamily="34" charset="-122"/>
                <a:cs typeface="Consolas" pitchFamily="34" charset="-120"/>
              </a:rPr>
              <a:t>1.1x</a:t>
            </a:r>
            <a:endParaRPr lang="en-US" sz="1100" dirty="0"/>
          </a:p>
        </p:txBody>
      </p:sp>
      <p:sp>
        <p:nvSpPr>
          <p:cNvPr id="55" name="Shape 53"/>
          <p:cNvSpPr/>
          <p:nvPr/>
        </p:nvSpPr>
        <p:spPr>
          <a:xfrm>
            <a:off x="6126480" y="2523744"/>
            <a:ext cx="2286000" cy="292608"/>
          </a:xfrm>
          <a:prstGeom prst="rect">
            <a:avLst/>
          </a:prstGeom>
          <a:solidFill>
            <a:srgbClr val="F3F4F6"/>
          </a:solidFill>
          <a:ln w="6350">
            <a:solidFill>
              <a:srgbClr val="D1D5DB"/>
            </a:solidFill>
            <a:prstDash val="solid"/>
          </a:ln>
        </p:spPr>
      </p:sp>
      <p:sp>
        <p:nvSpPr>
          <p:cNvPr id="56" name="Text 54"/>
          <p:cNvSpPr/>
          <p:nvPr/>
        </p:nvSpPr>
        <p:spPr>
          <a:xfrm>
            <a:off x="6172200" y="2523744"/>
            <a:ext cx="219456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69%</a:t>
            </a:r>
            <a:endParaRPr lang="en-US" sz="1100" dirty="0"/>
          </a:p>
        </p:txBody>
      </p:sp>
      <p:sp>
        <p:nvSpPr>
          <p:cNvPr id="57" name="Shape 55"/>
          <p:cNvSpPr/>
          <p:nvPr/>
        </p:nvSpPr>
        <p:spPr>
          <a:xfrm>
            <a:off x="640080" y="2816352"/>
            <a:ext cx="1280160" cy="292608"/>
          </a:xfrm>
          <a:prstGeom prst="rect">
            <a:avLst/>
          </a:prstGeom>
          <a:solidFill>
            <a:srgbClr val="FFFFFF"/>
          </a:solidFill>
          <a:ln w="6350">
            <a:solidFill>
              <a:srgbClr val="D1D5DB"/>
            </a:solidFill>
            <a:prstDash val="solid"/>
          </a:ln>
        </p:spPr>
      </p:sp>
      <p:sp>
        <p:nvSpPr>
          <p:cNvPr id="58" name="Text 56"/>
          <p:cNvSpPr/>
          <p:nvPr/>
        </p:nvSpPr>
        <p:spPr>
          <a:xfrm>
            <a:off x="685800" y="2816352"/>
            <a:ext cx="1188720" cy="292608"/>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5</a:t>
            </a:r>
            <a:endParaRPr lang="en-US" sz="1100" dirty="0"/>
          </a:p>
        </p:txBody>
      </p:sp>
      <p:sp>
        <p:nvSpPr>
          <p:cNvPr id="59" name="Shape 57"/>
          <p:cNvSpPr/>
          <p:nvPr/>
        </p:nvSpPr>
        <p:spPr>
          <a:xfrm>
            <a:off x="1920240" y="2816352"/>
            <a:ext cx="1463040" cy="292608"/>
          </a:xfrm>
          <a:prstGeom prst="rect">
            <a:avLst/>
          </a:prstGeom>
          <a:solidFill>
            <a:srgbClr val="FFFFFF"/>
          </a:solidFill>
          <a:ln w="6350">
            <a:solidFill>
              <a:srgbClr val="D1D5DB"/>
            </a:solidFill>
            <a:prstDash val="solid"/>
          </a:ln>
        </p:spPr>
      </p:sp>
      <p:sp>
        <p:nvSpPr>
          <p:cNvPr id="60" name="Text 58"/>
          <p:cNvSpPr/>
          <p:nvPr/>
        </p:nvSpPr>
        <p:spPr>
          <a:xfrm>
            <a:off x="1965960" y="2816352"/>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a:t>
            </a:r>
            <a:endParaRPr lang="en-US" sz="1100" dirty="0"/>
          </a:p>
        </p:txBody>
      </p:sp>
      <p:sp>
        <p:nvSpPr>
          <p:cNvPr id="61" name="Shape 59"/>
          <p:cNvSpPr/>
          <p:nvPr/>
        </p:nvSpPr>
        <p:spPr>
          <a:xfrm>
            <a:off x="3383280" y="2816352"/>
            <a:ext cx="1463040" cy="292608"/>
          </a:xfrm>
          <a:prstGeom prst="rect">
            <a:avLst/>
          </a:prstGeom>
          <a:solidFill>
            <a:srgbClr val="FFFFFF"/>
          </a:solidFill>
          <a:ln w="6350">
            <a:solidFill>
              <a:srgbClr val="D1D5DB"/>
            </a:solidFill>
            <a:prstDash val="solid"/>
          </a:ln>
        </p:spPr>
      </p:sp>
      <p:sp>
        <p:nvSpPr>
          <p:cNvPr id="62" name="Text 60"/>
          <p:cNvSpPr/>
          <p:nvPr/>
        </p:nvSpPr>
        <p:spPr>
          <a:xfrm>
            <a:off x="3429000" y="2816352"/>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a:t>
            </a:r>
            <a:endParaRPr lang="en-US" sz="1100" dirty="0"/>
          </a:p>
        </p:txBody>
      </p:sp>
      <p:sp>
        <p:nvSpPr>
          <p:cNvPr id="63" name="Shape 61"/>
          <p:cNvSpPr/>
          <p:nvPr/>
        </p:nvSpPr>
        <p:spPr>
          <a:xfrm>
            <a:off x="4846320" y="2816352"/>
            <a:ext cx="1280160" cy="292608"/>
          </a:xfrm>
          <a:prstGeom prst="rect">
            <a:avLst/>
          </a:prstGeom>
          <a:solidFill>
            <a:srgbClr val="FFFFFF"/>
          </a:solidFill>
          <a:ln w="6350">
            <a:solidFill>
              <a:srgbClr val="D1D5DB"/>
            </a:solidFill>
            <a:prstDash val="solid"/>
          </a:ln>
        </p:spPr>
      </p:sp>
      <p:sp>
        <p:nvSpPr>
          <p:cNvPr id="64" name="Text 62"/>
          <p:cNvSpPr/>
          <p:nvPr/>
        </p:nvSpPr>
        <p:spPr>
          <a:xfrm>
            <a:off x="4892040" y="2816352"/>
            <a:ext cx="1188720" cy="292608"/>
          </a:xfrm>
          <a:prstGeom prst="rect">
            <a:avLst/>
          </a:prstGeom>
          <a:noFill/>
          <a:ln/>
        </p:spPr>
        <p:txBody>
          <a:bodyPr wrap="square" lIns="0" tIns="0" rIns="0" bIns="0" rtlCol="0" anchor="ctr"/>
          <a:lstStyle/>
          <a:p>
            <a:pPr algn="ctr" indent="0" marL="0">
              <a:buNone/>
            </a:pPr>
            <a:r>
              <a:rPr lang="en-US" sz="1100" b="1" dirty="0">
                <a:solidFill>
                  <a:srgbClr val="0891B2"/>
                </a:solidFill>
                <a:latin typeface="Consolas" pitchFamily="34" charset="0"/>
                <a:ea typeface="Consolas" pitchFamily="34" charset="-122"/>
                <a:cs typeface="Consolas" pitchFamily="34" charset="-120"/>
              </a:rPr>
              <a:t>0.9x</a:t>
            </a:r>
            <a:endParaRPr lang="en-US" sz="1100" dirty="0"/>
          </a:p>
        </p:txBody>
      </p:sp>
      <p:sp>
        <p:nvSpPr>
          <p:cNvPr id="65" name="Shape 63"/>
          <p:cNvSpPr/>
          <p:nvPr/>
        </p:nvSpPr>
        <p:spPr>
          <a:xfrm>
            <a:off x="6126480" y="2816352"/>
            <a:ext cx="2286000" cy="292608"/>
          </a:xfrm>
          <a:prstGeom prst="rect">
            <a:avLst/>
          </a:prstGeom>
          <a:solidFill>
            <a:srgbClr val="FFFFFF"/>
          </a:solidFill>
          <a:ln w="6350">
            <a:solidFill>
              <a:srgbClr val="D1D5DB"/>
            </a:solidFill>
            <a:prstDash val="solid"/>
          </a:ln>
        </p:spPr>
      </p:sp>
      <p:sp>
        <p:nvSpPr>
          <p:cNvPr id="66" name="Text 64"/>
          <p:cNvSpPr/>
          <p:nvPr/>
        </p:nvSpPr>
        <p:spPr>
          <a:xfrm>
            <a:off x="6172200" y="2816352"/>
            <a:ext cx="219456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78%</a:t>
            </a:r>
            <a:endParaRPr lang="en-US" sz="1100" dirty="0"/>
          </a:p>
        </p:txBody>
      </p:sp>
      <p:sp>
        <p:nvSpPr>
          <p:cNvPr id="67" name="Shape 65"/>
          <p:cNvSpPr/>
          <p:nvPr/>
        </p:nvSpPr>
        <p:spPr>
          <a:xfrm>
            <a:off x="640080" y="3108960"/>
            <a:ext cx="1280160" cy="292608"/>
          </a:xfrm>
          <a:prstGeom prst="rect">
            <a:avLst/>
          </a:prstGeom>
          <a:solidFill>
            <a:srgbClr val="F3F4F6"/>
          </a:solidFill>
          <a:ln w="6350">
            <a:solidFill>
              <a:srgbClr val="D1D5DB"/>
            </a:solidFill>
            <a:prstDash val="solid"/>
          </a:ln>
        </p:spPr>
      </p:sp>
      <p:sp>
        <p:nvSpPr>
          <p:cNvPr id="68" name="Text 66"/>
          <p:cNvSpPr/>
          <p:nvPr/>
        </p:nvSpPr>
        <p:spPr>
          <a:xfrm>
            <a:off x="685800" y="3108960"/>
            <a:ext cx="1188720" cy="292608"/>
          </a:xfrm>
          <a:prstGeom prst="rect">
            <a:avLst/>
          </a:prstGeom>
          <a:noFill/>
          <a:ln/>
        </p:spPr>
        <p:txBody>
          <a:bodyPr wrap="square" lIns="0" tIns="0" rIns="0" bIns="0" rtlCol="0" anchor="ctr"/>
          <a:lstStyle/>
          <a:p>
            <a:pPr algn="l" indent="0" marL="0">
              <a:buNone/>
            </a:pPr>
            <a:r>
              <a:rPr lang="en-US" sz="1100" dirty="0">
                <a:solidFill>
                  <a:srgbClr val="374151"/>
                </a:solidFill>
                <a:latin typeface="Arial" pitchFamily="34" charset="0"/>
                <a:ea typeface="Arial" pitchFamily="34" charset="-122"/>
                <a:cs typeface="Arial" pitchFamily="34" charset="-120"/>
              </a:rPr>
              <a:t>6-10</a:t>
            </a:r>
            <a:endParaRPr lang="en-US" sz="1100" dirty="0"/>
          </a:p>
        </p:txBody>
      </p:sp>
      <p:sp>
        <p:nvSpPr>
          <p:cNvPr id="69" name="Shape 67"/>
          <p:cNvSpPr/>
          <p:nvPr/>
        </p:nvSpPr>
        <p:spPr>
          <a:xfrm>
            <a:off x="1920240" y="3108960"/>
            <a:ext cx="1463040" cy="292608"/>
          </a:xfrm>
          <a:prstGeom prst="rect">
            <a:avLst/>
          </a:prstGeom>
          <a:solidFill>
            <a:srgbClr val="F3F4F6"/>
          </a:solidFill>
          <a:ln w="6350">
            <a:solidFill>
              <a:srgbClr val="D1D5DB"/>
            </a:solidFill>
            <a:prstDash val="solid"/>
          </a:ln>
        </p:spPr>
      </p:sp>
      <p:sp>
        <p:nvSpPr>
          <p:cNvPr id="70" name="Text 68"/>
          <p:cNvSpPr/>
          <p:nvPr/>
        </p:nvSpPr>
        <p:spPr>
          <a:xfrm>
            <a:off x="1965960" y="3108960"/>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50%</a:t>
            </a:r>
            <a:endParaRPr lang="en-US" sz="1100" dirty="0"/>
          </a:p>
        </p:txBody>
      </p:sp>
      <p:sp>
        <p:nvSpPr>
          <p:cNvPr id="71" name="Shape 69"/>
          <p:cNvSpPr/>
          <p:nvPr/>
        </p:nvSpPr>
        <p:spPr>
          <a:xfrm>
            <a:off x="3383280" y="3108960"/>
            <a:ext cx="1463040" cy="292608"/>
          </a:xfrm>
          <a:prstGeom prst="rect">
            <a:avLst/>
          </a:prstGeom>
          <a:solidFill>
            <a:srgbClr val="F3F4F6"/>
          </a:solidFill>
          <a:ln w="6350">
            <a:solidFill>
              <a:srgbClr val="D1D5DB"/>
            </a:solidFill>
            <a:prstDash val="solid"/>
          </a:ln>
        </p:spPr>
      </p:sp>
      <p:sp>
        <p:nvSpPr>
          <p:cNvPr id="72" name="Text 70"/>
          <p:cNvSpPr/>
          <p:nvPr/>
        </p:nvSpPr>
        <p:spPr>
          <a:xfrm>
            <a:off x="3429000" y="3108960"/>
            <a:ext cx="137160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5%</a:t>
            </a:r>
            <a:endParaRPr lang="en-US" sz="1100" dirty="0"/>
          </a:p>
        </p:txBody>
      </p:sp>
      <p:sp>
        <p:nvSpPr>
          <p:cNvPr id="73" name="Shape 71"/>
          <p:cNvSpPr/>
          <p:nvPr/>
        </p:nvSpPr>
        <p:spPr>
          <a:xfrm>
            <a:off x="4846320" y="3108960"/>
            <a:ext cx="1280160" cy="292608"/>
          </a:xfrm>
          <a:prstGeom prst="rect">
            <a:avLst/>
          </a:prstGeom>
          <a:solidFill>
            <a:srgbClr val="F3F4F6"/>
          </a:solidFill>
          <a:ln w="6350">
            <a:solidFill>
              <a:srgbClr val="D1D5DB"/>
            </a:solidFill>
            <a:prstDash val="solid"/>
          </a:ln>
        </p:spPr>
      </p:sp>
      <p:sp>
        <p:nvSpPr>
          <p:cNvPr id="74" name="Text 72"/>
          <p:cNvSpPr/>
          <p:nvPr/>
        </p:nvSpPr>
        <p:spPr>
          <a:xfrm>
            <a:off x="4892040" y="3108960"/>
            <a:ext cx="1188720" cy="292608"/>
          </a:xfrm>
          <a:prstGeom prst="rect">
            <a:avLst/>
          </a:prstGeom>
          <a:noFill/>
          <a:ln/>
        </p:spPr>
        <p:txBody>
          <a:bodyPr wrap="square" lIns="0" tIns="0" rIns="0" bIns="0" rtlCol="0" anchor="ctr"/>
          <a:lstStyle/>
          <a:p>
            <a:pPr algn="ctr" indent="0" marL="0">
              <a:buNone/>
            </a:pPr>
            <a:r>
              <a:rPr lang="en-US" sz="1100" b="1" dirty="0">
                <a:solidFill>
                  <a:srgbClr val="0891B2"/>
                </a:solidFill>
                <a:latin typeface="Consolas" pitchFamily="34" charset="0"/>
                <a:ea typeface="Consolas" pitchFamily="34" charset="-122"/>
                <a:cs typeface="Consolas" pitchFamily="34" charset="-120"/>
              </a:rPr>
              <a:t>0.5x</a:t>
            </a:r>
            <a:endParaRPr lang="en-US" sz="1100" dirty="0"/>
          </a:p>
        </p:txBody>
      </p:sp>
      <p:sp>
        <p:nvSpPr>
          <p:cNvPr id="75" name="Shape 73"/>
          <p:cNvSpPr/>
          <p:nvPr/>
        </p:nvSpPr>
        <p:spPr>
          <a:xfrm>
            <a:off x="6126480" y="3108960"/>
            <a:ext cx="2286000" cy="292608"/>
          </a:xfrm>
          <a:prstGeom prst="rect">
            <a:avLst/>
          </a:prstGeom>
          <a:solidFill>
            <a:srgbClr val="F3F4F6"/>
          </a:solidFill>
          <a:ln w="6350">
            <a:solidFill>
              <a:srgbClr val="D1D5DB"/>
            </a:solidFill>
            <a:prstDash val="solid"/>
          </a:ln>
        </p:spPr>
      </p:sp>
      <p:sp>
        <p:nvSpPr>
          <p:cNvPr id="76" name="Text 74"/>
          <p:cNvSpPr/>
          <p:nvPr/>
        </p:nvSpPr>
        <p:spPr>
          <a:xfrm>
            <a:off x="6172200" y="3108960"/>
            <a:ext cx="2194560" cy="292608"/>
          </a:xfrm>
          <a:prstGeom prst="rect">
            <a:avLst/>
          </a:prstGeom>
          <a:noFill/>
          <a:ln/>
        </p:spPr>
        <p:txBody>
          <a:bodyPr wrap="square" lIns="0" tIns="0" rIns="0" bIns="0" rtlCol="0" anchor="ctr"/>
          <a:lstStyle/>
          <a:p>
            <a:pPr algn="ctr" indent="0" marL="0">
              <a:buNone/>
            </a:pPr>
            <a:r>
              <a:rPr lang="en-US" sz="1100" dirty="0">
                <a:solidFill>
                  <a:srgbClr val="374151"/>
                </a:solidFill>
                <a:latin typeface="Arial" pitchFamily="34" charset="0"/>
                <a:ea typeface="Arial" pitchFamily="34" charset="-122"/>
                <a:cs typeface="Arial" pitchFamily="34" charset="-120"/>
              </a:rPr>
              <a:t>100%</a:t>
            </a:r>
            <a:endParaRPr lang="en-US" sz="1100" dirty="0"/>
          </a:p>
        </p:txBody>
      </p:sp>
      <p:sp>
        <p:nvSpPr>
          <p:cNvPr id="77" name="Shape 75"/>
          <p:cNvSpPr/>
          <p:nvPr/>
        </p:nvSpPr>
        <p:spPr>
          <a:xfrm>
            <a:off x="640080" y="3657600"/>
            <a:ext cx="7863840" cy="868680"/>
          </a:xfrm>
          <a:prstGeom prst="rect">
            <a:avLst/>
          </a:prstGeom>
          <a:solidFill>
            <a:srgbClr val="E0F7FA"/>
          </a:solidFill>
          <a:ln w="12700">
            <a:solidFill>
              <a:srgbClr val="0891B2"/>
            </a:solidFill>
            <a:prstDash val="solid"/>
          </a:ln>
        </p:spPr>
      </p:sp>
      <p:sp>
        <p:nvSpPr>
          <p:cNvPr id="78" name="Text 76"/>
          <p:cNvSpPr/>
          <p:nvPr/>
        </p:nvSpPr>
        <p:spPr>
          <a:xfrm>
            <a:off x="822960" y="3749040"/>
            <a:ext cx="7498080" cy="68580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Read it like a campaign manager: 'If we send to the top 30% (3 deciles), we capture 59% of all responders at ~2x the base rate.' That's the answer to 'who do we target?' — not 'which model has higher AUC.'</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1188720"/>
            <a:ext cx="2286000" cy="1280160"/>
          </a:xfrm>
          <a:prstGeom prst="rect">
            <a:avLst/>
          </a:prstGeom>
          <a:noFill/>
          <a:ln/>
        </p:spPr>
        <p:txBody>
          <a:bodyPr wrap="square" lIns="0" tIns="0" rIns="0" bIns="0" rtlCol="0" anchor="ctr"/>
          <a:lstStyle/>
          <a:p>
            <a:pPr indent="0" marL="0">
              <a:buNone/>
            </a:pPr>
            <a:r>
              <a:rPr lang="en-US" sz="8000" b="1" dirty="0">
                <a:solidFill>
                  <a:srgbClr val="0891B2"/>
                </a:solidFill>
                <a:latin typeface="Arial" pitchFamily="34" charset="0"/>
                <a:ea typeface="Arial" pitchFamily="34" charset="-122"/>
                <a:cs typeface="Arial" pitchFamily="34" charset="-120"/>
              </a:rPr>
              <a:t>04</a:t>
            </a:r>
            <a:endParaRPr lang="en-US" sz="8000" dirty="0"/>
          </a:p>
        </p:txBody>
      </p:sp>
      <p:sp>
        <p:nvSpPr>
          <p:cNvPr id="4" name="Shape 2"/>
          <p:cNvSpPr/>
          <p:nvPr/>
        </p:nvSpPr>
        <p:spPr>
          <a:xfrm>
            <a:off x="640080" y="2606040"/>
            <a:ext cx="3200400" cy="0"/>
          </a:xfrm>
          <a:prstGeom prst="line">
            <a:avLst/>
          </a:prstGeom>
          <a:noFill/>
          <a:ln w="31750">
            <a:solidFill>
              <a:srgbClr val="0891B2"/>
            </a:solidFill>
            <a:prstDash val="solid"/>
          </a:ln>
        </p:spPr>
      </p:sp>
      <p:sp>
        <p:nvSpPr>
          <p:cNvPr id="5" name="Text 3"/>
          <p:cNvSpPr/>
          <p:nvPr/>
        </p:nvSpPr>
        <p:spPr>
          <a:xfrm>
            <a:off x="640080" y="2788920"/>
            <a:ext cx="786384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Segment</a:t>
            </a:r>
            <a:endParaRPr lang="en-US" sz="3600" dirty="0"/>
          </a:p>
        </p:txBody>
      </p:sp>
      <p:sp>
        <p:nvSpPr>
          <p:cNvPr id="6" name="Text 4"/>
          <p:cNvSpPr/>
          <p:nvPr/>
        </p:nvSpPr>
        <p:spPr>
          <a:xfrm>
            <a:off x="640080" y="3520440"/>
            <a:ext cx="786384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How many real types of customer do we have?</a:t>
            </a:r>
            <a:endParaRPr lang="en-US" sz="1600" dirty="0"/>
          </a:p>
        </p:txBody>
      </p:sp>
      <p:sp>
        <p:nvSpPr>
          <p:cNvPr id="7" name="Text 5"/>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4 — single view</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Customer Single View</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One row per customer. Every behavior collapsed.</a:t>
            </a:r>
            <a:endParaRPr lang="en-US" sz="1300" dirty="0"/>
          </a:p>
        </p:txBody>
      </p:sp>
      <p:sp>
        <p:nvSpPr>
          <p:cNvPr id="7" name="Shape 5"/>
          <p:cNvSpPr/>
          <p:nvPr/>
        </p:nvSpPr>
        <p:spPr>
          <a:xfrm>
            <a:off x="640080" y="1280160"/>
            <a:ext cx="2468880" cy="2377440"/>
          </a:xfrm>
          <a:prstGeom prst="rect">
            <a:avLst/>
          </a:prstGeom>
          <a:solidFill>
            <a:srgbClr val="F3F4F6"/>
          </a:solidFill>
          <a:ln w="6350">
            <a:solidFill>
              <a:srgbClr val="D1D5DB"/>
            </a:solidFill>
            <a:prstDash val="solid"/>
          </a:ln>
        </p:spPr>
      </p:sp>
      <p:sp>
        <p:nvSpPr>
          <p:cNvPr id="8" name="Shape 6"/>
          <p:cNvSpPr/>
          <p:nvPr/>
        </p:nvSpPr>
        <p:spPr>
          <a:xfrm>
            <a:off x="640080" y="1280160"/>
            <a:ext cx="2468880" cy="64008"/>
          </a:xfrm>
          <a:prstGeom prst="rect">
            <a:avLst/>
          </a:prstGeom>
          <a:solidFill>
            <a:srgbClr val="0891B2"/>
          </a:solidFill>
          <a:ln/>
        </p:spPr>
      </p:sp>
      <p:sp>
        <p:nvSpPr>
          <p:cNvPr id="9" name="Text 7"/>
          <p:cNvSpPr/>
          <p:nvPr/>
        </p:nvSpPr>
        <p:spPr>
          <a:xfrm>
            <a:off x="777240" y="1417320"/>
            <a:ext cx="219456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RFM core</a:t>
            </a:r>
            <a:endParaRPr lang="en-US" sz="1400" dirty="0"/>
          </a:p>
        </p:txBody>
      </p:sp>
      <p:sp>
        <p:nvSpPr>
          <p:cNvPr id="10" name="Text 8"/>
          <p:cNvSpPr/>
          <p:nvPr/>
        </p:nvSpPr>
        <p:spPr>
          <a:xfrm>
            <a:off x="822960" y="1783080"/>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recency (days)</a:t>
            </a:r>
            <a:endParaRPr lang="en-US" sz="1100" dirty="0"/>
          </a:p>
        </p:txBody>
      </p:sp>
      <p:sp>
        <p:nvSpPr>
          <p:cNvPr id="11" name="Text 9"/>
          <p:cNvSpPr/>
          <p:nvPr/>
        </p:nvSpPr>
        <p:spPr>
          <a:xfrm>
            <a:off x="822960" y="2075688"/>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frequency (visits)</a:t>
            </a:r>
            <a:endParaRPr lang="en-US" sz="1100" dirty="0"/>
          </a:p>
        </p:txBody>
      </p:sp>
      <p:sp>
        <p:nvSpPr>
          <p:cNvPr id="12" name="Text 10"/>
          <p:cNvSpPr/>
          <p:nvPr/>
        </p:nvSpPr>
        <p:spPr>
          <a:xfrm>
            <a:off x="822960" y="2368296"/>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monetary (baht)</a:t>
            </a:r>
            <a:endParaRPr lang="en-US" sz="1100" dirty="0"/>
          </a:p>
        </p:txBody>
      </p:sp>
      <p:sp>
        <p:nvSpPr>
          <p:cNvPr id="13" name="Text 11"/>
          <p:cNvSpPr/>
          <p:nvPr/>
        </p:nvSpPr>
        <p:spPr>
          <a:xfrm>
            <a:off x="822960" y="2660904"/>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avg_ticket</a:t>
            </a:r>
            <a:endParaRPr lang="en-US" sz="1100" dirty="0"/>
          </a:p>
        </p:txBody>
      </p:sp>
      <p:sp>
        <p:nvSpPr>
          <p:cNvPr id="14" name="Shape 12"/>
          <p:cNvSpPr/>
          <p:nvPr/>
        </p:nvSpPr>
        <p:spPr>
          <a:xfrm>
            <a:off x="3337560" y="1280160"/>
            <a:ext cx="2468880" cy="2377440"/>
          </a:xfrm>
          <a:prstGeom prst="rect">
            <a:avLst/>
          </a:prstGeom>
          <a:solidFill>
            <a:srgbClr val="F3F4F6"/>
          </a:solidFill>
          <a:ln w="6350">
            <a:solidFill>
              <a:srgbClr val="D1D5DB"/>
            </a:solidFill>
            <a:prstDash val="solid"/>
          </a:ln>
        </p:spPr>
      </p:sp>
      <p:sp>
        <p:nvSpPr>
          <p:cNvPr id="15" name="Shape 13"/>
          <p:cNvSpPr/>
          <p:nvPr/>
        </p:nvSpPr>
        <p:spPr>
          <a:xfrm>
            <a:off x="3337560" y="1280160"/>
            <a:ext cx="2468880" cy="64008"/>
          </a:xfrm>
          <a:prstGeom prst="rect">
            <a:avLst/>
          </a:prstGeom>
          <a:solidFill>
            <a:srgbClr val="0891B2"/>
          </a:solidFill>
          <a:ln/>
        </p:spPr>
      </p:sp>
      <p:sp>
        <p:nvSpPr>
          <p:cNvPr id="16" name="Text 14"/>
          <p:cNvSpPr/>
          <p:nvPr/>
        </p:nvSpPr>
        <p:spPr>
          <a:xfrm>
            <a:off x="3474720" y="1417320"/>
            <a:ext cx="219456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Channel mix</a:t>
            </a:r>
            <a:endParaRPr lang="en-US" sz="1400" dirty="0"/>
          </a:p>
        </p:txBody>
      </p:sp>
      <p:sp>
        <p:nvSpPr>
          <p:cNvPr id="17" name="Text 15"/>
          <p:cNvSpPr/>
          <p:nvPr/>
        </p:nvSpPr>
        <p:spPr>
          <a:xfrm>
            <a:off x="3520440" y="1783080"/>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app_share</a:t>
            </a:r>
            <a:endParaRPr lang="en-US" sz="1100" dirty="0"/>
          </a:p>
        </p:txBody>
      </p:sp>
      <p:sp>
        <p:nvSpPr>
          <p:cNvPr id="18" name="Text 16"/>
          <p:cNvSpPr/>
          <p:nvPr/>
        </p:nvSpPr>
        <p:spPr>
          <a:xfrm>
            <a:off x="3520440" y="2075688"/>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delivery_share</a:t>
            </a:r>
            <a:endParaRPr lang="en-US" sz="1100" dirty="0"/>
          </a:p>
        </p:txBody>
      </p:sp>
      <p:sp>
        <p:nvSpPr>
          <p:cNvPr id="19" name="Text 17"/>
          <p:cNvSpPr/>
          <p:nvPr/>
        </p:nvSpPr>
        <p:spPr>
          <a:xfrm>
            <a:off x="3520440" y="2368296"/>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dinein_share</a:t>
            </a:r>
            <a:endParaRPr lang="en-US" sz="1100" dirty="0"/>
          </a:p>
        </p:txBody>
      </p:sp>
      <p:sp>
        <p:nvSpPr>
          <p:cNvPr id="20" name="Text 18"/>
          <p:cNvSpPr/>
          <p:nvPr/>
        </p:nvSpPr>
        <p:spPr>
          <a:xfrm>
            <a:off x="3520440" y="2660904"/>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weekend_share</a:t>
            </a:r>
            <a:endParaRPr lang="en-US" sz="1100" dirty="0"/>
          </a:p>
        </p:txBody>
      </p:sp>
      <p:sp>
        <p:nvSpPr>
          <p:cNvPr id="21" name="Shape 19"/>
          <p:cNvSpPr/>
          <p:nvPr/>
        </p:nvSpPr>
        <p:spPr>
          <a:xfrm>
            <a:off x="6035040" y="1280160"/>
            <a:ext cx="2468880" cy="2377440"/>
          </a:xfrm>
          <a:prstGeom prst="rect">
            <a:avLst/>
          </a:prstGeom>
          <a:solidFill>
            <a:srgbClr val="F3F4F6"/>
          </a:solidFill>
          <a:ln w="6350">
            <a:solidFill>
              <a:srgbClr val="D1D5DB"/>
            </a:solidFill>
            <a:prstDash val="solid"/>
          </a:ln>
        </p:spPr>
      </p:sp>
      <p:sp>
        <p:nvSpPr>
          <p:cNvPr id="22" name="Shape 20"/>
          <p:cNvSpPr/>
          <p:nvPr/>
        </p:nvSpPr>
        <p:spPr>
          <a:xfrm>
            <a:off x="6035040" y="1280160"/>
            <a:ext cx="2468880" cy="64008"/>
          </a:xfrm>
          <a:prstGeom prst="rect">
            <a:avLst/>
          </a:prstGeom>
          <a:solidFill>
            <a:srgbClr val="0891B2"/>
          </a:solidFill>
          <a:ln/>
        </p:spPr>
      </p:sp>
      <p:sp>
        <p:nvSpPr>
          <p:cNvPr id="23" name="Text 21"/>
          <p:cNvSpPr/>
          <p:nvPr/>
        </p:nvSpPr>
        <p:spPr>
          <a:xfrm>
            <a:off x="6172200" y="1417320"/>
            <a:ext cx="219456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Behavior depth</a:t>
            </a:r>
            <a:endParaRPr lang="en-US" sz="1400" dirty="0"/>
          </a:p>
        </p:txBody>
      </p:sp>
      <p:sp>
        <p:nvSpPr>
          <p:cNvPr id="24" name="Text 22"/>
          <p:cNvSpPr/>
          <p:nvPr/>
        </p:nvSpPr>
        <p:spPr>
          <a:xfrm>
            <a:off x="6217920" y="1783080"/>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promo_share</a:t>
            </a:r>
            <a:endParaRPr lang="en-US" sz="1100" dirty="0"/>
          </a:p>
        </p:txBody>
      </p:sp>
      <p:sp>
        <p:nvSpPr>
          <p:cNvPr id="25" name="Text 23"/>
          <p:cNvSpPr/>
          <p:nvPr/>
        </p:nvSpPr>
        <p:spPr>
          <a:xfrm>
            <a:off x="6217920" y="2075688"/>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avg_basket_size</a:t>
            </a:r>
            <a:endParaRPr lang="en-US" sz="1100" dirty="0"/>
          </a:p>
        </p:txBody>
      </p:sp>
      <p:sp>
        <p:nvSpPr>
          <p:cNvPr id="26" name="Text 24"/>
          <p:cNvSpPr/>
          <p:nvPr/>
        </p:nvSpPr>
        <p:spPr>
          <a:xfrm>
            <a:off x="6217920" y="2368296"/>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tenure_days</a:t>
            </a:r>
            <a:endParaRPr lang="en-US" sz="1100" dirty="0"/>
          </a:p>
        </p:txBody>
      </p:sp>
      <p:sp>
        <p:nvSpPr>
          <p:cNvPr id="27" name="Text 25"/>
          <p:cNvSpPr/>
          <p:nvPr/>
        </p:nvSpPr>
        <p:spPr>
          <a:xfrm>
            <a:off x="6217920" y="2660904"/>
            <a:ext cx="2148840" cy="27432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  active_span</a:t>
            </a:r>
            <a:endParaRPr lang="en-US" sz="1100" dirty="0"/>
          </a:p>
        </p:txBody>
      </p:sp>
      <p:sp>
        <p:nvSpPr>
          <p:cNvPr id="28" name="Shape 26"/>
          <p:cNvSpPr/>
          <p:nvPr/>
        </p:nvSpPr>
        <p:spPr>
          <a:xfrm>
            <a:off x="640080" y="3840480"/>
            <a:ext cx="7863840" cy="777240"/>
          </a:xfrm>
          <a:prstGeom prst="rect">
            <a:avLst/>
          </a:prstGeom>
          <a:solidFill>
            <a:srgbClr val="E0F7FA"/>
          </a:solidFill>
          <a:ln w="12700">
            <a:solidFill>
              <a:srgbClr val="0891B2"/>
            </a:solidFill>
            <a:prstDash val="solid"/>
          </a:ln>
        </p:spPr>
      </p:sp>
      <p:sp>
        <p:nvSpPr>
          <p:cNvPr id="29" name="Text 27"/>
          <p:cNvSpPr/>
          <p:nvPr/>
        </p:nvSpPr>
        <p:spPr>
          <a:xfrm>
            <a:off x="822960" y="3931920"/>
            <a:ext cx="7498080" cy="59436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single view is the unsung hero of analytics. It is what you build once and reuse for segmentation, churn, LTV, and recommendation. Most data debt at retail clients is the absence of this table.</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4 — clusters</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K-means + silhouette</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Pick k by data, not by gut. Then name the clusters from their profiles.</a:t>
            </a:r>
            <a:endParaRPr lang="en-US" sz="1300" dirty="0"/>
          </a:p>
        </p:txBody>
      </p:sp>
      <p:sp>
        <p:nvSpPr>
          <p:cNvPr id="7" name="Shape 5"/>
          <p:cNvSpPr/>
          <p:nvPr/>
        </p:nvSpPr>
        <p:spPr>
          <a:xfrm>
            <a:off x="640080" y="1280160"/>
            <a:ext cx="3749040" cy="1143000"/>
          </a:xfrm>
          <a:prstGeom prst="rect">
            <a:avLst/>
          </a:prstGeom>
          <a:solidFill>
            <a:srgbClr val="F3F4F6"/>
          </a:solidFill>
          <a:ln w="6350">
            <a:solidFill>
              <a:srgbClr val="D1D5DB"/>
            </a:solidFill>
            <a:prstDash val="solid"/>
          </a:ln>
        </p:spPr>
      </p:sp>
      <p:sp>
        <p:nvSpPr>
          <p:cNvPr id="8" name="Shape 6"/>
          <p:cNvSpPr/>
          <p:nvPr/>
        </p:nvSpPr>
        <p:spPr>
          <a:xfrm>
            <a:off x="640080" y="1280160"/>
            <a:ext cx="73152" cy="1143000"/>
          </a:xfrm>
          <a:prstGeom prst="rect">
            <a:avLst/>
          </a:prstGeom>
          <a:solidFill>
            <a:srgbClr val="0891B2"/>
          </a:solidFill>
          <a:ln/>
        </p:spPr>
      </p:sp>
      <p:sp>
        <p:nvSpPr>
          <p:cNvPr id="9" name="Text 7"/>
          <p:cNvSpPr/>
          <p:nvPr/>
        </p:nvSpPr>
        <p:spPr>
          <a:xfrm>
            <a:off x="822960" y="1371600"/>
            <a:ext cx="3474720" cy="32004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Daily Loyalists</a:t>
            </a:r>
            <a:endParaRPr lang="en-US" sz="1600" dirty="0"/>
          </a:p>
        </p:txBody>
      </p:sp>
      <p:sp>
        <p:nvSpPr>
          <p:cNvPr id="10" name="Text 8"/>
          <p:cNvSpPr/>
          <p:nvPr/>
        </p:nvSpPr>
        <p:spPr>
          <a:xfrm>
            <a:off x="822960" y="1737360"/>
            <a:ext cx="3474720" cy="54864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freq ~ 149  •  recency ~ 7d  •  monetary ~ 18K</a:t>
            </a:r>
            <a:endParaRPr lang="en-US" sz="1100" dirty="0"/>
          </a:p>
        </p:txBody>
      </p:sp>
      <p:sp>
        <p:nvSpPr>
          <p:cNvPr id="11" name="Shape 9"/>
          <p:cNvSpPr/>
          <p:nvPr/>
        </p:nvSpPr>
        <p:spPr>
          <a:xfrm>
            <a:off x="4663440" y="1280160"/>
            <a:ext cx="3749040" cy="1143000"/>
          </a:xfrm>
          <a:prstGeom prst="rect">
            <a:avLst/>
          </a:prstGeom>
          <a:solidFill>
            <a:srgbClr val="F3F4F6"/>
          </a:solidFill>
          <a:ln w="6350">
            <a:solidFill>
              <a:srgbClr val="D1D5DB"/>
            </a:solidFill>
            <a:prstDash val="solid"/>
          </a:ln>
        </p:spPr>
      </p:sp>
      <p:sp>
        <p:nvSpPr>
          <p:cNvPr id="12" name="Shape 10"/>
          <p:cNvSpPr/>
          <p:nvPr/>
        </p:nvSpPr>
        <p:spPr>
          <a:xfrm>
            <a:off x="4663440" y="1280160"/>
            <a:ext cx="73152" cy="1143000"/>
          </a:xfrm>
          <a:prstGeom prst="rect">
            <a:avLst/>
          </a:prstGeom>
          <a:solidFill>
            <a:srgbClr val="D97706"/>
          </a:solidFill>
          <a:ln/>
        </p:spPr>
      </p:sp>
      <p:sp>
        <p:nvSpPr>
          <p:cNvPr id="13" name="Text 11"/>
          <p:cNvSpPr/>
          <p:nvPr/>
        </p:nvSpPr>
        <p:spPr>
          <a:xfrm>
            <a:off x="4846320" y="1371600"/>
            <a:ext cx="3474720" cy="32004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Weekend Brunchers</a:t>
            </a:r>
            <a:endParaRPr lang="en-US" sz="1600" dirty="0"/>
          </a:p>
        </p:txBody>
      </p:sp>
      <p:sp>
        <p:nvSpPr>
          <p:cNvPr id="14" name="Text 12"/>
          <p:cNvSpPr/>
          <p:nvPr/>
        </p:nvSpPr>
        <p:spPr>
          <a:xfrm>
            <a:off x="4846320" y="1737360"/>
            <a:ext cx="3474720" cy="54864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freq ~ 45   •  weekend_share &gt; 45%  •  bigger ticket</a:t>
            </a:r>
            <a:endParaRPr lang="en-US" sz="1100" dirty="0"/>
          </a:p>
        </p:txBody>
      </p:sp>
      <p:sp>
        <p:nvSpPr>
          <p:cNvPr id="15" name="Shape 13"/>
          <p:cNvSpPr/>
          <p:nvPr/>
        </p:nvSpPr>
        <p:spPr>
          <a:xfrm>
            <a:off x="640080" y="2606040"/>
            <a:ext cx="3749040" cy="1143000"/>
          </a:xfrm>
          <a:prstGeom prst="rect">
            <a:avLst/>
          </a:prstGeom>
          <a:solidFill>
            <a:srgbClr val="F3F4F6"/>
          </a:solidFill>
          <a:ln w="6350">
            <a:solidFill>
              <a:srgbClr val="D1D5DB"/>
            </a:solidFill>
            <a:prstDash val="solid"/>
          </a:ln>
        </p:spPr>
      </p:sp>
      <p:sp>
        <p:nvSpPr>
          <p:cNvPr id="16" name="Shape 14"/>
          <p:cNvSpPr/>
          <p:nvPr/>
        </p:nvSpPr>
        <p:spPr>
          <a:xfrm>
            <a:off x="640080" y="2606040"/>
            <a:ext cx="73152" cy="1143000"/>
          </a:xfrm>
          <a:prstGeom prst="rect">
            <a:avLst/>
          </a:prstGeom>
          <a:solidFill>
            <a:srgbClr val="6D28D9"/>
          </a:solidFill>
          <a:ln/>
        </p:spPr>
      </p:sp>
      <p:sp>
        <p:nvSpPr>
          <p:cNvPr id="17" name="Text 15"/>
          <p:cNvSpPr/>
          <p:nvPr/>
        </p:nvSpPr>
        <p:spPr>
          <a:xfrm>
            <a:off x="822960" y="2697480"/>
            <a:ext cx="3474720" cy="32004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App Promo Hunters</a:t>
            </a:r>
            <a:endParaRPr lang="en-US" sz="1600" dirty="0"/>
          </a:p>
        </p:txBody>
      </p:sp>
      <p:sp>
        <p:nvSpPr>
          <p:cNvPr id="18" name="Text 16"/>
          <p:cNvSpPr/>
          <p:nvPr/>
        </p:nvSpPr>
        <p:spPr>
          <a:xfrm>
            <a:off x="822960" y="3063240"/>
            <a:ext cx="3474720" cy="54864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freq ~ 59   •  app_share &gt; 50%  •  promo_share elevated</a:t>
            </a:r>
            <a:endParaRPr lang="en-US" sz="1100" dirty="0"/>
          </a:p>
        </p:txBody>
      </p:sp>
      <p:sp>
        <p:nvSpPr>
          <p:cNvPr id="19" name="Shape 17"/>
          <p:cNvSpPr/>
          <p:nvPr/>
        </p:nvSpPr>
        <p:spPr>
          <a:xfrm>
            <a:off x="4663440" y="2606040"/>
            <a:ext cx="3749040" cy="1143000"/>
          </a:xfrm>
          <a:prstGeom prst="rect">
            <a:avLst/>
          </a:prstGeom>
          <a:solidFill>
            <a:srgbClr val="F3F4F6"/>
          </a:solidFill>
          <a:ln w="6350">
            <a:solidFill>
              <a:srgbClr val="D1D5DB"/>
            </a:solidFill>
            <a:prstDash val="solid"/>
          </a:ln>
        </p:spPr>
      </p:sp>
      <p:sp>
        <p:nvSpPr>
          <p:cNvPr id="20" name="Shape 18"/>
          <p:cNvSpPr/>
          <p:nvPr/>
        </p:nvSpPr>
        <p:spPr>
          <a:xfrm>
            <a:off x="4663440" y="2606040"/>
            <a:ext cx="73152" cy="1143000"/>
          </a:xfrm>
          <a:prstGeom prst="rect">
            <a:avLst/>
          </a:prstGeom>
          <a:solidFill>
            <a:srgbClr val="DC2626"/>
          </a:solidFill>
          <a:ln/>
        </p:spPr>
      </p:sp>
      <p:sp>
        <p:nvSpPr>
          <p:cNvPr id="21" name="Text 19"/>
          <p:cNvSpPr/>
          <p:nvPr/>
        </p:nvSpPr>
        <p:spPr>
          <a:xfrm>
            <a:off x="4846320" y="2697480"/>
            <a:ext cx="3474720" cy="320040"/>
          </a:xfrm>
          <a:prstGeom prst="rect">
            <a:avLst/>
          </a:prstGeom>
          <a:noFill/>
          <a:ln/>
        </p:spPr>
        <p:txBody>
          <a:bodyPr wrap="square" lIns="0" tIns="0" rIns="0" bIns="0" rtlCol="0" anchor="ctr"/>
          <a:lstStyle/>
          <a:p>
            <a:pPr indent="0" marL="0">
              <a:buNone/>
            </a:pPr>
            <a:r>
              <a:rPr lang="en-US" sz="1600" b="1" dirty="0">
                <a:solidFill>
                  <a:srgbClr val="1F2937"/>
                </a:solidFill>
                <a:latin typeface="Arial" pitchFamily="34" charset="0"/>
                <a:ea typeface="Arial" pitchFamily="34" charset="-122"/>
                <a:cs typeface="Arial" pitchFamily="34" charset="-120"/>
              </a:rPr>
              <a:t>Casual Drifters</a:t>
            </a:r>
            <a:endParaRPr lang="en-US" sz="1600" dirty="0"/>
          </a:p>
        </p:txBody>
      </p:sp>
      <p:sp>
        <p:nvSpPr>
          <p:cNvPr id="22" name="Text 20"/>
          <p:cNvSpPr/>
          <p:nvPr/>
        </p:nvSpPr>
        <p:spPr>
          <a:xfrm>
            <a:off x="4846320" y="3063240"/>
            <a:ext cx="3474720" cy="548640"/>
          </a:xfrm>
          <a:prstGeom prst="rect">
            <a:avLst/>
          </a:prstGeom>
          <a:noFill/>
          <a:ln/>
        </p:spPr>
        <p:txBody>
          <a:bodyPr wrap="square" lIns="0" tIns="0" rIns="0" bIns="0" rtlCol="0" anchor="ctr"/>
          <a:lstStyle/>
          <a:p>
            <a:pPr indent="0" marL="0">
              <a:buNone/>
            </a:pPr>
            <a:r>
              <a:rPr lang="en-US" sz="1100" dirty="0">
                <a:solidFill>
                  <a:srgbClr val="374151"/>
                </a:solidFill>
                <a:latin typeface="Consolas" pitchFamily="34" charset="0"/>
                <a:ea typeface="Consolas" pitchFamily="34" charset="-122"/>
                <a:cs typeface="Consolas" pitchFamily="34" charset="-120"/>
              </a:rPr>
              <a:t>freq ~ 16   •  recency ~ 66d  •  ~half lapse out</a:t>
            </a:r>
            <a:endParaRPr lang="en-US" sz="1100" dirty="0"/>
          </a:p>
        </p:txBody>
      </p:sp>
      <p:sp>
        <p:nvSpPr>
          <p:cNvPr id="23" name="Shape 21"/>
          <p:cNvSpPr/>
          <p:nvPr/>
        </p:nvSpPr>
        <p:spPr>
          <a:xfrm>
            <a:off x="640080" y="4023360"/>
            <a:ext cx="7863840" cy="502920"/>
          </a:xfrm>
          <a:prstGeom prst="rect">
            <a:avLst/>
          </a:prstGeom>
          <a:solidFill>
            <a:srgbClr val="E0F7FA"/>
          </a:solidFill>
          <a:ln w="12700">
            <a:solidFill>
              <a:srgbClr val="0891B2"/>
            </a:solidFill>
            <a:prstDash val="solid"/>
          </a:ln>
        </p:spPr>
      </p:sp>
      <p:sp>
        <p:nvSpPr>
          <p:cNvPr id="24" name="Text 22"/>
          <p:cNvSpPr/>
          <p:nvPr/>
        </p:nvSpPr>
        <p:spPr>
          <a:xfrm>
            <a:off x="822960" y="4114800"/>
            <a:ext cx="7498080" cy="32004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cross-tab against the engineered ground-truth labels validates the clusters. In real client work you don't have ground truth — that's why you stress-test cluster stability with multiple k and seeds.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4 — recommendation</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Item-item recommendation + segment network</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Co-purchase similarity → segment ↔ top-product graph</a:t>
            </a:r>
            <a:endParaRPr lang="en-US" sz="1300" dirty="0"/>
          </a:p>
        </p:txBody>
      </p:sp>
      <p:sp>
        <p:nvSpPr>
          <p:cNvPr id="7" name="Text 5"/>
          <p:cNvSpPr/>
          <p:nvPr/>
        </p:nvSpPr>
        <p:spPr>
          <a:xfrm>
            <a:off x="640080" y="1280160"/>
            <a:ext cx="374904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Item-item cosine similarity</a:t>
            </a:r>
            <a:endParaRPr lang="en-US" sz="1400" dirty="0"/>
          </a:p>
        </p:txBody>
      </p:sp>
      <p:sp>
        <p:nvSpPr>
          <p:cNvPr id="8" name="Shape 6"/>
          <p:cNvSpPr/>
          <p:nvPr/>
        </p:nvSpPr>
        <p:spPr>
          <a:xfrm>
            <a:off x="640080" y="1645920"/>
            <a:ext cx="3749040" cy="1463040"/>
          </a:xfrm>
          <a:prstGeom prst="rect">
            <a:avLst/>
          </a:prstGeom>
          <a:solidFill>
            <a:srgbClr val="F3F4F6"/>
          </a:solidFill>
          <a:ln w="6350">
            <a:solidFill>
              <a:srgbClr val="D1D5DB"/>
            </a:solidFill>
            <a:prstDash val="solid"/>
          </a:ln>
        </p:spPr>
      </p:sp>
      <p:sp>
        <p:nvSpPr>
          <p:cNvPr id="9" name="Text 7"/>
          <p:cNvSpPr/>
          <p:nvPr/>
        </p:nvSpPr>
        <p:spPr>
          <a:xfrm>
            <a:off x="777240" y="1737360"/>
            <a:ext cx="3474720" cy="1280160"/>
          </a:xfrm>
          <a:prstGeom prst="rect">
            <a:avLst/>
          </a:prstGeom>
          <a:noFill/>
          <a:ln/>
        </p:spPr>
        <p:txBody>
          <a:bodyPr wrap="square" lIns="0" tIns="0" rIns="0" bIns="0" rtlCol="0" anchor="t"/>
          <a:lstStyle/>
          <a:p>
            <a:pPr indent="0" marL="0">
              <a:buNone/>
            </a:pPr>
            <a:r>
              <a:rPr lang="en-US" sz="1000" dirty="0">
                <a:solidFill>
                  <a:srgbClr val="374151"/>
                </a:solidFill>
                <a:latin typeface="Consolas" pitchFamily="34" charset="0"/>
                <a:ea typeface="Consolas" pitchFamily="34" charset="-122"/>
                <a:cs typeface="Consolas" pitchFamily="34" charset="-120"/>
              </a:rPr>
              <a:t>matrix = cp.pivot(</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index='customer_id',</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columns='product_id',</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values='n').fillna(0)</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sim = cosine_similarity(</a:t>
            </a:r>
            <a:endParaRPr lang="en-US" sz="1000" dirty="0"/>
          </a:p>
          <a:p>
            <a:pPr indent="0" marL="0">
              <a:buNone/>
            </a:pPr>
            <a:r>
              <a:rPr lang="en-US" sz="1000" dirty="0">
                <a:solidFill>
                  <a:srgbClr val="374151"/>
                </a:solidFill>
                <a:latin typeface="Consolas" pitchFamily="34" charset="0"/>
                <a:ea typeface="Consolas" pitchFamily="34" charset="-122"/>
                <a:cs typeface="Consolas" pitchFamily="34" charset="-120"/>
              </a:rPr>
              <a:t>  (matrix&gt;0).astype(int).T)</a:t>
            </a:r>
            <a:endParaRPr lang="en-US" sz="1000" dirty="0"/>
          </a:p>
        </p:txBody>
      </p:sp>
      <p:sp>
        <p:nvSpPr>
          <p:cNvPr id="10" name="Text 8"/>
          <p:cNvSpPr/>
          <p:nvPr/>
        </p:nvSpPr>
        <p:spPr>
          <a:xfrm>
            <a:off x="640080" y="3154680"/>
            <a:ext cx="3749040" cy="548640"/>
          </a:xfrm>
          <a:prstGeom prst="rect">
            <a:avLst/>
          </a:prstGeom>
          <a:noFill/>
          <a:ln/>
        </p:spPr>
        <p:txBody>
          <a:bodyPr wrap="square" lIns="0" tIns="0" rIns="0" bIns="0" rtlCol="0" anchor="t"/>
          <a:lstStyle/>
          <a:p>
            <a:pPr indent="0" marL="0">
              <a:buNone/>
            </a:pPr>
            <a:r>
              <a:rPr lang="en-US" sz="1100" i="1" dirty="0">
                <a:solidFill>
                  <a:srgbClr val="374151"/>
                </a:solidFill>
                <a:latin typeface="Arial" pitchFamily="34" charset="0"/>
                <a:ea typeface="Arial" pitchFamily="34" charset="-122"/>
                <a:cs typeface="Arial" pitchFamily="34" charset="-120"/>
              </a:rPr>
              <a:t>→ Latte → top neighbors: Croissant, Espresso, Almond Croissant, Cinnamon Roll, Brownie</a:t>
            </a:r>
            <a:endParaRPr lang="en-US" sz="1100" dirty="0"/>
          </a:p>
        </p:txBody>
      </p:sp>
      <p:sp>
        <p:nvSpPr>
          <p:cNvPr id="11" name="Text 9"/>
          <p:cNvSpPr/>
          <p:nvPr/>
        </p:nvSpPr>
        <p:spPr>
          <a:xfrm>
            <a:off x="4572000" y="1280160"/>
            <a:ext cx="393192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Segment ↔ top product network</a:t>
            </a:r>
            <a:endParaRPr lang="en-US" sz="1400" dirty="0"/>
          </a:p>
        </p:txBody>
      </p:sp>
      <p:sp>
        <p:nvSpPr>
          <p:cNvPr id="12" name="Text 10"/>
          <p:cNvSpPr/>
          <p:nvPr/>
        </p:nvSpPr>
        <p:spPr>
          <a:xfrm>
            <a:off x="4572000" y="1645920"/>
            <a:ext cx="3931920" cy="2286000"/>
          </a:xfrm>
          <a:prstGeom prst="rect">
            <a:avLst/>
          </a:prstGeom>
          <a:noFill/>
          <a:ln/>
        </p:spPr>
        <p:txBody>
          <a:bodyPr wrap="square" lIns="0" tIns="0" rIns="0" bIns="0" rtlCol="0" anchor="t"/>
          <a:lstStyle/>
          <a:p>
            <a:pPr indent="0" marL="0">
              <a:buNone/>
            </a:pPr>
            <a:r>
              <a:rPr lang="en-US" sz="1200" b="1" dirty="0">
                <a:solidFill>
                  <a:srgbClr val="374151"/>
                </a:solidFill>
                <a:latin typeface="Arial" pitchFamily="34" charset="0"/>
                <a:ea typeface="Arial" pitchFamily="34" charset="-122"/>
                <a:cs typeface="Arial" pitchFamily="34" charset="-120"/>
              </a:rPr>
              <a:t>Nodes: </a:t>
            </a:r>
            <a:pPr indent="0" marL="0">
              <a:buNone/>
            </a:pPr>
            <a:r>
              <a:rPr lang="en-US" sz="1200" dirty="0">
                <a:solidFill>
                  <a:srgbClr val="374151"/>
                </a:solidFill>
                <a:latin typeface="Arial" pitchFamily="34" charset="0"/>
                <a:ea typeface="Arial" pitchFamily="34" charset="-122"/>
                <a:cs typeface="Arial" pitchFamily="34" charset="-120"/>
              </a:rPr>
              <a:t>segments (teal) + products (amber)
</a:t>
            </a:r>
            <a:pPr indent="0" marL="0">
              <a:buNone/>
            </a:pPr>
            <a:r>
              <a:rPr lang="en-US" sz="1200" b="1" dirty="0">
                <a:solidFill>
                  <a:srgbClr val="374151"/>
                </a:solidFill>
                <a:latin typeface="Arial" pitchFamily="34" charset="0"/>
                <a:ea typeface="Arial" pitchFamily="34" charset="-122"/>
                <a:cs typeface="Arial" pitchFamily="34" charset="-120"/>
              </a:rPr>
              <a:t>Edges: </a:t>
            </a:r>
            <a:pPr indent="0" marL="0">
              <a:buNone/>
            </a:pPr>
            <a:r>
              <a:rPr lang="en-US" sz="1200" dirty="0">
                <a:solidFill>
                  <a:srgbClr val="374151"/>
                </a:solidFill>
                <a:latin typeface="Arial" pitchFamily="34" charset="0"/>
                <a:ea typeface="Arial" pitchFamily="34" charset="-122"/>
                <a:cs typeface="Arial" pitchFamily="34" charset="-120"/>
              </a:rPr>
              <a:t>weighted by purchase volume per segment
</a:t>
            </a:r>
            <a:pPr indent="0" marL="0">
              <a:buNone/>
            </a:pPr>
            <a:r>
              <a:rPr lang="en-US" sz="1200" b="1" dirty="0">
                <a:solidFill>
                  <a:srgbClr val="374151"/>
                </a:solidFill>
                <a:latin typeface="Arial" pitchFamily="34" charset="0"/>
                <a:ea typeface="Arial" pitchFamily="34" charset="-122"/>
                <a:cs typeface="Arial" pitchFamily="34" charset="-120"/>
              </a:rPr>
              <a:t>Look for: </a:t>
            </a:r>
            <a:pPr indent="0" marL="0">
              <a:buNone/>
            </a:pPr>
            <a:r>
              <a:rPr lang="en-US" sz="1200" dirty="0">
                <a:solidFill>
                  <a:srgbClr val="374151"/>
                </a:solidFill>
                <a:latin typeface="Arial" pitchFamily="34" charset="0"/>
                <a:ea typeface="Arial" pitchFamily="34" charset="-122"/>
                <a:cs typeface="Arial" pitchFamily="34" charset="-120"/>
              </a:rPr>
              <a:t>products that bridge multiple segments — those are your anchor SKUs for cross-segment campaigns.</a:t>
            </a:r>
            <a:endParaRPr lang="en-US" sz="1200" dirty="0"/>
          </a:p>
        </p:txBody>
      </p:sp>
      <p:sp>
        <p:nvSpPr>
          <p:cNvPr id="13" name="Shape 11"/>
          <p:cNvSpPr/>
          <p:nvPr/>
        </p:nvSpPr>
        <p:spPr>
          <a:xfrm>
            <a:off x="640080" y="4023360"/>
            <a:ext cx="7863840" cy="502920"/>
          </a:xfrm>
          <a:prstGeom prst="rect">
            <a:avLst/>
          </a:prstGeom>
          <a:solidFill>
            <a:srgbClr val="E0F7FA"/>
          </a:solidFill>
          <a:ln w="12700">
            <a:solidFill>
              <a:srgbClr val="0891B2"/>
            </a:solidFill>
            <a:prstDash val="solid"/>
          </a:ln>
        </p:spPr>
      </p:sp>
      <p:sp>
        <p:nvSpPr>
          <p:cNvPr id="14" name="Text 12"/>
          <p:cNvSpPr/>
          <p:nvPr/>
        </p:nvSpPr>
        <p:spPr>
          <a:xfrm>
            <a:off x="822960" y="4114800"/>
            <a:ext cx="7498080" cy="32004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graph is not just a pretty picture. Bridge products are operationally important — they're what you put on the loyalty home screen for everyone.</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1188720"/>
            <a:ext cx="2286000" cy="1280160"/>
          </a:xfrm>
          <a:prstGeom prst="rect">
            <a:avLst/>
          </a:prstGeom>
          <a:noFill/>
          <a:ln/>
        </p:spPr>
        <p:txBody>
          <a:bodyPr wrap="square" lIns="0" tIns="0" rIns="0" bIns="0" rtlCol="0" anchor="ctr"/>
          <a:lstStyle/>
          <a:p>
            <a:pPr indent="0" marL="0">
              <a:buNone/>
            </a:pPr>
            <a:r>
              <a:rPr lang="en-US" sz="8000" b="1" dirty="0">
                <a:solidFill>
                  <a:srgbClr val="0891B2"/>
                </a:solidFill>
                <a:latin typeface="Arial" pitchFamily="34" charset="0"/>
                <a:ea typeface="Arial" pitchFamily="34" charset="-122"/>
                <a:cs typeface="Arial" pitchFamily="34" charset="-120"/>
              </a:rPr>
              <a:t>05</a:t>
            </a:r>
            <a:endParaRPr lang="en-US" sz="8000" dirty="0"/>
          </a:p>
        </p:txBody>
      </p:sp>
      <p:sp>
        <p:nvSpPr>
          <p:cNvPr id="4" name="Shape 2"/>
          <p:cNvSpPr/>
          <p:nvPr/>
        </p:nvSpPr>
        <p:spPr>
          <a:xfrm>
            <a:off x="640080" y="2606040"/>
            <a:ext cx="3200400" cy="0"/>
          </a:xfrm>
          <a:prstGeom prst="line">
            <a:avLst/>
          </a:prstGeom>
          <a:noFill/>
          <a:ln w="31750">
            <a:solidFill>
              <a:srgbClr val="0891B2"/>
            </a:solidFill>
            <a:prstDash val="solid"/>
          </a:ln>
        </p:spPr>
      </p:sp>
      <p:sp>
        <p:nvSpPr>
          <p:cNvPr id="5" name="Text 3"/>
          <p:cNvSpPr/>
          <p:nvPr/>
        </p:nvSpPr>
        <p:spPr>
          <a:xfrm>
            <a:off x="640080" y="2788920"/>
            <a:ext cx="7863840" cy="64008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Listen</a:t>
            </a:r>
            <a:endParaRPr lang="en-US" sz="3600" dirty="0"/>
          </a:p>
        </p:txBody>
      </p:sp>
      <p:sp>
        <p:nvSpPr>
          <p:cNvPr id="6" name="Text 4"/>
          <p:cNvSpPr/>
          <p:nvPr/>
        </p:nvSpPr>
        <p:spPr>
          <a:xfrm>
            <a:off x="640080" y="3520440"/>
            <a:ext cx="7863840" cy="457200"/>
          </a:xfrm>
          <a:prstGeom prst="rect">
            <a:avLst/>
          </a:prstGeom>
          <a:noFill/>
          <a:ln/>
        </p:spPr>
        <p:txBody>
          <a:bodyPr wrap="square" lIns="0" tIns="0" rIns="0" bIns="0" rtlCol="0" anchor="ctr"/>
          <a:lstStyle/>
          <a:p>
            <a:pPr indent="0" marL="0">
              <a:buNone/>
            </a:pPr>
            <a:r>
              <a:rPr lang="en-US" sz="1600" i="1" dirty="0">
                <a:solidFill>
                  <a:srgbClr val="9CA3AF"/>
                </a:solidFill>
                <a:latin typeface="Arial" pitchFamily="34" charset="0"/>
                <a:ea typeface="Arial" pitchFamily="34" charset="-122"/>
                <a:cs typeface="Arial" pitchFamily="34" charset="-120"/>
              </a:rPr>
              <a:t>What are customers actually saying?</a:t>
            </a:r>
            <a:endParaRPr lang="en-US" sz="1600" dirty="0"/>
          </a:p>
        </p:txBody>
      </p:sp>
      <p:sp>
        <p:nvSpPr>
          <p:cNvPr id="7" name="Text 5"/>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5 — PyThaiNLP</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Tokenize Thai. Clean. POS-tag.</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PyThaiNLP gets you 80% of the way for Thai text analytics.</a:t>
            </a:r>
            <a:endParaRPr lang="en-US" sz="1300" dirty="0"/>
          </a:p>
        </p:txBody>
      </p:sp>
      <p:sp>
        <p:nvSpPr>
          <p:cNvPr id="7" name="Shape 5"/>
          <p:cNvSpPr/>
          <p:nvPr/>
        </p:nvSpPr>
        <p:spPr>
          <a:xfrm>
            <a:off x="640080" y="1280160"/>
            <a:ext cx="7863840" cy="2194560"/>
          </a:xfrm>
          <a:prstGeom prst="rect">
            <a:avLst/>
          </a:prstGeom>
          <a:solidFill>
            <a:srgbClr val="F3F4F6"/>
          </a:solidFill>
          <a:ln w="6350">
            <a:solidFill>
              <a:srgbClr val="D1D5DB"/>
            </a:solidFill>
            <a:prstDash val="solid"/>
          </a:ln>
        </p:spPr>
      </p:sp>
      <p:sp>
        <p:nvSpPr>
          <p:cNvPr id="8" name="Text 6"/>
          <p:cNvSpPr/>
          <p:nvPr/>
        </p:nvSpPr>
        <p:spPr>
          <a:xfrm>
            <a:off x="777240" y="1371600"/>
            <a:ext cx="7589520" cy="2011680"/>
          </a:xfrm>
          <a:prstGeom prst="rect">
            <a:avLst/>
          </a:prstGeom>
          <a:noFill/>
          <a:ln/>
        </p:spPr>
        <p:txBody>
          <a:bodyPr wrap="square" lIns="0" tIns="0" rIns="0" bIns="0" rtlCol="0" anchor="t"/>
          <a:lstStyle/>
          <a:p>
            <a:pPr indent="0" marL="0">
              <a:buNone/>
            </a:pPr>
            <a:r>
              <a:rPr lang="en-US" sz="1100" dirty="0">
                <a:solidFill>
                  <a:srgbClr val="374151"/>
                </a:solidFill>
                <a:latin typeface="Consolas" pitchFamily="34" charset="0"/>
                <a:ea typeface="Consolas" pitchFamily="34" charset="-122"/>
                <a:cs typeface="Consolas" pitchFamily="34" charset="-120"/>
              </a:rPr>
              <a:t>from pythainlp.tokenize import word_tokenize</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from pythainlp.corpus import thai_stopwords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from pythainlp.tag import pos_tag</a:t>
            </a:r>
            <a:endParaRPr lang="en-US" sz="1100" dirty="0"/>
          </a:p>
          <a:p>
            <a:pPr indent="0" marL="0">
              <a:buNone/>
            </a:pP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THAI_STOPS = set(thai_stopwords())</a:t>
            </a:r>
            <a:endParaRPr lang="en-US" sz="1100" dirty="0"/>
          </a:p>
          <a:p>
            <a:pPr indent="0" marL="0">
              <a:buNone/>
            </a:pP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def tokenize_thai_en(text):</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tokens = word_tokenize(text, engine='newmm')</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return [t for t in tokens if t not in THAI_STOPS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and not re.fullmatch(r'[\d\W_]+', t)]</a:t>
            </a:r>
            <a:endParaRPr lang="en-US" sz="1100" dirty="0"/>
          </a:p>
          <a:p>
            <a:pPr indent="0" marL="0">
              <a:buNone/>
            </a:pP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Example: "ร้านดีมาก กาแฟอร่อย พนักงานบริการดี"</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  ['ร้าน', 'ดีมาก', 'กาแฟ', 'อร่อย', 'พนักงาน', 'บริการ', 'ดี']</a:t>
            </a:r>
            <a:endParaRPr lang="en-US" sz="1100" dirty="0"/>
          </a:p>
        </p:txBody>
      </p:sp>
      <p:sp>
        <p:nvSpPr>
          <p:cNvPr id="9" name="Shape 7"/>
          <p:cNvSpPr/>
          <p:nvPr/>
        </p:nvSpPr>
        <p:spPr>
          <a:xfrm>
            <a:off x="640080" y="3611880"/>
            <a:ext cx="7863840" cy="960120"/>
          </a:xfrm>
          <a:prstGeom prst="rect">
            <a:avLst/>
          </a:prstGeom>
          <a:solidFill>
            <a:srgbClr val="E0F7FA"/>
          </a:solidFill>
          <a:ln w="12700">
            <a:solidFill>
              <a:srgbClr val="0891B2"/>
            </a:solidFill>
            <a:prstDash val="solid"/>
          </a:ln>
        </p:spPr>
      </p:sp>
      <p:sp>
        <p:nvSpPr>
          <p:cNvPr id="10" name="Text 8"/>
          <p:cNvSpPr/>
          <p:nvPr/>
        </p:nvSpPr>
        <p:spPr>
          <a:xfrm>
            <a:off x="822960" y="3703320"/>
            <a:ext cx="7498080" cy="77724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Thai has no spaces between words, mixed-script reviews are normal, and English code-switches in mid-sentence ('wifi ช้ามาก'). PyThaiNLP's newmm tokenizer handles this gracefully. NER requires a corpus download — POS-based extraction is the dependable fallback.</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5 — bi-grams</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Bi-gram network</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What words travel together → the latent topics emerge</a:t>
            </a:r>
            <a:endParaRPr lang="en-US" sz="1300" dirty="0"/>
          </a:p>
        </p:txBody>
      </p:sp>
      <p:sp>
        <p:nvSpPr>
          <p:cNvPr id="7" name="Text 5"/>
          <p:cNvSpPr/>
          <p:nvPr/>
        </p:nvSpPr>
        <p:spPr>
          <a:xfrm>
            <a:off x="640080" y="1280160"/>
            <a:ext cx="7863840" cy="2286000"/>
          </a:xfrm>
          <a:prstGeom prst="rect">
            <a:avLst/>
          </a:prstGeom>
          <a:noFill/>
          <a:ln/>
        </p:spPr>
        <p:txBody>
          <a:bodyPr wrap="square" lIns="0" tIns="0" rIns="0" bIns="0" rtlCol="0" anchor="t"/>
          <a:lstStyle/>
          <a:p>
            <a:pPr indent="0" marL="0">
              <a:buNone/>
            </a:pPr>
            <a:r>
              <a:rPr lang="en-US" sz="1300" b="1" dirty="0">
                <a:solidFill>
                  <a:srgbClr val="0891B2"/>
                </a:solidFill>
                <a:latin typeface="Arial" pitchFamily="34" charset="0"/>
                <a:ea typeface="Arial" pitchFamily="34" charset="-122"/>
                <a:cs typeface="Arial" pitchFamily="34" charset="-120"/>
              </a:rPr>
              <a:t>1.  </a:t>
            </a:r>
            <a:pPr indent="0" marL="0">
              <a:buNone/>
            </a:pPr>
            <a:r>
              <a:rPr lang="en-US" sz="1300" dirty="0">
                <a:solidFill>
                  <a:srgbClr val="374151"/>
                </a:solidFill>
                <a:latin typeface="Arial" pitchFamily="34" charset="0"/>
                <a:ea typeface="Arial" pitchFamily="34" charset="-122"/>
                <a:cs typeface="Arial" pitchFamily="34" charset="-120"/>
              </a:rPr>
              <a:t>Tokenize each review, filter stopwords
</a:t>
            </a:r>
            <a:pPr indent="0" marL="0">
              <a:buNone/>
            </a:pPr>
            <a:r>
              <a:rPr lang="en-US" sz="1300" b="1" dirty="0">
                <a:solidFill>
                  <a:srgbClr val="0891B2"/>
                </a:solidFill>
                <a:latin typeface="Arial" pitchFamily="34" charset="0"/>
                <a:ea typeface="Arial" pitchFamily="34" charset="-122"/>
                <a:cs typeface="Arial" pitchFamily="34" charset="-120"/>
              </a:rPr>
              <a:t>2.  </a:t>
            </a:r>
            <a:pPr indent="0" marL="0">
              <a:buNone/>
            </a:pPr>
            <a:r>
              <a:rPr lang="en-US" sz="1300" dirty="0">
                <a:solidFill>
                  <a:srgbClr val="374151"/>
                </a:solidFill>
                <a:latin typeface="Arial" pitchFamily="34" charset="0"/>
                <a:ea typeface="Arial" pitchFamily="34" charset="-122"/>
                <a:cs typeface="Arial" pitchFamily="34" charset="-120"/>
              </a:rPr>
              <a:t>Build all (word_i, word_i+1) pairs
</a:t>
            </a:r>
            <a:pPr indent="0" marL="0">
              <a:buNone/>
            </a:pPr>
            <a:r>
              <a:rPr lang="en-US" sz="1300" b="1" dirty="0">
                <a:solidFill>
                  <a:srgbClr val="0891B2"/>
                </a:solidFill>
                <a:latin typeface="Arial" pitchFamily="34" charset="0"/>
                <a:ea typeface="Arial" pitchFamily="34" charset="-122"/>
                <a:cs typeface="Arial" pitchFamily="34" charset="-120"/>
              </a:rPr>
              <a:t>3.  </a:t>
            </a:r>
            <a:pPr indent="0" marL="0">
              <a:buNone/>
            </a:pPr>
            <a:r>
              <a:rPr lang="en-US" sz="1300" dirty="0">
                <a:solidFill>
                  <a:srgbClr val="374151"/>
                </a:solidFill>
                <a:latin typeface="Arial" pitchFamily="34" charset="0"/>
                <a:ea typeface="Arial" pitchFamily="34" charset="-122"/>
                <a:cs typeface="Arial" pitchFamily="34" charset="-120"/>
              </a:rPr>
              <a:t>Count across the corpus, keep pairs with count ≥ 8
</a:t>
            </a:r>
            <a:pPr indent="0" marL="0">
              <a:buNone/>
            </a:pPr>
            <a:r>
              <a:rPr lang="en-US" sz="1300" b="1" dirty="0">
                <a:solidFill>
                  <a:srgbClr val="0891B2"/>
                </a:solidFill>
                <a:latin typeface="Arial" pitchFamily="34" charset="0"/>
                <a:ea typeface="Arial" pitchFamily="34" charset="-122"/>
                <a:cs typeface="Arial" pitchFamily="34" charset="-120"/>
              </a:rPr>
              <a:t>4.  </a:t>
            </a:r>
            <a:pPr indent="0" marL="0">
              <a:buNone/>
            </a:pPr>
            <a:r>
              <a:rPr lang="en-US" sz="1300" dirty="0">
                <a:solidFill>
                  <a:srgbClr val="374151"/>
                </a:solidFill>
                <a:latin typeface="Arial" pitchFamily="34" charset="0"/>
                <a:ea typeface="Arial" pitchFamily="34" charset="-122"/>
                <a:cs typeface="Arial" pitchFamily="34" charset="-120"/>
              </a:rPr>
              <a:t>Build NetworkX graph — nodes = words, edges = bi-gram pairs, edge weight = count
</a:t>
            </a:r>
            <a:pPr indent="0" marL="0">
              <a:buNone/>
            </a:pPr>
            <a:r>
              <a:rPr lang="en-US" sz="1300" b="1" dirty="0">
                <a:solidFill>
                  <a:srgbClr val="0891B2"/>
                </a:solidFill>
                <a:latin typeface="Arial" pitchFamily="34" charset="0"/>
                <a:ea typeface="Arial" pitchFamily="34" charset="-122"/>
                <a:cs typeface="Arial" pitchFamily="34" charset="-120"/>
              </a:rPr>
              <a:t>5.  </a:t>
            </a:r>
            <a:pPr indent="0" marL="0">
              <a:buNone/>
            </a:pPr>
            <a:r>
              <a:rPr lang="en-US" sz="1300" dirty="0">
                <a:solidFill>
                  <a:srgbClr val="374151"/>
                </a:solidFill>
                <a:latin typeface="Arial" pitchFamily="34" charset="0"/>
                <a:ea typeface="Arial" pitchFamily="34" charset="-122"/>
                <a:cs typeface="Arial" pitchFamily="34" charset="-120"/>
              </a:rPr>
              <a:t>Force-directed layout (spring) → semantic clusters appear as dense subgraphs
</a:t>
            </a:r>
            <a:endParaRPr lang="en-US" sz="1300" dirty="0"/>
          </a:p>
        </p:txBody>
      </p:sp>
      <p:sp>
        <p:nvSpPr>
          <p:cNvPr id="8" name="Shape 6"/>
          <p:cNvSpPr/>
          <p:nvPr/>
        </p:nvSpPr>
        <p:spPr>
          <a:xfrm>
            <a:off x="640080" y="3657600"/>
            <a:ext cx="7863840" cy="914400"/>
          </a:xfrm>
          <a:prstGeom prst="rect">
            <a:avLst/>
          </a:prstGeom>
          <a:solidFill>
            <a:srgbClr val="E0F7FA"/>
          </a:solidFill>
          <a:ln w="12700">
            <a:solidFill>
              <a:srgbClr val="0891B2"/>
            </a:solidFill>
            <a:prstDash val="solid"/>
          </a:ln>
        </p:spPr>
      </p:sp>
      <p:sp>
        <p:nvSpPr>
          <p:cNvPr id="9" name="Text 7"/>
          <p:cNvSpPr/>
          <p:nvPr/>
        </p:nvSpPr>
        <p:spPr>
          <a:xfrm>
            <a:off x="822960" y="3749040"/>
            <a:ext cx="7498080" cy="73152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bi-gram net is the cheapest topic model. You'll see a 'wait time' cluster (รอ-นาน-คิว-ยาว), a 'taste' cluster (อร่อย-กาแฟ-หอม), and a 'service' cluster (พนักงาน-บริการ-ดี). No model fitting required.</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5 — entities</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Entity ↔ adjective network</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Nouns are what they talk about. Adjectives are what they call it.</a:t>
            </a:r>
            <a:endParaRPr lang="en-US" sz="1300" dirty="0"/>
          </a:p>
        </p:txBody>
      </p:sp>
      <p:sp>
        <p:nvSpPr>
          <p:cNvPr id="7" name="Text 5"/>
          <p:cNvSpPr/>
          <p:nvPr/>
        </p:nvSpPr>
        <p:spPr>
          <a:xfrm>
            <a:off x="640080" y="1280160"/>
            <a:ext cx="7863840" cy="320040"/>
          </a:xfrm>
          <a:prstGeom prst="rect">
            <a:avLst/>
          </a:prstGeom>
          <a:noFill/>
          <a:ln/>
        </p:spPr>
        <p:txBody>
          <a:bodyPr wrap="square" lIns="0" tIns="0" rIns="0" bIns="0" rtlCol="0" anchor="ctr"/>
          <a:lstStyle/>
          <a:p>
            <a:pPr indent="0" marL="0">
              <a:buNone/>
            </a:pPr>
            <a:r>
              <a:rPr lang="en-US" sz="1400" b="1" dirty="0">
                <a:solidFill>
                  <a:srgbClr val="1F2937"/>
                </a:solidFill>
                <a:latin typeface="Arial" pitchFamily="34" charset="0"/>
                <a:ea typeface="Arial" pitchFamily="34" charset="-122"/>
                <a:cs typeface="Arial" pitchFamily="34" charset="-120"/>
              </a:rPr>
              <a:t>POS tags we use (ORCHID tagset)</a:t>
            </a:r>
            <a:endParaRPr lang="en-US" sz="1400" dirty="0"/>
          </a:p>
        </p:txBody>
      </p:sp>
      <p:sp>
        <p:nvSpPr>
          <p:cNvPr id="8" name="Text 6"/>
          <p:cNvSpPr/>
          <p:nvPr/>
        </p:nvSpPr>
        <p:spPr>
          <a:xfrm>
            <a:off x="640080" y="1691640"/>
            <a:ext cx="2286000" cy="365760"/>
          </a:xfrm>
          <a:prstGeom prst="rect">
            <a:avLst/>
          </a:prstGeom>
          <a:noFill/>
          <a:ln/>
        </p:spPr>
        <p:txBody>
          <a:bodyPr wrap="square" lIns="0" tIns="0" rIns="0" bIns="0" rtlCol="0" anchor="ctr"/>
          <a:lstStyle/>
          <a:p>
            <a:pPr indent="0" marL="0">
              <a:buNone/>
            </a:pPr>
            <a:r>
              <a:rPr lang="en-US" sz="1300" b="1" dirty="0">
                <a:solidFill>
                  <a:srgbClr val="0891B2"/>
                </a:solidFill>
                <a:latin typeface="Consolas" pitchFamily="34" charset="0"/>
                <a:ea typeface="Consolas" pitchFamily="34" charset="-122"/>
                <a:cs typeface="Consolas" pitchFamily="34" charset="-120"/>
              </a:rPr>
              <a:t>NCMN, NPRP, NTTL</a:t>
            </a:r>
            <a:endParaRPr lang="en-US" sz="1300" dirty="0"/>
          </a:p>
        </p:txBody>
      </p:sp>
      <p:sp>
        <p:nvSpPr>
          <p:cNvPr id="9" name="Text 7"/>
          <p:cNvSpPr/>
          <p:nvPr/>
        </p:nvSpPr>
        <p:spPr>
          <a:xfrm>
            <a:off x="3017520" y="1691640"/>
            <a:ext cx="3657600" cy="36576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common nouns, proper nouns, titles</a:t>
            </a:r>
            <a:endParaRPr lang="en-US" sz="1200" dirty="0"/>
          </a:p>
        </p:txBody>
      </p:sp>
      <p:sp>
        <p:nvSpPr>
          <p:cNvPr id="10" name="Text 8"/>
          <p:cNvSpPr/>
          <p:nvPr/>
        </p:nvSpPr>
        <p:spPr>
          <a:xfrm>
            <a:off x="6766560" y="1691640"/>
            <a:ext cx="1737360" cy="365760"/>
          </a:xfrm>
          <a:prstGeom prst="rect">
            <a:avLst/>
          </a:prstGeom>
          <a:noFill/>
          <a:ln/>
        </p:spPr>
        <p:txBody>
          <a:bodyPr wrap="square" lIns="0" tIns="0" rIns="0" bIns="0" rtlCol="0" anchor="ctr"/>
          <a:lstStyle/>
          <a:p>
            <a:pPr indent="0" marL="0">
              <a:buNone/>
            </a:pPr>
            <a:r>
              <a:rPr lang="en-US" sz="1200" b="1" i="1" dirty="0">
                <a:solidFill>
                  <a:srgbClr val="0891B2"/>
                </a:solidFill>
                <a:latin typeface="Arial" pitchFamily="34" charset="0"/>
                <a:ea typeface="Arial" pitchFamily="34" charset="-122"/>
                <a:cs typeface="Arial" pitchFamily="34" charset="-120"/>
              </a:rPr>
              <a:t>→ entities</a:t>
            </a:r>
            <a:endParaRPr lang="en-US" sz="1200" dirty="0"/>
          </a:p>
        </p:txBody>
      </p:sp>
      <p:sp>
        <p:nvSpPr>
          <p:cNvPr id="11" name="Text 9"/>
          <p:cNvSpPr/>
          <p:nvPr/>
        </p:nvSpPr>
        <p:spPr>
          <a:xfrm>
            <a:off x="640080" y="2148840"/>
            <a:ext cx="2286000" cy="365760"/>
          </a:xfrm>
          <a:prstGeom prst="rect">
            <a:avLst/>
          </a:prstGeom>
          <a:noFill/>
          <a:ln/>
        </p:spPr>
        <p:txBody>
          <a:bodyPr wrap="square" lIns="0" tIns="0" rIns="0" bIns="0" rtlCol="0" anchor="ctr"/>
          <a:lstStyle/>
          <a:p>
            <a:pPr indent="0" marL="0">
              <a:buNone/>
            </a:pPr>
            <a:r>
              <a:rPr lang="en-US" sz="1300" b="1" dirty="0">
                <a:solidFill>
                  <a:srgbClr val="D97706"/>
                </a:solidFill>
                <a:latin typeface="Consolas" pitchFamily="34" charset="0"/>
                <a:ea typeface="Consolas" pitchFamily="34" charset="-122"/>
                <a:cs typeface="Consolas" pitchFamily="34" charset="-120"/>
              </a:rPr>
              <a:t>VATT, ADJX, ADVN</a:t>
            </a:r>
            <a:endParaRPr lang="en-US" sz="1300" dirty="0"/>
          </a:p>
        </p:txBody>
      </p:sp>
      <p:sp>
        <p:nvSpPr>
          <p:cNvPr id="12" name="Text 10"/>
          <p:cNvSpPr/>
          <p:nvPr/>
        </p:nvSpPr>
        <p:spPr>
          <a:xfrm>
            <a:off x="3017520" y="2148840"/>
            <a:ext cx="3657600" cy="365760"/>
          </a:xfrm>
          <a:prstGeom prst="rect">
            <a:avLst/>
          </a:prstGeom>
          <a:noFill/>
          <a:ln/>
        </p:spPr>
        <p:txBody>
          <a:bodyPr wrap="square" lIns="0" tIns="0" rIns="0" bIns="0" rtlCol="0" anchor="ctr"/>
          <a:lstStyle/>
          <a:p>
            <a:pPr indent="0" marL="0">
              <a:buNone/>
            </a:pPr>
            <a:r>
              <a:rPr lang="en-US" sz="1200" dirty="0">
                <a:solidFill>
                  <a:srgbClr val="374151"/>
                </a:solidFill>
                <a:latin typeface="Arial" pitchFamily="34" charset="0"/>
                <a:ea typeface="Arial" pitchFamily="34" charset="-122"/>
                <a:cs typeface="Arial" pitchFamily="34" charset="-120"/>
              </a:rPr>
              <a:t>stative-attributive verbs, adjectives</a:t>
            </a:r>
            <a:endParaRPr lang="en-US" sz="1200" dirty="0"/>
          </a:p>
        </p:txBody>
      </p:sp>
      <p:sp>
        <p:nvSpPr>
          <p:cNvPr id="13" name="Text 11"/>
          <p:cNvSpPr/>
          <p:nvPr/>
        </p:nvSpPr>
        <p:spPr>
          <a:xfrm>
            <a:off x="6766560" y="2148840"/>
            <a:ext cx="1737360" cy="365760"/>
          </a:xfrm>
          <a:prstGeom prst="rect">
            <a:avLst/>
          </a:prstGeom>
          <a:noFill/>
          <a:ln/>
        </p:spPr>
        <p:txBody>
          <a:bodyPr wrap="square" lIns="0" tIns="0" rIns="0" bIns="0" rtlCol="0" anchor="ctr"/>
          <a:lstStyle/>
          <a:p>
            <a:pPr indent="0" marL="0">
              <a:buNone/>
            </a:pPr>
            <a:r>
              <a:rPr lang="en-US" sz="1200" b="1" i="1" dirty="0">
                <a:solidFill>
                  <a:srgbClr val="D97706"/>
                </a:solidFill>
                <a:latin typeface="Arial" pitchFamily="34" charset="0"/>
                <a:ea typeface="Arial" pitchFamily="34" charset="-122"/>
                <a:cs typeface="Arial" pitchFamily="34" charset="-120"/>
              </a:rPr>
              <a:t>→ descriptors</a:t>
            </a:r>
            <a:endParaRPr lang="en-US" sz="1200" dirty="0"/>
          </a:p>
        </p:txBody>
      </p:sp>
      <p:sp>
        <p:nvSpPr>
          <p:cNvPr id="14" name="Text 12"/>
          <p:cNvSpPr/>
          <p:nvPr/>
        </p:nvSpPr>
        <p:spPr>
          <a:xfrm>
            <a:off x="640080" y="2743200"/>
            <a:ext cx="7863840" cy="274320"/>
          </a:xfrm>
          <a:prstGeom prst="rect">
            <a:avLst/>
          </a:prstGeom>
          <a:noFill/>
          <a:ln/>
        </p:spPr>
        <p:txBody>
          <a:bodyPr wrap="square" lIns="0" tIns="0" rIns="0" bIns="0" rtlCol="0" anchor="ctr"/>
          <a:lstStyle/>
          <a:p>
            <a:pPr indent="0" marL="0">
              <a:buNone/>
            </a:pPr>
            <a:r>
              <a:rPr lang="en-US" sz="1200" i="1" dirty="0">
                <a:solidFill>
                  <a:srgbClr val="374151"/>
                </a:solidFill>
                <a:latin typeface="Arial" pitchFamily="34" charset="0"/>
                <a:ea typeface="Arial" pitchFamily="34" charset="-122"/>
                <a:cs typeface="Arial" pitchFamily="34" charset="-120"/>
              </a:rPr>
              <a:t>Co-occurrence within the same review → edge in the entity-adjective graph</a:t>
            </a:r>
            <a:endParaRPr lang="en-US" sz="1200" dirty="0"/>
          </a:p>
        </p:txBody>
      </p:sp>
      <p:sp>
        <p:nvSpPr>
          <p:cNvPr id="15" name="Shape 13"/>
          <p:cNvSpPr/>
          <p:nvPr/>
        </p:nvSpPr>
        <p:spPr>
          <a:xfrm>
            <a:off x="640080" y="3108960"/>
            <a:ext cx="7863840" cy="1463040"/>
          </a:xfrm>
          <a:prstGeom prst="rect">
            <a:avLst/>
          </a:prstGeom>
          <a:solidFill>
            <a:srgbClr val="F3F4F6"/>
          </a:solidFill>
          <a:ln w="6350">
            <a:solidFill>
              <a:srgbClr val="D1D5DB"/>
            </a:solidFill>
            <a:prstDash val="solid"/>
          </a:ln>
        </p:spPr>
      </p:sp>
      <p:sp>
        <p:nvSpPr>
          <p:cNvPr id="16" name="Text 14"/>
          <p:cNvSpPr/>
          <p:nvPr/>
        </p:nvSpPr>
        <p:spPr>
          <a:xfrm>
            <a:off x="777240" y="3200400"/>
            <a:ext cx="7589520" cy="1280160"/>
          </a:xfrm>
          <a:prstGeom prst="rect">
            <a:avLst/>
          </a:prstGeom>
          <a:noFill/>
          <a:ln/>
        </p:spPr>
        <p:txBody>
          <a:bodyPr wrap="square" lIns="0" tIns="0" rIns="0" bIns="0" rtlCol="0" anchor="t"/>
          <a:lstStyle/>
          <a:p>
            <a:pPr indent="0" marL="0">
              <a:buNone/>
            </a:pPr>
            <a:r>
              <a:rPr lang="en-US" sz="1100" dirty="0">
                <a:solidFill>
                  <a:srgbClr val="374151"/>
                </a:solidFill>
                <a:latin typeface="Consolas" pitchFamily="34" charset="0"/>
                <a:ea typeface="Consolas" pitchFamily="34" charset="-122"/>
                <a:cs typeface="Consolas" pitchFamily="34" charset="-120"/>
              </a:rPr>
              <a:t>for review in reviews: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nouns = [w for w, t in pos_tag(tokens) if t in {'NCMN','NPRP','NTTL'}]</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adjs  = [w for w, t in pos_tag(tokens) if t in {'VATT','ADJX','ADVN'}]</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for n in nouns: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for a in adjs:</a:t>
            </a:r>
            <a:endParaRPr lang="en-US" sz="1100" dirty="0"/>
          </a:p>
          <a:p>
            <a:pPr indent="0" marL="0">
              <a:buNone/>
            </a:pPr>
            <a:r>
              <a:rPr lang="en-US" sz="1100" dirty="0">
                <a:solidFill>
                  <a:srgbClr val="374151"/>
                </a:solidFill>
                <a:latin typeface="Consolas" pitchFamily="34" charset="0"/>
                <a:ea typeface="Consolas" pitchFamily="34" charset="-122"/>
                <a:cs typeface="Consolas" pitchFamily="34" charset="-120"/>
              </a:rPr>
              <a:t>            pairs[(n, a)] += 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Module 5 — leading indicator</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The Thonglor reveal</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Numbers say everything's fine. Reviews say it isn't.</a:t>
            </a:r>
            <a:endParaRPr lang="en-US" sz="1300" dirty="0"/>
          </a:p>
        </p:txBody>
      </p:sp>
      <p:sp>
        <p:nvSpPr>
          <p:cNvPr id="7" name="Text 5"/>
          <p:cNvSpPr/>
          <p:nvPr/>
        </p:nvSpPr>
        <p:spPr>
          <a:xfrm>
            <a:off x="640080" y="1280160"/>
            <a:ext cx="3749040" cy="320040"/>
          </a:xfrm>
          <a:prstGeom prst="rect">
            <a:avLst/>
          </a:prstGeom>
          <a:noFill/>
          <a:ln/>
        </p:spPr>
        <p:txBody>
          <a:bodyPr wrap="square" lIns="0" tIns="0" rIns="0" bIns="0" rtlCol="0" anchor="ctr"/>
          <a:lstStyle/>
          <a:p>
            <a:pPr indent="0" marL="0">
              <a:buNone/>
            </a:pPr>
            <a:r>
              <a:rPr lang="en-US" sz="1400" b="1" dirty="0">
                <a:solidFill>
                  <a:srgbClr val="DC2626"/>
                </a:solidFill>
                <a:latin typeface="Arial" pitchFamily="34" charset="0"/>
                <a:ea typeface="Arial" pitchFamily="34" charset="-122"/>
                <a:cs typeface="Arial" pitchFamily="34" charset="-120"/>
              </a:rPr>
              <a:t>Last 6 weeks</a:t>
            </a:r>
            <a:endParaRPr lang="en-US" sz="1400" dirty="0"/>
          </a:p>
        </p:txBody>
      </p:sp>
      <p:sp>
        <p:nvSpPr>
          <p:cNvPr id="8" name="Text 6"/>
          <p:cNvSpPr/>
          <p:nvPr/>
        </p:nvSpPr>
        <p:spPr>
          <a:xfrm>
            <a:off x="640080" y="1645920"/>
            <a:ext cx="3749040" cy="457200"/>
          </a:xfrm>
          <a:prstGeom prst="rect">
            <a:avLst/>
          </a:prstGeom>
          <a:noFill/>
          <a:ln/>
        </p:spPr>
        <p:txBody>
          <a:bodyPr wrap="square" lIns="0" tIns="0" rIns="0" bIns="0" rtlCol="0" anchor="ctr"/>
          <a:lstStyle/>
          <a:p>
            <a:pPr indent="0" marL="0">
              <a:buNone/>
            </a:pPr>
            <a:r>
              <a:rPr lang="en-US" sz="2600" b="1" dirty="0">
                <a:solidFill>
                  <a:srgbClr val="DC2626"/>
                </a:solidFill>
                <a:latin typeface="Arial" pitchFamily="34" charset="0"/>
                <a:ea typeface="Arial" pitchFamily="34" charset="-122"/>
                <a:cs typeface="Arial" pitchFamily="34" charset="-120"/>
              </a:rPr>
              <a:t>63% negative reviews</a:t>
            </a:r>
            <a:endParaRPr lang="en-US" sz="2600" dirty="0"/>
          </a:p>
        </p:txBody>
      </p:sp>
      <p:sp>
        <p:nvSpPr>
          <p:cNvPr id="9" name="Text 7"/>
          <p:cNvSpPr/>
          <p:nvPr/>
        </p:nvSpPr>
        <p:spPr>
          <a:xfrm>
            <a:off x="640080" y="2194560"/>
            <a:ext cx="3749040" cy="320040"/>
          </a:xfrm>
          <a:prstGeom prst="rect">
            <a:avLst/>
          </a:prstGeom>
          <a:noFill/>
          <a:ln/>
        </p:spPr>
        <p:txBody>
          <a:bodyPr wrap="square" lIns="0" tIns="0" rIns="0" bIns="0" rtlCol="0" anchor="ctr"/>
          <a:lstStyle/>
          <a:p>
            <a:pPr indent="0" marL="0">
              <a:buNone/>
            </a:pPr>
            <a:r>
              <a:rPr lang="en-US" sz="1200" i="1" dirty="0">
                <a:solidFill>
                  <a:srgbClr val="374151"/>
                </a:solidFill>
                <a:latin typeface="Arial" pitchFamily="34" charset="0"/>
                <a:ea typeface="Arial" pitchFamily="34" charset="-122"/>
                <a:cs typeface="Arial" pitchFamily="34" charset="-120"/>
              </a:rPr>
              <a:t>Avg rating: 3.7  (only -0.4 vs prior)</a:t>
            </a:r>
            <a:endParaRPr lang="en-US" sz="1200" dirty="0"/>
          </a:p>
        </p:txBody>
      </p:sp>
      <p:sp>
        <p:nvSpPr>
          <p:cNvPr id="10" name="Text 8"/>
          <p:cNvSpPr/>
          <p:nvPr/>
        </p:nvSpPr>
        <p:spPr>
          <a:xfrm>
            <a:off x="4572000" y="1280160"/>
            <a:ext cx="3931920" cy="320040"/>
          </a:xfrm>
          <a:prstGeom prst="rect">
            <a:avLst/>
          </a:prstGeom>
          <a:noFill/>
          <a:ln/>
        </p:spPr>
        <p:txBody>
          <a:bodyPr wrap="square" lIns="0" tIns="0" rIns="0" bIns="0" rtlCol="0" anchor="ctr"/>
          <a:lstStyle/>
          <a:p>
            <a:pPr indent="0" marL="0">
              <a:buNone/>
            </a:pPr>
            <a:r>
              <a:rPr lang="en-US" sz="1400" b="1" dirty="0">
                <a:solidFill>
                  <a:srgbClr val="0891B2"/>
                </a:solidFill>
                <a:latin typeface="Arial" pitchFamily="34" charset="0"/>
                <a:ea typeface="Arial" pitchFamily="34" charset="-122"/>
                <a:cs typeface="Arial" pitchFamily="34" charset="-120"/>
              </a:rPr>
              <a:t>Prior period</a:t>
            </a:r>
            <a:endParaRPr lang="en-US" sz="1400" dirty="0"/>
          </a:p>
        </p:txBody>
      </p:sp>
      <p:sp>
        <p:nvSpPr>
          <p:cNvPr id="11" name="Text 9"/>
          <p:cNvSpPr/>
          <p:nvPr/>
        </p:nvSpPr>
        <p:spPr>
          <a:xfrm>
            <a:off x="4572000" y="1645920"/>
            <a:ext cx="3931920" cy="457200"/>
          </a:xfrm>
          <a:prstGeom prst="rect">
            <a:avLst/>
          </a:prstGeom>
          <a:noFill/>
          <a:ln/>
        </p:spPr>
        <p:txBody>
          <a:bodyPr wrap="square" lIns="0" tIns="0" rIns="0" bIns="0" rtlCol="0" anchor="ctr"/>
          <a:lstStyle/>
          <a:p>
            <a:pPr indent="0" marL="0">
              <a:buNone/>
            </a:pPr>
            <a:r>
              <a:rPr lang="en-US" sz="2600" b="1" dirty="0">
                <a:solidFill>
                  <a:srgbClr val="0891B2"/>
                </a:solidFill>
                <a:latin typeface="Arial" pitchFamily="34" charset="0"/>
                <a:ea typeface="Arial" pitchFamily="34" charset="-122"/>
                <a:cs typeface="Arial" pitchFamily="34" charset="-120"/>
              </a:rPr>
              <a:t>23% negative reviews</a:t>
            </a:r>
            <a:endParaRPr lang="en-US" sz="2600" dirty="0"/>
          </a:p>
        </p:txBody>
      </p:sp>
      <p:sp>
        <p:nvSpPr>
          <p:cNvPr id="12" name="Text 10"/>
          <p:cNvSpPr/>
          <p:nvPr/>
        </p:nvSpPr>
        <p:spPr>
          <a:xfrm>
            <a:off x="4572000" y="2194560"/>
            <a:ext cx="3931920" cy="320040"/>
          </a:xfrm>
          <a:prstGeom prst="rect">
            <a:avLst/>
          </a:prstGeom>
          <a:noFill/>
          <a:ln/>
        </p:spPr>
        <p:txBody>
          <a:bodyPr wrap="square" lIns="0" tIns="0" rIns="0" bIns="0" rtlCol="0" anchor="ctr"/>
          <a:lstStyle/>
          <a:p>
            <a:pPr indent="0" marL="0">
              <a:buNone/>
            </a:pPr>
            <a:r>
              <a:rPr lang="en-US" sz="1200" i="1" dirty="0">
                <a:solidFill>
                  <a:srgbClr val="374151"/>
                </a:solidFill>
                <a:latin typeface="Arial" pitchFamily="34" charset="0"/>
                <a:ea typeface="Arial" pitchFamily="34" charset="-122"/>
                <a:cs typeface="Arial" pitchFamily="34" charset="-120"/>
              </a:rPr>
              <a:t>Avg rating: 4.1</a:t>
            </a:r>
            <a:endParaRPr lang="en-US" sz="1200" dirty="0"/>
          </a:p>
        </p:txBody>
      </p:sp>
      <p:sp>
        <p:nvSpPr>
          <p:cNvPr id="13" name="Shape 11"/>
          <p:cNvSpPr/>
          <p:nvPr/>
        </p:nvSpPr>
        <p:spPr>
          <a:xfrm>
            <a:off x="640080" y="2743200"/>
            <a:ext cx="7863840" cy="1325880"/>
          </a:xfrm>
          <a:prstGeom prst="rect">
            <a:avLst/>
          </a:prstGeom>
          <a:solidFill>
            <a:srgbClr val="FEF3C7"/>
          </a:solidFill>
          <a:ln w="12700">
            <a:solidFill>
              <a:srgbClr val="D97706"/>
            </a:solidFill>
            <a:prstDash val="solid"/>
          </a:ln>
        </p:spPr>
      </p:sp>
      <p:sp>
        <p:nvSpPr>
          <p:cNvPr id="14" name="Text 12"/>
          <p:cNvSpPr/>
          <p:nvPr/>
        </p:nvSpPr>
        <p:spPr>
          <a:xfrm>
            <a:off x="777240" y="2834640"/>
            <a:ext cx="7680960" cy="320040"/>
          </a:xfrm>
          <a:prstGeom prst="rect">
            <a:avLst/>
          </a:prstGeom>
          <a:noFill/>
          <a:ln/>
        </p:spPr>
        <p:txBody>
          <a:bodyPr wrap="square" lIns="0" tIns="0" rIns="0" bIns="0" rtlCol="0" anchor="ctr"/>
          <a:lstStyle/>
          <a:p>
            <a:pPr indent="0" marL="0">
              <a:buNone/>
            </a:pPr>
            <a:r>
              <a:rPr lang="en-US" sz="1600" b="1" dirty="0">
                <a:solidFill>
                  <a:srgbClr val="D97706"/>
                </a:solidFill>
                <a:latin typeface="Arial" pitchFamily="34" charset="0"/>
                <a:ea typeface="Arial" pitchFamily="34" charset="-122"/>
                <a:cs typeface="Arial" pitchFamily="34" charset="-120"/>
              </a:rPr>
              <a:t>The leading indicator</a:t>
            </a:r>
            <a:endParaRPr lang="en-US" sz="1600" dirty="0"/>
          </a:p>
        </p:txBody>
      </p:sp>
      <p:sp>
        <p:nvSpPr>
          <p:cNvPr id="15" name="Text 13"/>
          <p:cNvSpPr/>
          <p:nvPr/>
        </p:nvSpPr>
        <p:spPr>
          <a:xfrm>
            <a:off x="777240" y="3154680"/>
            <a:ext cx="7680960" cy="868680"/>
          </a:xfrm>
          <a:prstGeom prst="rect">
            <a:avLst/>
          </a:prstGeom>
          <a:noFill/>
          <a:ln/>
        </p:spPr>
        <p:txBody>
          <a:bodyPr wrap="square" lIns="0" tIns="0" rIns="0" bIns="0" rtlCol="0" anchor="t"/>
          <a:lstStyle/>
          <a:p>
            <a:pPr indent="0" marL="0">
              <a:buNone/>
            </a:pPr>
            <a:r>
              <a:rPr lang="en-US" sz="1200" dirty="0">
                <a:solidFill>
                  <a:srgbClr val="374151"/>
                </a:solidFill>
                <a:latin typeface="Arial" pitchFamily="34" charset="0"/>
                <a:ea typeface="Arial" pitchFamily="34" charset="-122"/>
                <a:cs typeface="Arial" pitchFamily="34" charset="-120"/>
              </a:rPr>
              <a:t>Negative review volume tripled. Average rating barely moved. By the time the rating drops, the customers are already gone — they're rating their last visit, not their next.</a:t>
            </a:r>
            <a:endParaRPr lang="en-US" sz="1200" dirty="0"/>
          </a:p>
          <a:p>
            <a:pPr indent="0" marL="0">
              <a:buNone/>
            </a:pPr>
            <a:endParaRPr lang="en-US" sz="1200" dirty="0"/>
          </a:p>
          <a:p>
            <a:pPr indent="0" marL="0">
              <a:buNone/>
            </a:pPr>
            <a:r>
              <a:rPr lang="en-US" sz="1200" dirty="0">
                <a:solidFill>
                  <a:srgbClr val="374151"/>
                </a:solidFill>
                <a:latin typeface="Arial" pitchFamily="34" charset="0"/>
                <a:ea typeface="Arial" pitchFamily="34" charset="-122"/>
                <a:cs typeface="Arial" pitchFamily="34" charset="-120"/>
              </a:rPr>
              <a:t>This is what dashboards miss. Sentiment monitoring catches it weeks earlier.</a:t>
            </a:r>
            <a:endParaRPr lang="en-US" sz="1200" dirty="0"/>
          </a:p>
        </p:txBody>
      </p:sp>
      <p:sp>
        <p:nvSpPr>
          <p:cNvPr id="16" name="Shape 14"/>
          <p:cNvSpPr/>
          <p:nvPr/>
        </p:nvSpPr>
        <p:spPr>
          <a:xfrm>
            <a:off x="640080" y="4206240"/>
            <a:ext cx="7863840" cy="457200"/>
          </a:xfrm>
          <a:prstGeom prst="rect">
            <a:avLst/>
          </a:prstGeom>
          <a:solidFill>
            <a:srgbClr val="FEF3C7"/>
          </a:solidFill>
          <a:ln w="12700">
            <a:solidFill>
              <a:srgbClr val="D97706"/>
            </a:solidFill>
            <a:prstDash val="solid"/>
          </a:ln>
        </p:spPr>
      </p:sp>
      <p:sp>
        <p:nvSpPr>
          <p:cNvPr id="17" name="Text 15"/>
          <p:cNvSpPr/>
          <p:nvPr/>
        </p:nvSpPr>
        <p:spPr>
          <a:xfrm>
            <a:off x="822960" y="4297680"/>
            <a:ext cx="7498080" cy="27432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 Thonglor pattern is engineered into the data. But it is exactly the kind of pattern you find at every Thai retail client when you actually read the reviews.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Closing</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The loop closes</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Five modules. One thread. The techniques compose.</a:t>
            </a:r>
            <a:endParaRPr lang="en-US" sz="1300" dirty="0"/>
          </a:p>
        </p:txBody>
      </p:sp>
      <p:sp>
        <p:nvSpPr>
          <p:cNvPr id="7" name="Text 5"/>
          <p:cNvSpPr/>
          <p:nvPr/>
        </p:nvSpPr>
        <p:spPr>
          <a:xfrm>
            <a:off x="640080" y="1371600"/>
            <a:ext cx="2468880" cy="365760"/>
          </a:xfrm>
          <a:prstGeom prst="rect">
            <a:avLst/>
          </a:prstGeom>
          <a:noFill/>
          <a:ln/>
        </p:spPr>
        <p:txBody>
          <a:bodyPr wrap="square" lIns="0" tIns="0" rIns="0" bIns="0" rtlCol="0" anchor="ctr"/>
          <a:lstStyle/>
          <a:p>
            <a:pPr indent="0" marL="0">
              <a:buNone/>
            </a:pPr>
            <a:r>
              <a:rPr lang="en-US" sz="1300" b="1" dirty="0">
                <a:solidFill>
                  <a:srgbClr val="0891B2"/>
                </a:solidFill>
                <a:latin typeface="Arial" pitchFamily="34" charset="0"/>
                <a:ea typeface="Arial" pitchFamily="34" charset="-122"/>
                <a:cs typeface="Arial" pitchFamily="34" charset="-120"/>
              </a:rPr>
              <a:t>[Module 1] What's true</a:t>
            </a:r>
            <a:endParaRPr lang="en-US" sz="1300" dirty="0"/>
          </a:p>
        </p:txBody>
      </p:sp>
      <p:sp>
        <p:nvSpPr>
          <p:cNvPr id="8" name="Text 6"/>
          <p:cNvSpPr/>
          <p:nvPr/>
        </p:nvSpPr>
        <p:spPr>
          <a:xfrm>
            <a:off x="3337560" y="1371600"/>
            <a:ext cx="2468880" cy="365760"/>
          </a:xfrm>
          <a:prstGeom prst="rect">
            <a:avLst/>
          </a:prstGeom>
          <a:noFill/>
          <a:ln/>
        </p:spPr>
        <p:txBody>
          <a:bodyPr wrap="square" lIns="0" tIns="0" rIns="0" bIns="0" rtlCol="0" anchor="ctr"/>
          <a:lstStyle/>
          <a:p>
            <a:pPr indent="0" marL="0">
              <a:buNone/>
            </a:pPr>
            <a:r>
              <a:rPr lang="en-US" sz="1300" b="1" dirty="0">
                <a:solidFill>
                  <a:srgbClr val="059669"/>
                </a:solidFill>
                <a:latin typeface="Arial" pitchFamily="34" charset="0"/>
                <a:ea typeface="Arial" pitchFamily="34" charset="-122"/>
                <a:cs typeface="Arial" pitchFamily="34" charset="-120"/>
              </a:rPr>
              <a:t>[Module 2] What's coming</a:t>
            </a:r>
            <a:endParaRPr lang="en-US" sz="1300" dirty="0"/>
          </a:p>
        </p:txBody>
      </p:sp>
      <p:sp>
        <p:nvSpPr>
          <p:cNvPr id="9" name="Text 7"/>
          <p:cNvSpPr/>
          <p:nvPr/>
        </p:nvSpPr>
        <p:spPr>
          <a:xfrm>
            <a:off x="6035040" y="1371600"/>
            <a:ext cx="2468880" cy="365760"/>
          </a:xfrm>
          <a:prstGeom prst="rect">
            <a:avLst/>
          </a:prstGeom>
          <a:noFill/>
          <a:ln/>
        </p:spPr>
        <p:txBody>
          <a:bodyPr wrap="square" lIns="0" tIns="0" rIns="0" bIns="0" rtlCol="0" anchor="ctr"/>
          <a:lstStyle/>
          <a:p>
            <a:pPr indent="0" marL="0">
              <a:buNone/>
            </a:pPr>
            <a:r>
              <a:rPr lang="en-US" sz="1300" b="1" dirty="0">
                <a:solidFill>
                  <a:srgbClr val="DC2626"/>
                </a:solidFill>
                <a:latin typeface="Arial" pitchFamily="34" charset="0"/>
                <a:ea typeface="Arial" pitchFamily="34" charset="-122"/>
                <a:cs typeface="Arial" pitchFamily="34" charset="-120"/>
              </a:rPr>
              <a:t>[Module 5] What they say</a:t>
            </a:r>
            <a:endParaRPr lang="en-US" sz="1300" dirty="0"/>
          </a:p>
        </p:txBody>
      </p:sp>
      <p:sp>
        <p:nvSpPr>
          <p:cNvPr id="10" name="Text 8"/>
          <p:cNvSpPr/>
          <p:nvPr/>
        </p:nvSpPr>
        <p:spPr>
          <a:xfrm>
            <a:off x="6035040" y="1783080"/>
            <a:ext cx="2468880" cy="365760"/>
          </a:xfrm>
          <a:prstGeom prst="rect">
            <a:avLst/>
          </a:prstGeom>
          <a:noFill/>
          <a:ln/>
        </p:spPr>
        <p:txBody>
          <a:bodyPr wrap="square" lIns="0" tIns="0" rIns="0" bIns="0" rtlCol="0" anchor="ctr"/>
          <a:lstStyle/>
          <a:p>
            <a:pPr indent="0" marL="0">
              <a:buNone/>
            </a:pPr>
            <a:r>
              <a:rPr lang="en-US" sz="1800" dirty="0">
                <a:solidFill>
                  <a:srgbClr val="DC2626"/>
                </a:solidFill>
                <a:latin typeface="Arial" pitchFamily="34" charset="0"/>
                <a:ea typeface="Arial" pitchFamily="34" charset="-122"/>
                <a:cs typeface="Arial" pitchFamily="34" charset="-120"/>
              </a:rPr>
              <a:t>↓</a:t>
            </a:r>
            <a:endParaRPr lang="en-US" sz="1800" dirty="0"/>
          </a:p>
        </p:txBody>
      </p:sp>
      <p:sp>
        <p:nvSpPr>
          <p:cNvPr id="11" name="Text 9"/>
          <p:cNvSpPr/>
          <p:nvPr/>
        </p:nvSpPr>
        <p:spPr>
          <a:xfrm>
            <a:off x="6035040" y="2103120"/>
            <a:ext cx="2468880" cy="274320"/>
          </a:xfrm>
          <a:prstGeom prst="rect">
            <a:avLst/>
          </a:prstGeom>
          <a:noFill/>
          <a:ln/>
        </p:spPr>
        <p:txBody>
          <a:bodyPr wrap="square" lIns="0" tIns="0" rIns="0" bIns="0" rtlCol="0" anchor="ctr"/>
          <a:lstStyle/>
          <a:p>
            <a:pPr indent="0" marL="0">
              <a:buNone/>
            </a:pPr>
            <a:r>
              <a:rPr lang="en-US" sz="1000" i="1" dirty="0">
                <a:solidFill>
                  <a:srgbClr val="6B7280"/>
                </a:solidFill>
                <a:latin typeface="Arial" pitchFamily="34" charset="0"/>
                <a:ea typeface="Arial" pitchFamily="34" charset="-122"/>
                <a:cs typeface="Arial" pitchFamily="34" charset="-120"/>
              </a:rPr>
              <a:t>sentiment as feature</a:t>
            </a:r>
            <a:endParaRPr lang="en-US" sz="1000" dirty="0"/>
          </a:p>
        </p:txBody>
      </p:sp>
      <p:sp>
        <p:nvSpPr>
          <p:cNvPr id="12" name="Shape 10"/>
          <p:cNvSpPr/>
          <p:nvPr/>
        </p:nvSpPr>
        <p:spPr>
          <a:xfrm>
            <a:off x="2743200" y="2560320"/>
            <a:ext cx="3657600" cy="548640"/>
          </a:xfrm>
          <a:prstGeom prst="rect">
            <a:avLst/>
          </a:prstGeom>
          <a:solidFill>
            <a:srgbClr val="D97706"/>
          </a:solidFill>
          <a:ln/>
        </p:spPr>
      </p:sp>
      <p:sp>
        <p:nvSpPr>
          <p:cNvPr id="13" name="Text 11"/>
          <p:cNvSpPr/>
          <p:nvPr/>
        </p:nvSpPr>
        <p:spPr>
          <a:xfrm>
            <a:off x="2743200" y="2560320"/>
            <a:ext cx="36576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[Module 3] Who responds</a:t>
            </a:r>
            <a:endParaRPr lang="en-US" sz="1400" dirty="0"/>
          </a:p>
        </p:txBody>
      </p:sp>
      <p:sp>
        <p:nvSpPr>
          <p:cNvPr id="14" name="Text 12"/>
          <p:cNvSpPr/>
          <p:nvPr/>
        </p:nvSpPr>
        <p:spPr>
          <a:xfrm>
            <a:off x="2743200" y="3200400"/>
            <a:ext cx="3657600" cy="274320"/>
          </a:xfrm>
          <a:prstGeom prst="rect">
            <a:avLst/>
          </a:prstGeom>
          <a:noFill/>
          <a:ln/>
        </p:spPr>
        <p:txBody>
          <a:bodyPr wrap="square" lIns="0" tIns="0" rIns="0" bIns="0" rtlCol="0" anchor="ctr"/>
          <a:lstStyle/>
          <a:p>
            <a:pPr algn="ctr" indent="0" marL="0">
              <a:buNone/>
            </a:pPr>
            <a:r>
              <a:rPr lang="en-US" sz="1100" i="1" dirty="0">
                <a:solidFill>
                  <a:srgbClr val="6B7280"/>
                </a:solidFill>
                <a:latin typeface="Arial" pitchFamily="34" charset="0"/>
                <a:ea typeface="Arial" pitchFamily="34" charset="-122"/>
                <a:cs typeface="Arial" pitchFamily="34" charset="-120"/>
              </a:rPr>
              <a:t>↓ segment as filter</a:t>
            </a:r>
            <a:endParaRPr lang="en-US" sz="1100" dirty="0"/>
          </a:p>
        </p:txBody>
      </p:sp>
      <p:sp>
        <p:nvSpPr>
          <p:cNvPr id="15" name="Shape 13"/>
          <p:cNvSpPr/>
          <p:nvPr/>
        </p:nvSpPr>
        <p:spPr>
          <a:xfrm>
            <a:off x="2743200" y="3566160"/>
            <a:ext cx="3657600" cy="548640"/>
          </a:xfrm>
          <a:prstGeom prst="rect">
            <a:avLst/>
          </a:prstGeom>
          <a:solidFill>
            <a:srgbClr val="6D28D9"/>
          </a:solidFill>
          <a:ln/>
        </p:spPr>
      </p:sp>
      <p:sp>
        <p:nvSpPr>
          <p:cNvPr id="16" name="Text 14"/>
          <p:cNvSpPr/>
          <p:nvPr/>
        </p:nvSpPr>
        <p:spPr>
          <a:xfrm>
            <a:off x="2743200" y="3566160"/>
            <a:ext cx="36576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[Module 4] Who they are</a:t>
            </a:r>
            <a:endParaRPr lang="en-US" sz="1400" dirty="0"/>
          </a:p>
        </p:txBody>
      </p:sp>
      <p:sp>
        <p:nvSpPr>
          <p:cNvPr id="17" name="Shape 15"/>
          <p:cNvSpPr/>
          <p:nvPr/>
        </p:nvSpPr>
        <p:spPr>
          <a:xfrm>
            <a:off x="640080" y="4297680"/>
            <a:ext cx="7863840" cy="457200"/>
          </a:xfrm>
          <a:prstGeom prst="rect">
            <a:avLst/>
          </a:prstGeom>
          <a:solidFill>
            <a:srgbClr val="E0F7FA"/>
          </a:solidFill>
          <a:ln w="12700">
            <a:solidFill>
              <a:srgbClr val="0891B2"/>
            </a:solidFill>
            <a:prstDash val="solid"/>
          </a:ln>
        </p:spPr>
      </p:sp>
      <p:sp>
        <p:nvSpPr>
          <p:cNvPr id="18" name="Text 16"/>
          <p:cNvSpPr/>
          <p:nvPr/>
        </p:nvSpPr>
        <p:spPr>
          <a:xfrm>
            <a:off x="822960" y="4389120"/>
            <a:ext cx="7498080" cy="27432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Module 5's sentiment becomes a feature in Module 3. Module 4's segments filter Module 3's targets. Module 1's findings calibrate Module 2's forecasts. The techniques are not silos.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640080" y="4828032"/>
            <a:ext cx="5486400" cy="228600"/>
          </a:xfrm>
          <a:prstGeom prst="rect">
            <a:avLst/>
          </a:prstGeom>
          <a:noFill/>
          <a:ln/>
        </p:spPr>
        <p:txBody>
          <a:bodyPr wrap="square" lIns="0" tIns="0" rIns="0" bIns="0" rtlCol="0" anchor="ctr"/>
          <a:lstStyle/>
          <a:p>
            <a:pPr indent="0" marL="0">
              <a:buNone/>
            </a:pPr>
            <a:r>
              <a:rPr lang="en-US" sz="900" dirty="0">
                <a:solidFill>
                  <a:srgbClr val="9CA3AF"/>
                </a:solidFill>
                <a:latin typeface="Arial" pitchFamily="34" charset="0"/>
                <a:ea typeface="Arial" pitchFamily="34" charset="-122"/>
                <a:cs typeface="Arial" pitchFamily="34" charset="-120"/>
              </a:rPr>
              <a:t>NIDA  |  MADT6004  |  Takeaways</a:t>
            </a:r>
            <a:endParaRPr lang="en-US" sz="900" dirty="0"/>
          </a:p>
        </p:txBody>
      </p:sp>
      <p:sp>
        <p:nvSpPr>
          <p:cNvPr id="4" name="Text 2"/>
          <p:cNvSpPr/>
          <p:nvPr/>
        </p:nvSpPr>
        <p:spPr>
          <a:xfrm>
            <a:off x="7772400" y="4800600"/>
            <a:ext cx="914400" cy="274320"/>
          </a:xfrm>
          <a:prstGeom prst="rect">
            <a:avLst/>
          </a:prstGeom>
          <a:noFill/>
          <a:ln/>
        </p:spPr>
        <p:txBody>
          <a:bodyPr wrap="square" lIns="0" tIns="0" rIns="0" bIns="0" rtlCol="0" anchor="ctr"/>
          <a:lstStyle/>
          <a:p>
            <a:pPr algn="r" indent="0" marL="0">
              <a:buNone/>
            </a:pPr>
            <a:r>
              <a:rPr lang="en-US" sz="1200" b="1" dirty="0">
                <a:solidFill>
                  <a:srgbClr val="0891B2"/>
                </a:solidFill>
                <a:latin typeface="Arial" pitchFamily="34" charset="0"/>
                <a:ea typeface="Arial" pitchFamily="34" charset="-122"/>
                <a:cs typeface="Arial" pitchFamily="34" charset="-120"/>
              </a:rPr>
              <a:t>MADT</a:t>
            </a:r>
            <a:endParaRPr lang="en-US" sz="1200" dirty="0"/>
          </a:p>
        </p:txBody>
      </p:sp>
      <p:sp>
        <p:nvSpPr>
          <p:cNvPr id="5" name="Text 3"/>
          <p:cNvSpPr/>
          <p:nvPr/>
        </p:nvSpPr>
        <p:spPr>
          <a:xfrm>
            <a:off x="640080" y="274320"/>
            <a:ext cx="7863840" cy="502920"/>
          </a:xfrm>
          <a:prstGeom prst="rect">
            <a:avLst/>
          </a:prstGeom>
          <a:noFill/>
          <a:ln/>
        </p:spPr>
        <p:txBody>
          <a:bodyPr wrap="square" lIns="0" tIns="0" rIns="0" bIns="0" rtlCol="0" anchor="ctr"/>
          <a:lstStyle/>
          <a:p>
            <a:pPr indent="0" marL="0">
              <a:buNone/>
            </a:pPr>
            <a:r>
              <a:rPr lang="en-US" sz="2800" b="1" dirty="0">
                <a:solidFill>
                  <a:srgbClr val="1F2937"/>
                </a:solidFill>
                <a:latin typeface="Arial" pitchFamily="34" charset="0"/>
                <a:ea typeface="Arial" pitchFamily="34" charset="-122"/>
                <a:cs typeface="Arial" pitchFamily="34" charset="-120"/>
              </a:rPr>
              <a:t>Eight habits worth taking with you</a:t>
            </a:r>
            <a:endParaRPr lang="en-US" sz="2800" dirty="0"/>
          </a:p>
        </p:txBody>
      </p:sp>
      <p:sp>
        <p:nvSpPr>
          <p:cNvPr id="6" name="Text 4"/>
          <p:cNvSpPr/>
          <p:nvPr/>
        </p:nvSpPr>
        <p:spPr>
          <a:xfrm>
            <a:off x="640080" y="777240"/>
            <a:ext cx="7863840" cy="274320"/>
          </a:xfrm>
          <a:prstGeom prst="rect">
            <a:avLst/>
          </a:prstGeom>
          <a:noFill/>
          <a:ln/>
        </p:spPr>
        <p:txBody>
          <a:bodyPr wrap="square" lIns="0" tIns="0" rIns="0" bIns="0" rtlCol="0" anchor="ctr"/>
          <a:lstStyle/>
          <a:p>
            <a:pPr indent="0" marL="0">
              <a:buNone/>
            </a:pPr>
            <a:r>
              <a:rPr lang="en-US" sz="1300" i="1" dirty="0">
                <a:solidFill>
                  <a:srgbClr val="6B7280"/>
                </a:solidFill>
                <a:latin typeface="Arial" pitchFamily="34" charset="0"/>
                <a:ea typeface="Arial" pitchFamily="34" charset="-122"/>
                <a:cs typeface="Arial" pitchFamily="34" charset="-120"/>
              </a:rPr>
              <a:t>If you remember nothing else.</a:t>
            </a:r>
            <a:endParaRPr lang="en-US" sz="1300" dirty="0"/>
          </a:p>
        </p:txBody>
      </p:sp>
      <p:sp>
        <p:nvSpPr>
          <p:cNvPr id="7" name="Text 5"/>
          <p:cNvSpPr/>
          <p:nvPr/>
        </p:nvSpPr>
        <p:spPr>
          <a:xfrm>
            <a:off x="640080" y="1280160"/>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1. Pre-register hypotheses. The dictionary is the audit trail.</a:t>
            </a:r>
            <a:endParaRPr lang="en-US" sz="1300" dirty="0"/>
          </a:p>
        </p:txBody>
      </p:sp>
      <p:sp>
        <p:nvSpPr>
          <p:cNvPr id="8" name="Text 6"/>
          <p:cNvSpPr/>
          <p:nvPr/>
        </p:nvSpPr>
        <p:spPr>
          <a:xfrm>
            <a:off x="640080" y="1664208"/>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2. Pick the test by data type — not by what you remember.</a:t>
            </a:r>
            <a:endParaRPr lang="en-US" sz="1300" dirty="0"/>
          </a:p>
        </p:txBody>
      </p:sp>
      <p:sp>
        <p:nvSpPr>
          <p:cNvPr id="9" name="Text 7"/>
          <p:cNvSpPr/>
          <p:nvPr/>
        </p:nvSpPr>
        <p:spPr>
          <a:xfrm>
            <a:off x="640080" y="2048256"/>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3. FDR-correct when you sweep. Always.</a:t>
            </a:r>
            <a:endParaRPr lang="en-US" sz="1300" dirty="0"/>
          </a:p>
        </p:txBody>
      </p:sp>
      <p:sp>
        <p:nvSpPr>
          <p:cNvPr id="10" name="Text 8"/>
          <p:cNvSpPr/>
          <p:nvPr/>
        </p:nvSpPr>
        <p:spPr>
          <a:xfrm>
            <a:off x="640080" y="2432304"/>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4. Confirm with regression + interactions when the simple test surprises you.</a:t>
            </a:r>
            <a:endParaRPr lang="en-US" sz="1300" dirty="0"/>
          </a:p>
        </p:txBody>
      </p:sp>
      <p:sp>
        <p:nvSpPr>
          <p:cNvPr id="11" name="Text 9"/>
          <p:cNvSpPr/>
          <p:nvPr/>
        </p:nvSpPr>
        <p:spPr>
          <a:xfrm>
            <a:off x="640080" y="2816352"/>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5. Try the simple forecasts first. They often win.</a:t>
            </a:r>
            <a:endParaRPr lang="en-US" sz="1300" dirty="0"/>
          </a:p>
        </p:txBody>
      </p:sp>
      <p:sp>
        <p:nvSpPr>
          <p:cNvPr id="12" name="Text 10"/>
          <p:cNvSpPr/>
          <p:nvPr/>
        </p:nvSpPr>
        <p:spPr>
          <a:xfrm>
            <a:off x="640080" y="3200400"/>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6. Measure model fit with the metric the business actually cares about.</a:t>
            </a:r>
            <a:endParaRPr lang="en-US" sz="1300" dirty="0"/>
          </a:p>
        </p:txBody>
      </p:sp>
      <p:sp>
        <p:nvSpPr>
          <p:cNvPr id="13" name="Text 11"/>
          <p:cNvSpPr/>
          <p:nvPr/>
        </p:nvSpPr>
        <p:spPr>
          <a:xfrm>
            <a:off x="640080" y="3584448"/>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7. Imbalanced classes need stratified splits and lift charts. Accuracy is misleading.</a:t>
            </a:r>
            <a:endParaRPr lang="en-US" sz="1300" dirty="0"/>
          </a:p>
        </p:txBody>
      </p:sp>
      <p:sp>
        <p:nvSpPr>
          <p:cNvPr id="14" name="Text 12"/>
          <p:cNvSpPr/>
          <p:nvPr/>
        </p:nvSpPr>
        <p:spPr>
          <a:xfrm>
            <a:off x="640080" y="3968496"/>
            <a:ext cx="7863840" cy="365760"/>
          </a:xfrm>
          <a:prstGeom prst="rect">
            <a:avLst/>
          </a:prstGeom>
          <a:noFill/>
          <a:ln/>
        </p:spPr>
        <p:txBody>
          <a:bodyPr wrap="square" lIns="0" tIns="0" rIns="0" bIns="0" rtlCol="0" anchor="ctr"/>
          <a:lstStyle/>
          <a:p>
            <a:pPr indent="0" marL="0">
              <a:buNone/>
            </a:pPr>
            <a:r>
              <a:rPr lang="en-US" sz="1300" dirty="0">
                <a:solidFill>
                  <a:srgbClr val="374151"/>
                </a:solidFill>
                <a:latin typeface="Arial" pitchFamily="34" charset="0"/>
                <a:ea typeface="Arial" pitchFamily="34" charset="-122"/>
                <a:cs typeface="Arial" pitchFamily="34" charset="-120"/>
              </a:rPr>
              <a:t>8. Read the reviews. Sentiment is a leading indicator for the dashboards.</a:t>
            </a:r>
            <a:endParaRPr lang="en-US" sz="1300" dirty="0"/>
          </a:p>
        </p:txBody>
      </p:sp>
      <p:sp>
        <p:nvSpPr>
          <p:cNvPr id="15" name="Shape 13"/>
          <p:cNvSpPr/>
          <p:nvPr/>
        </p:nvSpPr>
        <p:spPr>
          <a:xfrm>
            <a:off x="640080" y="4434840"/>
            <a:ext cx="7863840" cy="365760"/>
          </a:xfrm>
          <a:prstGeom prst="rect">
            <a:avLst/>
          </a:prstGeom>
          <a:solidFill>
            <a:srgbClr val="E0F7FA"/>
          </a:solidFill>
          <a:ln w="12700">
            <a:solidFill>
              <a:srgbClr val="0891B2"/>
            </a:solidFill>
            <a:prstDash val="solid"/>
          </a:ln>
        </p:spPr>
      </p:sp>
      <p:sp>
        <p:nvSpPr>
          <p:cNvPr id="16" name="Text 14"/>
          <p:cNvSpPr/>
          <p:nvPr/>
        </p:nvSpPr>
        <p:spPr>
          <a:xfrm>
            <a:off x="822960" y="4526280"/>
            <a:ext cx="7498080" cy="182880"/>
          </a:xfrm>
          <a:prstGeom prst="rect">
            <a:avLst/>
          </a:prstGeom>
          <a:noFill/>
          <a:ln/>
        </p:spPr>
        <p:txBody>
          <a:bodyPr wrap="square" lIns="0" tIns="0" rIns="0" bIns="0" rtlCol="0" anchor="ctr"/>
          <a:lstStyle/>
          <a:p>
            <a:pPr indent="0" marL="0">
              <a:buNone/>
            </a:pPr>
            <a:r>
              <a:rPr lang="en-US" sz="1200" i="1" dirty="0">
                <a:solidFill>
                  <a:srgbClr val="1F2937"/>
                </a:solidFill>
                <a:latin typeface="Arial" pitchFamily="34" charset="0"/>
                <a:ea typeface="Arial" pitchFamily="34" charset="-122"/>
                <a:cs typeface="Arial" pitchFamily="34" charset="-120"/>
              </a:rPr>
              <a:t>These habits travel. Different industry, different tools — same disciplines.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F2937"/>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0891B2"/>
          </a:solidFill>
          <a:ln/>
        </p:spPr>
      </p:sp>
      <p:sp>
        <p:nvSpPr>
          <p:cNvPr id="3" name="Text 1"/>
          <p:cNvSpPr/>
          <p:nvPr/>
        </p:nvSpPr>
        <p:spPr>
          <a:xfrm>
            <a:off x="7680960" y="228600"/>
            <a:ext cx="1097280" cy="365760"/>
          </a:xfrm>
          <a:prstGeom prst="rect">
            <a:avLst/>
          </a:prstGeom>
          <a:noFill/>
          <a:ln/>
        </p:spPr>
        <p:txBody>
          <a:bodyPr wrap="square" rtlCol="0" anchor="ctr"/>
          <a:lstStyle/>
          <a:p>
            <a:pPr algn="r" indent="0" marL="0">
              <a:buNone/>
            </a:pPr>
            <a:r>
              <a:rPr lang="en-US" sz="1300" b="1" dirty="0">
                <a:solidFill>
                  <a:srgbClr val="0891B2"/>
                </a:solidFill>
                <a:latin typeface="Arial" pitchFamily="34" charset="0"/>
                <a:ea typeface="Arial" pitchFamily="34" charset="-122"/>
                <a:cs typeface="Arial" pitchFamily="34" charset="-120"/>
              </a:rPr>
              <a:t>MADT</a:t>
            </a:r>
            <a:endParaRPr lang="en-US" sz="1300" dirty="0"/>
          </a:p>
        </p:txBody>
      </p:sp>
      <p:sp>
        <p:nvSpPr>
          <p:cNvPr id="4" name="Shape 2"/>
          <p:cNvSpPr/>
          <p:nvPr/>
        </p:nvSpPr>
        <p:spPr>
          <a:xfrm>
            <a:off x="640080" y="1691640"/>
            <a:ext cx="73152" cy="1371600"/>
          </a:xfrm>
          <a:prstGeom prst="rect">
            <a:avLst/>
          </a:prstGeom>
          <a:solidFill>
            <a:srgbClr val="0891B2"/>
          </a:solidFill>
          <a:ln/>
        </p:spPr>
      </p:sp>
      <p:sp>
        <p:nvSpPr>
          <p:cNvPr id="5" name="Text 3"/>
          <p:cNvSpPr/>
          <p:nvPr/>
        </p:nvSpPr>
        <p:spPr>
          <a:xfrm>
            <a:off x="868680" y="1645920"/>
            <a:ext cx="7680960" cy="8229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Thank you.</a:t>
            </a:r>
            <a:endParaRPr lang="en-US" sz="4400" dirty="0"/>
          </a:p>
        </p:txBody>
      </p:sp>
      <p:sp>
        <p:nvSpPr>
          <p:cNvPr id="6" name="Text 4"/>
          <p:cNvSpPr/>
          <p:nvPr/>
        </p:nvSpPr>
        <p:spPr>
          <a:xfrm>
            <a:off x="868680" y="2468880"/>
            <a:ext cx="7680960" cy="457200"/>
          </a:xfrm>
          <a:prstGeom prst="rect">
            <a:avLst/>
          </a:prstGeom>
          <a:noFill/>
          <a:ln/>
        </p:spPr>
        <p:txBody>
          <a:bodyPr wrap="square" lIns="0" tIns="0" rIns="0" bIns="0" rtlCol="0" anchor="ctr"/>
          <a:lstStyle/>
          <a:p>
            <a:pPr indent="0" marL="0">
              <a:buNone/>
            </a:pPr>
            <a:r>
              <a:rPr lang="en-US" sz="1800" i="1" dirty="0">
                <a:solidFill>
                  <a:srgbClr val="9CA3AF"/>
                </a:solidFill>
                <a:latin typeface="Arial" pitchFamily="34" charset="0"/>
                <a:ea typeface="Arial" pitchFamily="34" charset="-122"/>
                <a:cs typeface="Arial" pitchFamily="34" charset="-120"/>
              </a:rPr>
              <a:t>Now build something with it.</a:t>
            </a:r>
            <a:endParaRPr lang="en-US" sz="1800" dirty="0"/>
          </a:p>
        </p:txBody>
      </p:sp>
      <p:sp>
        <p:nvSpPr>
          <p:cNvPr id="7" name="Text 5"/>
          <p:cNvSpPr/>
          <p:nvPr/>
        </p:nvSpPr>
        <p:spPr>
          <a:xfrm>
            <a:off x="640080" y="4114800"/>
            <a:ext cx="7863840" cy="274320"/>
          </a:xfrm>
          <a:prstGeom prst="rect">
            <a:avLst/>
          </a:prstGeom>
          <a:noFill/>
          <a:ln/>
        </p:spPr>
        <p:txBody>
          <a:bodyPr wrap="square" lIns="0" tIns="0" rIns="0" bIns="0" rtlCol="0" anchor="ctr"/>
          <a:lstStyle/>
          <a:p>
            <a:pPr indent="0" marL="0">
              <a:buNone/>
            </a:pPr>
            <a:r>
              <a:rPr lang="en-US" sz="1200" dirty="0">
                <a:solidFill>
                  <a:srgbClr val="0891B2"/>
                </a:solidFill>
                <a:latin typeface="Consolas" pitchFamily="34" charset="0"/>
                <a:ea typeface="Consolas" pitchFamily="34" charset="-122"/>
                <a:cs typeface="Consolas" pitchFamily="34" charset="-120"/>
              </a:rPr>
              <a:t>github.com/thanachart/MADT6004  →  Integrated Data Analytics Exercise</a:t>
            </a:r>
            <a:endParaRPr lang="en-US" sz="1200" dirty="0"/>
          </a:p>
        </p:txBody>
      </p:sp>
      <p:sp>
        <p:nvSpPr>
          <p:cNvPr id="8" name="Text 6"/>
          <p:cNvSpPr/>
          <p:nvPr/>
        </p:nvSpPr>
        <p:spPr>
          <a:xfrm>
            <a:off x="640080" y="4434840"/>
            <a:ext cx="7863840" cy="274320"/>
          </a:xfrm>
          <a:prstGeom prst="rect">
            <a:avLst/>
          </a:prstGeom>
          <a:noFill/>
          <a:ln/>
        </p:spPr>
        <p:txBody>
          <a:bodyPr wrap="square" lIns="0" tIns="0" rIns="0" bIns="0" rtlCol="0" anchor="ctr"/>
          <a:lstStyle/>
          <a:p>
            <a:pPr indent="0" marL="0">
              <a:buNone/>
            </a:pPr>
            <a:r>
              <a:rPr lang="en-US" sz="1200" dirty="0">
                <a:solidFill>
                  <a:srgbClr val="9CA3AF"/>
                </a:solidFill>
                <a:latin typeface="Arial" pitchFamily="34" charset="0"/>
                <a:ea typeface="Arial" pitchFamily="34" charset="-122"/>
                <a:cs typeface="Arial" pitchFamily="34" charset="-120"/>
              </a:rPr>
              <a:t>MADT6004  |  Asst. Prof. Dr. Thanachart Ritbumroong  |  NIDA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2026-05-08T10:48:14Z</dcterms:created>
  <dcterms:modified xsi:type="dcterms:W3CDTF">2026-05-08T10:48:14Z</dcterms:modified>
</cp:coreProperties>
</file>