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Lst>
  <p:notesMasterIdLst>
    <p:notesMasterId r:id="rId32"/>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notesMaster" Target="notesMasters/notesMaster1.xml"/><Relationship Id="rId33" Type="http://schemas.openxmlformats.org/officeDocument/2006/relationships/presProps" Target="presProps.xml"/><Relationship Id="rId34" Type="http://schemas.openxmlformats.org/officeDocument/2006/relationships/viewProps" Target="viewProps.xml"/><Relationship Id="rId35" Type="http://schemas.openxmlformats.org/officeDocument/2006/relationships/theme" Target="theme/theme1.xml"/><Relationship Id="rId36"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F2937"/>
        </a:solidFill>
      </p:bgPr>
    </p:bg>
    <p:spTree>
      <p:nvGrpSpPr>
        <p:cNvPr id="1" name=""/>
        <p:cNvGrpSpPr/>
        <p:nvPr/>
      </p:nvGrpSpPr>
      <p:grpSpPr>
        <a:xfrm>
          <a:off x="0" y="0"/>
          <a:ext cx="0" cy="0"/>
          <a:chOff x="0" y="0"/>
          <a:chExt cx="0" cy="0"/>
        </a:xfrm>
      </p:grpSpPr>
      <p:sp>
        <p:nvSpPr>
          <p:cNvPr id="2" name="Shape 0"/>
          <p:cNvSpPr/>
          <p:nvPr/>
        </p:nvSpPr>
        <p:spPr>
          <a:xfrm>
            <a:off x="0" y="0"/>
            <a:ext cx="9144000" cy="45720"/>
          </a:xfrm>
          <a:prstGeom prst="rect">
            <a:avLst/>
          </a:prstGeom>
          <a:solidFill>
            <a:srgbClr val="0891B2"/>
          </a:solidFill>
          <a:ln/>
        </p:spPr>
      </p:sp>
      <p:sp>
        <p:nvSpPr>
          <p:cNvPr id="3" name="Text 1"/>
          <p:cNvSpPr/>
          <p:nvPr/>
        </p:nvSpPr>
        <p:spPr>
          <a:xfrm>
            <a:off x="7680960" y="228600"/>
            <a:ext cx="1097280" cy="365760"/>
          </a:xfrm>
          <a:prstGeom prst="rect">
            <a:avLst/>
          </a:prstGeom>
          <a:noFill/>
          <a:ln/>
        </p:spPr>
        <p:txBody>
          <a:bodyPr wrap="square" rtlCol="0" anchor="ctr"/>
          <a:lstStyle/>
          <a:p>
            <a:pPr algn="r" indent="0" marL="0">
              <a:buNone/>
            </a:pPr>
            <a:r>
              <a:rPr lang="en-US" sz="1300" b="1" dirty="0">
                <a:solidFill>
                  <a:srgbClr val="0891B2"/>
                </a:solidFill>
                <a:latin typeface="Arial" pitchFamily="34" charset="0"/>
                <a:ea typeface="Arial" pitchFamily="34" charset="-122"/>
                <a:cs typeface="Arial" pitchFamily="34" charset="-120"/>
              </a:rPr>
              <a:t>MADT</a:t>
            </a:r>
            <a:endParaRPr lang="en-US" sz="1300" dirty="0"/>
          </a:p>
        </p:txBody>
      </p:sp>
      <p:sp>
        <p:nvSpPr>
          <p:cNvPr id="4" name="Text 2"/>
          <p:cNvSpPr/>
          <p:nvPr/>
        </p:nvSpPr>
        <p:spPr>
          <a:xfrm>
            <a:off x="640080" y="1280160"/>
            <a:ext cx="7863840" cy="365760"/>
          </a:xfrm>
          <a:prstGeom prst="rect">
            <a:avLst/>
          </a:prstGeom>
          <a:noFill/>
          <a:ln/>
        </p:spPr>
        <p:txBody>
          <a:bodyPr wrap="square" lIns="0" tIns="0" rIns="0" bIns="0" rtlCol="0" anchor="ctr"/>
          <a:lstStyle/>
          <a:p>
            <a:pPr indent="0" marL="0">
              <a:buNone/>
            </a:pPr>
            <a:r>
              <a:rPr lang="en-US" sz="1400" dirty="0">
                <a:solidFill>
                  <a:srgbClr val="9CA3AF"/>
                </a:solidFill>
                <a:latin typeface="Arial" pitchFamily="34" charset="0"/>
                <a:ea typeface="Arial" pitchFamily="34" charset="-122"/>
                <a:cs typeface="Arial" pitchFamily="34" charset="-120"/>
              </a:rPr>
              <a:t>Wrap-Up Session</a:t>
            </a:r>
            <a:endParaRPr lang="en-US" sz="1400" dirty="0"/>
          </a:p>
        </p:txBody>
      </p:sp>
      <p:sp>
        <p:nvSpPr>
          <p:cNvPr id="5" name="Shape 3"/>
          <p:cNvSpPr/>
          <p:nvPr/>
        </p:nvSpPr>
        <p:spPr>
          <a:xfrm>
            <a:off x="640080" y="1783080"/>
            <a:ext cx="73152" cy="1554480"/>
          </a:xfrm>
          <a:prstGeom prst="rect">
            <a:avLst/>
          </a:prstGeom>
          <a:solidFill>
            <a:srgbClr val="0891B2"/>
          </a:solidFill>
          <a:ln/>
        </p:spPr>
      </p:sp>
      <p:sp>
        <p:nvSpPr>
          <p:cNvPr id="6" name="Text 4"/>
          <p:cNvSpPr/>
          <p:nvPr/>
        </p:nvSpPr>
        <p:spPr>
          <a:xfrm>
            <a:off x="868680" y="1737360"/>
            <a:ext cx="7680960" cy="914400"/>
          </a:xfrm>
          <a:prstGeom prst="rect">
            <a:avLst/>
          </a:prstGeom>
          <a:noFill/>
          <a:ln/>
        </p:spPr>
        <p:txBody>
          <a:bodyPr wrap="square" lIns="0" tIns="0" rIns="0" bIns="0" rtlCol="0" anchor="ctr"/>
          <a:lstStyle/>
          <a:p>
            <a:pPr indent="0" marL="0">
              <a:buNone/>
            </a:pPr>
            <a:r>
              <a:rPr lang="en-US" sz="4000" b="1" dirty="0">
                <a:solidFill>
                  <a:srgbClr val="FFFFFF"/>
                </a:solidFill>
                <a:latin typeface="Arial" pitchFamily="34" charset="0"/>
                <a:ea typeface="Arial" pitchFamily="34" charset="-122"/>
                <a:cs typeface="Arial" pitchFamily="34" charset="-120"/>
              </a:rPr>
              <a:t>Integrated Data Analytics Exercise</a:t>
            </a:r>
            <a:endParaRPr lang="en-US" sz="4000" dirty="0"/>
          </a:p>
        </p:txBody>
      </p:sp>
      <p:sp>
        <p:nvSpPr>
          <p:cNvPr id="7" name="Text 5"/>
          <p:cNvSpPr/>
          <p:nvPr/>
        </p:nvSpPr>
        <p:spPr>
          <a:xfrm>
            <a:off x="868680" y="2743200"/>
            <a:ext cx="7680960" cy="548640"/>
          </a:xfrm>
          <a:prstGeom prst="rect">
            <a:avLst/>
          </a:prstGeom>
          <a:noFill/>
          <a:ln/>
        </p:spPr>
        <p:txBody>
          <a:bodyPr wrap="square" lIns="0" tIns="0" rIns="0" bIns="0" rtlCol="0" anchor="ctr"/>
          <a:lstStyle/>
          <a:p>
            <a:pPr indent="0" marL="0">
              <a:buNone/>
            </a:pPr>
            <a:r>
              <a:rPr lang="en-US" sz="1600" i="1" dirty="0">
                <a:solidFill>
                  <a:srgbClr val="9CA3AF"/>
                </a:solidFill>
                <a:latin typeface="Arial" pitchFamily="34" charset="0"/>
                <a:ea typeface="Arial" pitchFamily="34" charset="-122"/>
                <a:cs typeface="Arial" pitchFamily="34" charset="-120"/>
              </a:rPr>
              <a:t>Five modules. One coffee chain. The full journey from raw data to defensible decisions.</a:t>
            </a:r>
            <a:endParaRPr lang="en-US" sz="1600" dirty="0"/>
          </a:p>
        </p:txBody>
      </p:sp>
      <p:sp>
        <p:nvSpPr>
          <p:cNvPr id="8" name="Text 6"/>
          <p:cNvSpPr/>
          <p:nvPr/>
        </p:nvSpPr>
        <p:spPr>
          <a:xfrm>
            <a:off x="640080" y="4023360"/>
            <a:ext cx="7863840" cy="274320"/>
          </a:xfrm>
          <a:prstGeom prst="rect">
            <a:avLst/>
          </a:prstGeom>
          <a:noFill/>
          <a:ln/>
        </p:spPr>
        <p:txBody>
          <a:bodyPr wrap="square" lIns="0" tIns="0" rIns="0" bIns="0" rtlCol="0" anchor="ctr"/>
          <a:lstStyle/>
          <a:p>
            <a:pPr indent="0" marL="0">
              <a:buNone/>
            </a:pPr>
            <a:r>
              <a:rPr lang="en-US" sz="1200" dirty="0">
                <a:solidFill>
                  <a:srgbClr val="9CA3AF"/>
                </a:solidFill>
                <a:latin typeface="Arial" pitchFamily="34" charset="0"/>
                <a:ea typeface="Arial" pitchFamily="34" charset="-122"/>
                <a:cs typeface="Arial" pitchFamily="34" charset="-120"/>
              </a:rPr>
              <a:t>MADT6004  |  Applied Data Analytics for Business</a:t>
            </a:r>
            <a:endParaRPr lang="en-US" sz="1200" dirty="0"/>
          </a:p>
        </p:txBody>
      </p:sp>
      <p:sp>
        <p:nvSpPr>
          <p:cNvPr id="9" name="Text 7"/>
          <p:cNvSpPr/>
          <p:nvPr/>
        </p:nvSpPr>
        <p:spPr>
          <a:xfrm>
            <a:off x="640080" y="4297680"/>
            <a:ext cx="7863840" cy="274320"/>
          </a:xfrm>
          <a:prstGeom prst="rect">
            <a:avLst/>
          </a:prstGeom>
          <a:noFill/>
          <a:ln/>
        </p:spPr>
        <p:txBody>
          <a:bodyPr wrap="square" lIns="0" tIns="0" rIns="0" bIns="0" rtlCol="0" anchor="ctr"/>
          <a:lstStyle/>
          <a:p>
            <a:pPr indent="0" marL="0">
              <a:buNone/>
            </a:pPr>
            <a:r>
              <a:rPr lang="en-US" sz="1200" dirty="0">
                <a:solidFill>
                  <a:srgbClr val="9CA3AF"/>
                </a:solidFill>
                <a:latin typeface="Arial" pitchFamily="34" charset="0"/>
                <a:ea typeface="Arial" pitchFamily="34" charset="-122"/>
                <a:cs typeface="Arial" pitchFamily="34" charset="-120"/>
              </a:rPr>
              <a:t>Asst. Prof. Dr. Thanachart Ritbumroong  |  NIDA</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9144000" cy="45720"/>
          </a:xfrm>
          <a:prstGeom prst="rect">
            <a:avLst/>
          </a:prstGeom>
          <a:solidFill>
            <a:srgbClr val="0891B2"/>
          </a:solidFill>
          <a:ln/>
        </p:spPr>
      </p:sp>
      <p:sp>
        <p:nvSpPr>
          <p:cNvPr id="3" name="Text 1"/>
          <p:cNvSpPr/>
          <p:nvPr/>
        </p:nvSpPr>
        <p:spPr>
          <a:xfrm>
            <a:off x="640080" y="4828032"/>
            <a:ext cx="5486400" cy="228600"/>
          </a:xfrm>
          <a:prstGeom prst="rect">
            <a:avLst/>
          </a:prstGeom>
          <a:noFill/>
          <a:ln/>
        </p:spPr>
        <p:txBody>
          <a:bodyPr wrap="square" lIns="0" tIns="0" rIns="0" bIns="0" rtlCol="0" anchor="ctr"/>
          <a:lstStyle/>
          <a:p>
            <a:pPr indent="0" marL="0">
              <a:buNone/>
            </a:pPr>
            <a:r>
              <a:rPr lang="en-US" sz="900" dirty="0">
                <a:solidFill>
                  <a:srgbClr val="9CA3AF"/>
                </a:solidFill>
                <a:latin typeface="Arial" pitchFamily="34" charset="0"/>
                <a:ea typeface="Arial" pitchFamily="34" charset="-122"/>
                <a:cs typeface="Arial" pitchFamily="34" charset="-120"/>
              </a:rPr>
              <a:t>NIDA  |  MADT6004  |  Setup</a:t>
            </a:r>
            <a:endParaRPr lang="en-US" sz="900" dirty="0"/>
          </a:p>
        </p:txBody>
      </p:sp>
      <p:sp>
        <p:nvSpPr>
          <p:cNvPr id="4" name="Text 2"/>
          <p:cNvSpPr/>
          <p:nvPr/>
        </p:nvSpPr>
        <p:spPr>
          <a:xfrm>
            <a:off x="7772400" y="4800600"/>
            <a:ext cx="914400" cy="274320"/>
          </a:xfrm>
          <a:prstGeom prst="rect">
            <a:avLst/>
          </a:prstGeom>
          <a:noFill/>
          <a:ln/>
        </p:spPr>
        <p:txBody>
          <a:bodyPr wrap="square" lIns="0" tIns="0" rIns="0" bIns="0" rtlCol="0" anchor="ctr"/>
          <a:lstStyle/>
          <a:p>
            <a:pPr algn="r" indent="0" marL="0">
              <a:buNone/>
            </a:pPr>
            <a:r>
              <a:rPr lang="en-US" sz="1200" b="1" dirty="0">
                <a:solidFill>
                  <a:srgbClr val="0891B2"/>
                </a:solidFill>
                <a:latin typeface="Arial" pitchFamily="34" charset="0"/>
                <a:ea typeface="Arial" pitchFamily="34" charset="-122"/>
                <a:cs typeface="Arial" pitchFamily="34" charset="-120"/>
              </a:rPr>
              <a:t>MADT</a:t>
            </a:r>
            <a:endParaRPr lang="en-US" sz="1200" dirty="0"/>
          </a:p>
        </p:txBody>
      </p:sp>
      <p:sp>
        <p:nvSpPr>
          <p:cNvPr id="5" name="Text 3"/>
          <p:cNvSpPr/>
          <p:nvPr/>
        </p:nvSpPr>
        <p:spPr>
          <a:xfrm>
            <a:off x="640080" y="274320"/>
            <a:ext cx="7863840" cy="502920"/>
          </a:xfrm>
          <a:prstGeom prst="rect">
            <a:avLst/>
          </a:prstGeom>
          <a:noFill/>
          <a:ln/>
        </p:spPr>
        <p:txBody>
          <a:bodyPr wrap="square" lIns="0" tIns="0" rIns="0" bIns="0" rtlCol="0" anchor="ctr"/>
          <a:lstStyle/>
          <a:p>
            <a:pPr indent="0" marL="0">
              <a:buNone/>
            </a:pPr>
            <a:r>
              <a:rPr lang="en-US" sz="2800" b="1" dirty="0">
                <a:solidFill>
                  <a:srgbClr val="1F2937"/>
                </a:solidFill>
                <a:latin typeface="Arial" pitchFamily="34" charset="0"/>
                <a:ea typeface="Arial" pitchFamily="34" charset="-122"/>
                <a:cs typeface="Arial" pitchFamily="34" charset="-120"/>
              </a:rPr>
              <a:t>Brew Lab BKK</a:t>
            </a:r>
            <a:endParaRPr lang="en-US" sz="2800" dirty="0"/>
          </a:p>
        </p:txBody>
      </p:sp>
      <p:sp>
        <p:nvSpPr>
          <p:cNvPr id="6" name="Text 4"/>
          <p:cNvSpPr/>
          <p:nvPr/>
        </p:nvSpPr>
        <p:spPr>
          <a:xfrm>
            <a:off x="640080" y="777240"/>
            <a:ext cx="7863840" cy="274320"/>
          </a:xfrm>
          <a:prstGeom prst="rect">
            <a:avLst/>
          </a:prstGeom>
          <a:noFill/>
          <a:ln/>
        </p:spPr>
        <p:txBody>
          <a:bodyPr wrap="square" lIns="0" tIns="0" rIns="0" bIns="0" rtlCol="0" anchor="ctr"/>
          <a:lstStyle/>
          <a:p>
            <a:pPr indent="0" marL="0">
              <a:buNone/>
            </a:pPr>
            <a:r>
              <a:rPr lang="en-US" sz="1300" i="1" dirty="0">
                <a:solidFill>
                  <a:srgbClr val="6B7280"/>
                </a:solidFill>
                <a:latin typeface="Arial" pitchFamily="34" charset="0"/>
                <a:ea typeface="Arial" pitchFamily="34" charset="-122"/>
                <a:cs typeface="Arial" pitchFamily="34" charset="-120"/>
              </a:rPr>
              <a:t>12-branch specialty coffee chain across Bangkok</a:t>
            </a:r>
            <a:endParaRPr lang="en-US" sz="1300" dirty="0"/>
          </a:p>
        </p:txBody>
      </p:sp>
      <p:sp>
        <p:nvSpPr>
          <p:cNvPr id="7" name="Text 5"/>
          <p:cNvSpPr/>
          <p:nvPr/>
        </p:nvSpPr>
        <p:spPr>
          <a:xfrm>
            <a:off x="640080" y="1280160"/>
            <a:ext cx="1463040" cy="640080"/>
          </a:xfrm>
          <a:prstGeom prst="rect">
            <a:avLst/>
          </a:prstGeom>
          <a:noFill/>
          <a:ln/>
        </p:spPr>
        <p:txBody>
          <a:bodyPr wrap="square" lIns="0" tIns="0" rIns="0" bIns="0" rtlCol="0" anchor="ctr"/>
          <a:lstStyle/>
          <a:p>
            <a:pPr algn="ctr" indent="0" marL="0">
              <a:buNone/>
            </a:pPr>
            <a:r>
              <a:rPr lang="en-US" sz="3600" b="1" dirty="0">
                <a:solidFill>
                  <a:srgbClr val="0891B2"/>
                </a:solidFill>
                <a:latin typeface="Arial" pitchFamily="34" charset="0"/>
                <a:ea typeface="Arial" pitchFamily="34" charset="-122"/>
                <a:cs typeface="Arial" pitchFamily="34" charset="-120"/>
              </a:rPr>
              <a:t>12</a:t>
            </a:r>
            <a:endParaRPr lang="en-US" sz="3600" dirty="0"/>
          </a:p>
        </p:txBody>
      </p:sp>
      <p:sp>
        <p:nvSpPr>
          <p:cNvPr id="8" name="Text 6"/>
          <p:cNvSpPr/>
          <p:nvPr/>
        </p:nvSpPr>
        <p:spPr>
          <a:xfrm>
            <a:off x="640080" y="1874520"/>
            <a:ext cx="1463040" cy="274320"/>
          </a:xfrm>
          <a:prstGeom prst="rect">
            <a:avLst/>
          </a:prstGeom>
          <a:noFill/>
          <a:ln/>
        </p:spPr>
        <p:txBody>
          <a:bodyPr wrap="square" lIns="0" tIns="0" rIns="0" bIns="0" rtlCol="0" anchor="ctr"/>
          <a:lstStyle/>
          <a:p>
            <a:pPr algn="ctr" indent="0" marL="0">
              <a:buNone/>
            </a:pPr>
            <a:r>
              <a:rPr lang="en-US" sz="1100" dirty="0">
                <a:solidFill>
                  <a:srgbClr val="6B7280"/>
                </a:solidFill>
                <a:latin typeface="Arial" pitchFamily="34" charset="0"/>
                <a:ea typeface="Arial" pitchFamily="34" charset="-122"/>
                <a:cs typeface="Arial" pitchFamily="34" charset="-120"/>
              </a:rPr>
              <a:t>branches</a:t>
            </a:r>
            <a:endParaRPr lang="en-US" sz="1100" dirty="0"/>
          </a:p>
        </p:txBody>
      </p:sp>
      <p:sp>
        <p:nvSpPr>
          <p:cNvPr id="9" name="Text 7"/>
          <p:cNvSpPr/>
          <p:nvPr/>
        </p:nvSpPr>
        <p:spPr>
          <a:xfrm>
            <a:off x="2267712" y="1280160"/>
            <a:ext cx="1463040" cy="640080"/>
          </a:xfrm>
          <a:prstGeom prst="rect">
            <a:avLst/>
          </a:prstGeom>
          <a:noFill/>
          <a:ln/>
        </p:spPr>
        <p:txBody>
          <a:bodyPr wrap="square" lIns="0" tIns="0" rIns="0" bIns="0" rtlCol="0" anchor="ctr"/>
          <a:lstStyle/>
          <a:p>
            <a:pPr algn="ctr" indent="0" marL="0">
              <a:buNone/>
            </a:pPr>
            <a:r>
              <a:rPr lang="en-US" sz="3600" b="1" dirty="0">
                <a:solidFill>
                  <a:srgbClr val="0891B2"/>
                </a:solidFill>
                <a:latin typeface="Arial" pitchFamily="34" charset="0"/>
                <a:ea typeface="Arial" pitchFamily="34" charset="-122"/>
                <a:cs typeface="Arial" pitchFamily="34" charset="-120"/>
              </a:rPr>
              <a:t>5K</a:t>
            </a:r>
            <a:endParaRPr lang="en-US" sz="3600" dirty="0"/>
          </a:p>
        </p:txBody>
      </p:sp>
      <p:sp>
        <p:nvSpPr>
          <p:cNvPr id="10" name="Text 8"/>
          <p:cNvSpPr/>
          <p:nvPr/>
        </p:nvSpPr>
        <p:spPr>
          <a:xfrm>
            <a:off x="2267712" y="1874520"/>
            <a:ext cx="1463040" cy="274320"/>
          </a:xfrm>
          <a:prstGeom prst="rect">
            <a:avLst/>
          </a:prstGeom>
          <a:noFill/>
          <a:ln/>
        </p:spPr>
        <p:txBody>
          <a:bodyPr wrap="square" lIns="0" tIns="0" rIns="0" bIns="0" rtlCol="0" anchor="ctr"/>
          <a:lstStyle/>
          <a:p>
            <a:pPr algn="ctr" indent="0" marL="0">
              <a:buNone/>
            </a:pPr>
            <a:r>
              <a:rPr lang="en-US" sz="1100" dirty="0">
                <a:solidFill>
                  <a:srgbClr val="6B7280"/>
                </a:solidFill>
                <a:latin typeface="Arial" pitchFamily="34" charset="0"/>
                <a:ea typeface="Arial" pitchFamily="34" charset="-122"/>
                <a:cs typeface="Arial" pitchFamily="34" charset="-120"/>
              </a:rPr>
              <a:t>loyalty members</a:t>
            </a:r>
            <a:endParaRPr lang="en-US" sz="1100" dirty="0"/>
          </a:p>
        </p:txBody>
      </p:sp>
      <p:sp>
        <p:nvSpPr>
          <p:cNvPr id="11" name="Text 9"/>
          <p:cNvSpPr/>
          <p:nvPr/>
        </p:nvSpPr>
        <p:spPr>
          <a:xfrm>
            <a:off x="3895344" y="1280160"/>
            <a:ext cx="1463040" cy="640080"/>
          </a:xfrm>
          <a:prstGeom prst="rect">
            <a:avLst/>
          </a:prstGeom>
          <a:noFill/>
          <a:ln/>
        </p:spPr>
        <p:txBody>
          <a:bodyPr wrap="square" lIns="0" tIns="0" rIns="0" bIns="0" rtlCol="0" anchor="ctr"/>
          <a:lstStyle/>
          <a:p>
            <a:pPr algn="ctr" indent="0" marL="0">
              <a:buNone/>
            </a:pPr>
            <a:r>
              <a:rPr lang="en-US" sz="3600" b="1" dirty="0">
                <a:solidFill>
                  <a:srgbClr val="0891B2"/>
                </a:solidFill>
                <a:latin typeface="Arial" pitchFamily="34" charset="0"/>
                <a:ea typeface="Arial" pitchFamily="34" charset="-122"/>
                <a:cs typeface="Arial" pitchFamily="34" charset="-120"/>
              </a:rPr>
              <a:t>267K</a:t>
            </a:r>
            <a:endParaRPr lang="en-US" sz="3600" dirty="0"/>
          </a:p>
        </p:txBody>
      </p:sp>
      <p:sp>
        <p:nvSpPr>
          <p:cNvPr id="12" name="Text 10"/>
          <p:cNvSpPr/>
          <p:nvPr/>
        </p:nvSpPr>
        <p:spPr>
          <a:xfrm>
            <a:off x="3895344" y="1874520"/>
            <a:ext cx="1463040" cy="274320"/>
          </a:xfrm>
          <a:prstGeom prst="rect">
            <a:avLst/>
          </a:prstGeom>
          <a:noFill/>
          <a:ln/>
        </p:spPr>
        <p:txBody>
          <a:bodyPr wrap="square" lIns="0" tIns="0" rIns="0" bIns="0" rtlCol="0" anchor="ctr"/>
          <a:lstStyle/>
          <a:p>
            <a:pPr algn="ctr" indent="0" marL="0">
              <a:buNone/>
            </a:pPr>
            <a:r>
              <a:rPr lang="en-US" sz="1100" dirty="0">
                <a:solidFill>
                  <a:srgbClr val="6B7280"/>
                </a:solidFill>
                <a:latin typeface="Arial" pitchFamily="34" charset="0"/>
                <a:ea typeface="Arial" pitchFamily="34" charset="-122"/>
                <a:cs typeface="Arial" pitchFamily="34" charset="-120"/>
              </a:rPr>
              <a:t>transactions</a:t>
            </a:r>
            <a:endParaRPr lang="en-US" sz="1100" dirty="0"/>
          </a:p>
        </p:txBody>
      </p:sp>
      <p:sp>
        <p:nvSpPr>
          <p:cNvPr id="13" name="Text 11"/>
          <p:cNvSpPr/>
          <p:nvPr/>
        </p:nvSpPr>
        <p:spPr>
          <a:xfrm>
            <a:off x="5522976" y="1280160"/>
            <a:ext cx="1463040" cy="640080"/>
          </a:xfrm>
          <a:prstGeom prst="rect">
            <a:avLst/>
          </a:prstGeom>
          <a:noFill/>
          <a:ln/>
        </p:spPr>
        <p:txBody>
          <a:bodyPr wrap="square" lIns="0" tIns="0" rIns="0" bIns="0" rtlCol="0" anchor="ctr"/>
          <a:lstStyle/>
          <a:p>
            <a:pPr algn="ctr" indent="0" marL="0">
              <a:buNone/>
            </a:pPr>
            <a:r>
              <a:rPr lang="en-US" sz="3600" b="1" dirty="0">
                <a:solidFill>
                  <a:srgbClr val="0891B2"/>
                </a:solidFill>
                <a:latin typeface="Arial" pitchFamily="34" charset="0"/>
                <a:ea typeface="Arial" pitchFamily="34" charset="-122"/>
                <a:cs typeface="Arial" pitchFamily="34" charset="-120"/>
              </a:rPr>
              <a:t>1.8K</a:t>
            </a:r>
            <a:endParaRPr lang="en-US" sz="3600" dirty="0"/>
          </a:p>
        </p:txBody>
      </p:sp>
      <p:sp>
        <p:nvSpPr>
          <p:cNvPr id="14" name="Text 12"/>
          <p:cNvSpPr/>
          <p:nvPr/>
        </p:nvSpPr>
        <p:spPr>
          <a:xfrm>
            <a:off x="5522976" y="1874520"/>
            <a:ext cx="1463040" cy="274320"/>
          </a:xfrm>
          <a:prstGeom prst="rect">
            <a:avLst/>
          </a:prstGeom>
          <a:noFill/>
          <a:ln/>
        </p:spPr>
        <p:txBody>
          <a:bodyPr wrap="square" lIns="0" tIns="0" rIns="0" bIns="0" rtlCol="0" anchor="ctr"/>
          <a:lstStyle/>
          <a:p>
            <a:pPr algn="ctr" indent="0" marL="0">
              <a:buNone/>
            </a:pPr>
            <a:r>
              <a:rPr lang="en-US" sz="1100" dirty="0">
                <a:solidFill>
                  <a:srgbClr val="6B7280"/>
                </a:solidFill>
                <a:latin typeface="Arial" pitchFamily="34" charset="0"/>
                <a:ea typeface="Arial" pitchFamily="34" charset="-122"/>
                <a:cs typeface="Arial" pitchFamily="34" charset="-120"/>
              </a:rPr>
              <a:t>customer reviews</a:t>
            </a:r>
            <a:endParaRPr lang="en-US" sz="1100" dirty="0"/>
          </a:p>
        </p:txBody>
      </p:sp>
      <p:sp>
        <p:nvSpPr>
          <p:cNvPr id="15" name="Text 13"/>
          <p:cNvSpPr/>
          <p:nvPr/>
        </p:nvSpPr>
        <p:spPr>
          <a:xfrm>
            <a:off x="7150608" y="1280160"/>
            <a:ext cx="1463040" cy="640080"/>
          </a:xfrm>
          <a:prstGeom prst="rect">
            <a:avLst/>
          </a:prstGeom>
          <a:noFill/>
          <a:ln/>
        </p:spPr>
        <p:txBody>
          <a:bodyPr wrap="square" lIns="0" tIns="0" rIns="0" bIns="0" rtlCol="0" anchor="ctr"/>
          <a:lstStyle/>
          <a:p>
            <a:pPr algn="ctr" indent="0" marL="0">
              <a:buNone/>
            </a:pPr>
            <a:r>
              <a:rPr lang="en-US" sz="3600" b="1" dirty="0">
                <a:solidFill>
                  <a:srgbClr val="0891B2"/>
                </a:solidFill>
                <a:latin typeface="Arial" pitchFamily="34" charset="0"/>
                <a:ea typeface="Arial" pitchFamily="34" charset="-122"/>
                <a:cs typeface="Arial" pitchFamily="34" charset="-120"/>
              </a:rPr>
              <a:t>12mo</a:t>
            </a:r>
            <a:endParaRPr lang="en-US" sz="3600" dirty="0"/>
          </a:p>
        </p:txBody>
      </p:sp>
      <p:sp>
        <p:nvSpPr>
          <p:cNvPr id="16" name="Text 14"/>
          <p:cNvSpPr/>
          <p:nvPr/>
        </p:nvSpPr>
        <p:spPr>
          <a:xfrm>
            <a:off x="7150608" y="1874520"/>
            <a:ext cx="1463040" cy="274320"/>
          </a:xfrm>
          <a:prstGeom prst="rect">
            <a:avLst/>
          </a:prstGeom>
          <a:noFill/>
          <a:ln/>
        </p:spPr>
        <p:txBody>
          <a:bodyPr wrap="square" lIns="0" tIns="0" rIns="0" bIns="0" rtlCol="0" anchor="ctr"/>
          <a:lstStyle/>
          <a:p>
            <a:pPr algn="ctr" indent="0" marL="0">
              <a:buNone/>
            </a:pPr>
            <a:r>
              <a:rPr lang="en-US" sz="1100" dirty="0">
                <a:solidFill>
                  <a:srgbClr val="6B7280"/>
                </a:solidFill>
                <a:latin typeface="Arial" pitchFamily="34" charset="0"/>
                <a:ea typeface="Arial" pitchFamily="34" charset="-122"/>
                <a:cs typeface="Arial" pitchFamily="34" charset="-120"/>
              </a:rPr>
              <a:t>of history</a:t>
            </a:r>
            <a:endParaRPr lang="en-US" sz="1100" dirty="0"/>
          </a:p>
        </p:txBody>
      </p:sp>
      <p:sp>
        <p:nvSpPr>
          <p:cNvPr id="17" name="Text 15"/>
          <p:cNvSpPr/>
          <p:nvPr/>
        </p:nvSpPr>
        <p:spPr>
          <a:xfrm>
            <a:off x="640080" y="2468880"/>
            <a:ext cx="7863840" cy="914400"/>
          </a:xfrm>
          <a:prstGeom prst="rect">
            <a:avLst/>
          </a:prstGeom>
          <a:noFill/>
          <a:ln/>
        </p:spPr>
        <p:txBody>
          <a:bodyPr wrap="square" lIns="0" tIns="0" rIns="0" bIns="0" rtlCol="0" anchor="t"/>
          <a:lstStyle/>
          <a:p>
            <a:pPr indent="0" marL="0">
              <a:buNone/>
            </a:pPr>
            <a:r>
              <a:rPr lang="en-US" sz="1300" dirty="0">
                <a:solidFill>
                  <a:srgbClr val="374151"/>
                </a:solidFill>
                <a:latin typeface="Arial" pitchFamily="34" charset="0"/>
                <a:ea typeface="Arial" pitchFamily="34" charset="-122"/>
                <a:cs typeface="Arial" pitchFamily="34" charset="-120"/>
              </a:rPr>
              <a:t>All branches sit in central Bangkok. Four are drive-thrus on outer roads; eight are walk-in shops in higher-prestige districts. Mixed channel mix: dine-in, takeaway, app, delivery. ~60K loyalty signups; 12 months of clean transaction history through April 2026.</a:t>
            </a:r>
            <a:endParaRPr lang="en-US" sz="1300" dirty="0"/>
          </a:p>
        </p:txBody>
      </p:sp>
      <p:sp>
        <p:nvSpPr>
          <p:cNvPr id="18" name="Shape 16"/>
          <p:cNvSpPr/>
          <p:nvPr/>
        </p:nvSpPr>
        <p:spPr>
          <a:xfrm>
            <a:off x="640080" y="3657600"/>
            <a:ext cx="7863840" cy="777240"/>
          </a:xfrm>
          <a:prstGeom prst="rect">
            <a:avLst/>
          </a:prstGeom>
          <a:solidFill>
            <a:srgbClr val="E0F7FA"/>
          </a:solidFill>
          <a:ln w="12700">
            <a:solidFill>
              <a:srgbClr val="0891B2"/>
            </a:solidFill>
            <a:prstDash val="solid"/>
          </a:ln>
        </p:spPr>
      </p:sp>
      <p:sp>
        <p:nvSpPr>
          <p:cNvPr id="19" name="Text 17"/>
          <p:cNvSpPr/>
          <p:nvPr/>
        </p:nvSpPr>
        <p:spPr>
          <a:xfrm>
            <a:off x="822960" y="3749040"/>
            <a:ext cx="7498080" cy="594360"/>
          </a:xfrm>
          <a:prstGeom prst="rect">
            <a:avLst/>
          </a:prstGeom>
          <a:noFill/>
          <a:ln/>
        </p:spPr>
        <p:txBody>
          <a:bodyPr wrap="square" lIns="0" tIns="0" rIns="0" bIns="0" rtlCol="0" anchor="ctr"/>
          <a:lstStyle/>
          <a:p>
            <a:pPr indent="0" marL="0">
              <a:buNone/>
            </a:pPr>
            <a:r>
              <a:rPr lang="en-US" sz="1200" i="1" dirty="0">
                <a:solidFill>
                  <a:srgbClr val="1F2937"/>
                </a:solidFill>
                <a:latin typeface="Arial" pitchFamily="34" charset="0"/>
                <a:ea typeface="Arial" pitchFamily="34" charset="-122"/>
                <a:cs typeface="Arial" pitchFamily="34" charset="-120"/>
              </a:rPr>
              <a:t>The case is fictional. The patterns are real — engineered to surface signal in every module. What you find today, you will find at every Thai retail client.</a:t>
            </a:r>
            <a:endParaRPr lang="en-US" sz="12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9144000" cy="45720"/>
          </a:xfrm>
          <a:prstGeom prst="rect">
            <a:avLst/>
          </a:prstGeom>
          <a:solidFill>
            <a:srgbClr val="0891B2"/>
          </a:solidFill>
          <a:ln/>
        </p:spPr>
      </p:sp>
      <p:sp>
        <p:nvSpPr>
          <p:cNvPr id="3" name="Text 1"/>
          <p:cNvSpPr/>
          <p:nvPr/>
        </p:nvSpPr>
        <p:spPr>
          <a:xfrm>
            <a:off x="640080" y="4828032"/>
            <a:ext cx="5486400" cy="228600"/>
          </a:xfrm>
          <a:prstGeom prst="rect">
            <a:avLst/>
          </a:prstGeom>
          <a:noFill/>
          <a:ln/>
        </p:spPr>
        <p:txBody>
          <a:bodyPr wrap="square" lIns="0" tIns="0" rIns="0" bIns="0" rtlCol="0" anchor="ctr"/>
          <a:lstStyle/>
          <a:p>
            <a:pPr indent="0" marL="0">
              <a:buNone/>
            </a:pPr>
            <a:r>
              <a:rPr lang="en-US" sz="900" dirty="0">
                <a:solidFill>
                  <a:srgbClr val="9CA3AF"/>
                </a:solidFill>
                <a:latin typeface="Arial" pitchFamily="34" charset="0"/>
                <a:ea typeface="Arial" pitchFamily="34" charset="-122"/>
                <a:cs typeface="Arial" pitchFamily="34" charset="-120"/>
              </a:rPr>
              <a:t>NIDA  |  MADT6004  |  The questions</a:t>
            </a:r>
            <a:endParaRPr lang="en-US" sz="900" dirty="0"/>
          </a:p>
        </p:txBody>
      </p:sp>
      <p:sp>
        <p:nvSpPr>
          <p:cNvPr id="4" name="Text 2"/>
          <p:cNvSpPr/>
          <p:nvPr/>
        </p:nvSpPr>
        <p:spPr>
          <a:xfrm>
            <a:off x="7772400" y="4800600"/>
            <a:ext cx="914400" cy="274320"/>
          </a:xfrm>
          <a:prstGeom prst="rect">
            <a:avLst/>
          </a:prstGeom>
          <a:noFill/>
          <a:ln/>
        </p:spPr>
        <p:txBody>
          <a:bodyPr wrap="square" lIns="0" tIns="0" rIns="0" bIns="0" rtlCol="0" anchor="ctr"/>
          <a:lstStyle/>
          <a:p>
            <a:pPr algn="r" indent="0" marL="0">
              <a:buNone/>
            </a:pPr>
            <a:r>
              <a:rPr lang="en-US" sz="1200" b="1" dirty="0">
                <a:solidFill>
                  <a:srgbClr val="0891B2"/>
                </a:solidFill>
                <a:latin typeface="Arial" pitchFamily="34" charset="0"/>
                <a:ea typeface="Arial" pitchFamily="34" charset="-122"/>
                <a:cs typeface="Arial" pitchFamily="34" charset="-120"/>
              </a:rPr>
              <a:t>MADT</a:t>
            </a:r>
            <a:endParaRPr lang="en-US" sz="1200" dirty="0"/>
          </a:p>
        </p:txBody>
      </p:sp>
      <p:sp>
        <p:nvSpPr>
          <p:cNvPr id="5" name="Text 3"/>
          <p:cNvSpPr/>
          <p:nvPr/>
        </p:nvSpPr>
        <p:spPr>
          <a:xfrm>
            <a:off x="640080" y="274320"/>
            <a:ext cx="7863840" cy="502920"/>
          </a:xfrm>
          <a:prstGeom prst="rect">
            <a:avLst/>
          </a:prstGeom>
          <a:noFill/>
          <a:ln/>
        </p:spPr>
        <p:txBody>
          <a:bodyPr wrap="square" lIns="0" tIns="0" rIns="0" bIns="0" rtlCol="0" anchor="ctr"/>
          <a:lstStyle/>
          <a:p>
            <a:pPr indent="0" marL="0">
              <a:buNone/>
            </a:pPr>
            <a:r>
              <a:rPr lang="en-US" sz="2800" b="1" dirty="0">
                <a:solidFill>
                  <a:srgbClr val="1F2937"/>
                </a:solidFill>
                <a:latin typeface="Arial" pitchFamily="34" charset="0"/>
                <a:ea typeface="Arial" pitchFamily="34" charset="-122"/>
                <a:cs typeface="Arial" pitchFamily="34" charset="-120"/>
              </a:rPr>
              <a:t>Khun Ploy's five questions</a:t>
            </a:r>
            <a:endParaRPr lang="en-US" sz="2800" dirty="0"/>
          </a:p>
        </p:txBody>
      </p:sp>
      <p:sp>
        <p:nvSpPr>
          <p:cNvPr id="6" name="Text 4"/>
          <p:cNvSpPr/>
          <p:nvPr/>
        </p:nvSpPr>
        <p:spPr>
          <a:xfrm>
            <a:off x="640080" y="777240"/>
            <a:ext cx="7863840" cy="274320"/>
          </a:xfrm>
          <a:prstGeom prst="rect">
            <a:avLst/>
          </a:prstGeom>
          <a:noFill/>
          <a:ln/>
        </p:spPr>
        <p:txBody>
          <a:bodyPr wrap="square" lIns="0" tIns="0" rIns="0" bIns="0" rtlCol="0" anchor="ctr"/>
          <a:lstStyle/>
          <a:p>
            <a:pPr indent="0" marL="0">
              <a:buNone/>
            </a:pPr>
            <a:r>
              <a:rPr lang="en-US" sz="1300" i="1" dirty="0">
                <a:solidFill>
                  <a:srgbClr val="6B7280"/>
                </a:solidFill>
                <a:latin typeface="Arial" pitchFamily="34" charset="0"/>
                <a:ea typeface="Arial" pitchFamily="34" charset="-122"/>
                <a:cs typeface="Arial" pitchFamily="34" charset="-120"/>
              </a:rPr>
              <a:t>The COO doesn't want models. She wants answers.</a:t>
            </a:r>
            <a:endParaRPr lang="en-US" sz="1300" dirty="0"/>
          </a:p>
        </p:txBody>
      </p:sp>
      <p:sp>
        <p:nvSpPr>
          <p:cNvPr id="7" name="Text 5"/>
          <p:cNvSpPr/>
          <p:nvPr/>
        </p:nvSpPr>
        <p:spPr>
          <a:xfrm>
            <a:off x="640080" y="1280160"/>
            <a:ext cx="640080" cy="548640"/>
          </a:xfrm>
          <a:prstGeom prst="rect">
            <a:avLst/>
          </a:prstGeom>
          <a:noFill/>
          <a:ln/>
        </p:spPr>
        <p:txBody>
          <a:bodyPr wrap="square" lIns="0" tIns="0" rIns="0" bIns="0" rtlCol="0" anchor="ctr"/>
          <a:lstStyle/>
          <a:p>
            <a:pPr indent="0" marL="0">
              <a:buNone/>
            </a:pPr>
            <a:r>
              <a:rPr lang="en-US" sz="2400" b="1" dirty="0">
                <a:solidFill>
                  <a:srgbClr val="0891B2"/>
                </a:solidFill>
                <a:latin typeface="Arial" pitchFamily="34" charset="0"/>
                <a:ea typeface="Arial" pitchFamily="34" charset="-122"/>
                <a:cs typeface="Arial" pitchFamily="34" charset="-120"/>
              </a:rPr>
              <a:t>01</a:t>
            </a:r>
            <a:endParaRPr lang="en-US" sz="2400" dirty="0"/>
          </a:p>
        </p:txBody>
      </p:sp>
      <p:sp>
        <p:nvSpPr>
          <p:cNvPr id="8" name="Text 6"/>
          <p:cNvSpPr/>
          <p:nvPr/>
        </p:nvSpPr>
        <p:spPr>
          <a:xfrm>
            <a:off x="1325880" y="1371600"/>
            <a:ext cx="5852160" cy="548640"/>
          </a:xfrm>
          <a:prstGeom prst="rect">
            <a:avLst/>
          </a:prstGeom>
          <a:noFill/>
          <a:ln/>
        </p:spPr>
        <p:txBody>
          <a:bodyPr wrap="square" lIns="0" tIns="0" rIns="0" bIns="0" rtlCol="0" anchor="ctr"/>
          <a:lstStyle/>
          <a:p>
            <a:pPr indent="0" marL="0">
              <a:buNone/>
            </a:pPr>
            <a:r>
              <a:rPr lang="en-US" sz="1300" b="1" dirty="0">
                <a:solidFill>
                  <a:srgbClr val="1F2937"/>
                </a:solidFill>
                <a:latin typeface="Arial" pitchFamily="34" charset="0"/>
                <a:ea typeface="Arial" pitchFamily="34" charset="-122"/>
                <a:cs typeface="Arial" pitchFamily="34" charset="-120"/>
              </a:rPr>
              <a:t>What actually drives daily branch revenue?</a:t>
            </a:r>
            <a:endParaRPr lang="en-US" sz="1300" dirty="0"/>
          </a:p>
        </p:txBody>
      </p:sp>
      <p:sp>
        <p:nvSpPr>
          <p:cNvPr id="9" name="Shape 7"/>
          <p:cNvSpPr/>
          <p:nvPr/>
        </p:nvSpPr>
        <p:spPr>
          <a:xfrm>
            <a:off x="7315200" y="1325880"/>
            <a:ext cx="1188720" cy="411480"/>
          </a:xfrm>
          <a:prstGeom prst="rect">
            <a:avLst/>
          </a:prstGeom>
          <a:solidFill>
            <a:srgbClr val="E0F7FA"/>
          </a:solidFill>
          <a:ln w="6350">
            <a:solidFill>
              <a:srgbClr val="0891B2"/>
            </a:solidFill>
            <a:prstDash val="solid"/>
          </a:ln>
        </p:spPr>
      </p:sp>
      <p:sp>
        <p:nvSpPr>
          <p:cNvPr id="10" name="Text 8"/>
          <p:cNvSpPr/>
          <p:nvPr/>
        </p:nvSpPr>
        <p:spPr>
          <a:xfrm>
            <a:off x="7315200" y="1325880"/>
            <a:ext cx="1188720" cy="411480"/>
          </a:xfrm>
          <a:prstGeom prst="rect">
            <a:avLst/>
          </a:prstGeom>
          <a:noFill/>
          <a:ln/>
        </p:spPr>
        <p:txBody>
          <a:bodyPr wrap="square" lIns="0" tIns="0" rIns="0" bIns="0" rtlCol="0" anchor="ctr"/>
          <a:lstStyle/>
          <a:p>
            <a:pPr algn="ctr" indent="0" marL="0">
              <a:buNone/>
            </a:pPr>
            <a:r>
              <a:rPr lang="en-US" sz="1000" b="1" dirty="0">
                <a:solidFill>
                  <a:srgbClr val="0891B2"/>
                </a:solidFill>
                <a:latin typeface="Arial" pitchFamily="34" charset="0"/>
                <a:ea typeface="Arial" pitchFamily="34" charset="-122"/>
                <a:cs typeface="Arial" pitchFamily="34" charset="-120"/>
              </a:rPr>
              <a:t>Strategy</a:t>
            </a:r>
            <a:endParaRPr lang="en-US" sz="1000" dirty="0"/>
          </a:p>
        </p:txBody>
      </p:sp>
      <p:sp>
        <p:nvSpPr>
          <p:cNvPr id="11" name="Text 9"/>
          <p:cNvSpPr/>
          <p:nvPr/>
        </p:nvSpPr>
        <p:spPr>
          <a:xfrm>
            <a:off x="640080" y="1965960"/>
            <a:ext cx="640080" cy="548640"/>
          </a:xfrm>
          <a:prstGeom prst="rect">
            <a:avLst/>
          </a:prstGeom>
          <a:noFill/>
          <a:ln/>
        </p:spPr>
        <p:txBody>
          <a:bodyPr wrap="square" lIns="0" tIns="0" rIns="0" bIns="0" rtlCol="0" anchor="ctr"/>
          <a:lstStyle/>
          <a:p>
            <a:pPr indent="0" marL="0">
              <a:buNone/>
            </a:pPr>
            <a:r>
              <a:rPr lang="en-US" sz="2400" b="1" dirty="0">
                <a:solidFill>
                  <a:srgbClr val="0891B2"/>
                </a:solidFill>
                <a:latin typeface="Arial" pitchFamily="34" charset="0"/>
                <a:ea typeface="Arial" pitchFamily="34" charset="-122"/>
                <a:cs typeface="Arial" pitchFamily="34" charset="-120"/>
              </a:rPr>
              <a:t>02</a:t>
            </a:r>
            <a:endParaRPr lang="en-US" sz="2400" dirty="0"/>
          </a:p>
        </p:txBody>
      </p:sp>
      <p:sp>
        <p:nvSpPr>
          <p:cNvPr id="12" name="Text 10"/>
          <p:cNvSpPr/>
          <p:nvPr/>
        </p:nvSpPr>
        <p:spPr>
          <a:xfrm>
            <a:off x="1325880" y="2057400"/>
            <a:ext cx="5852160" cy="548640"/>
          </a:xfrm>
          <a:prstGeom prst="rect">
            <a:avLst/>
          </a:prstGeom>
          <a:noFill/>
          <a:ln/>
        </p:spPr>
        <p:txBody>
          <a:bodyPr wrap="square" lIns="0" tIns="0" rIns="0" bIns="0" rtlCol="0" anchor="ctr"/>
          <a:lstStyle/>
          <a:p>
            <a:pPr indent="0" marL="0">
              <a:buNone/>
            </a:pPr>
            <a:r>
              <a:rPr lang="en-US" sz="1300" b="1" dirty="0">
                <a:solidFill>
                  <a:srgbClr val="1F2937"/>
                </a:solidFill>
                <a:latin typeface="Arial" pitchFamily="34" charset="0"/>
                <a:ea typeface="Arial" pitchFamily="34" charset="-122"/>
                <a:cs typeface="Arial" pitchFamily="34" charset="-120"/>
              </a:rPr>
              <a:t>How much will each SKU sell at each branch over the next 30 days?</a:t>
            </a:r>
            <a:endParaRPr lang="en-US" sz="1300" dirty="0"/>
          </a:p>
        </p:txBody>
      </p:sp>
      <p:sp>
        <p:nvSpPr>
          <p:cNvPr id="13" name="Shape 11"/>
          <p:cNvSpPr/>
          <p:nvPr/>
        </p:nvSpPr>
        <p:spPr>
          <a:xfrm>
            <a:off x="7315200" y="2011680"/>
            <a:ext cx="1188720" cy="411480"/>
          </a:xfrm>
          <a:prstGeom prst="rect">
            <a:avLst/>
          </a:prstGeom>
          <a:solidFill>
            <a:srgbClr val="E0F7FA"/>
          </a:solidFill>
          <a:ln w="6350">
            <a:solidFill>
              <a:srgbClr val="0891B2"/>
            </a:solidFill>
            <a:prstDash val="solid"/>
          </a:ln>
        </p:spPr>
      </p:sp>
      <p:sp>
        <p:nvSpPr>
          <p:cNvPr id="14" name="Text 12"/>
          <p:cNvSpPr/>
          <p:nvPr/>
        </p:nvSpPr>
        <p:spPr>
          <a:xfrm>
            <a:off x="7315200" y="2011680"/>
            <a:ext cx="1188720" cy="411480"/>
          </a:xfrm>
          <a:prstGeom prst="rect">
            <a:avLst/>
          </a:prstGeom>
          <a:noFill/>
          <a:ln/>
        </p:spPr>
        <p:txBody>
          <a:bodyPr wrap="square" lIns="0" tIns="0" rIns="0" bIns="0" rtlCol="0" anchor="ctr"/>
          <a:lstStyle/>
          <a:p>
            <a:pPr algn="ctr" indent="0" marL="0">
              <a:buNone/>
            </a:pPr>
            <a:r>
              <a:rPr lang="en-US" sz="1000" b="1" dirty="0">
                <a:solidFill>
                  <a:srgbClr val="0891B2"/>
                </a:solidFill>
                <a:latin typeface="Arial" pitchFamily="34" charset="0"/>
                <a:ea typeface="Arial" pitchFamily="34" charset="-122"/>
                <a:cs typeface="Arial" pitchFamily="34" charset="-120"/>
              </a:rPr>
              <a:t>Operations</a:t>
            </a:r>
            <a:endParaRPr lang="en-US" sz="1000" dirty="0"/>
          </a:p>
        </p:txBody>
      </p:sp>
      <p:sp>
        <p:nvSpPr>
          <p:cNvPr id="15" name="Text 13"/>
          <p:cNvSpPr/>
          <p:nvPr/>
        </p:nvSpPr>
        <p:spPr>
          <a:xfrm>
            <a:off x="640080" y="2651760"/>
            <a:ext cx="640080" cy="548640"/>
          </a:xfrm>
          <a:prstGeom prst="rect">
            <a:avLst/>
          </a:prstGeom>
          <a:noFill/>
          <a:ln/>
        </p:spPr>
        <p:txBody>
          <a:bodyPr wrap="square" lIns="0" tIns="0" rIns="0" bIns="0" rtlCol="0" anchor="ctr"/>
          <a:lstStyle/>
          <a:p>
            <a:pPr indent="0" marL="0">
              <a:buNone/>
            </a:pPr>
            <a:r>
              <a:rPr lang="en-US" sz="2400" b="1" dirty="0">
                <a:solidFill>
                  <a:srgbClr val="0891B2"/>
                </a:solidFill>
                <a:latin typeface="Arial" pitchFamily="34" charset="0"/>
                <a:ea typeface="Arial" pitchFamily="34" charset="-122"/>
                <a:cs typeface="Arial" pitchFamily="34" charset="-120"/>
              </a:rPr>
              <a:t>03</a:t>
            </a:r>
            <a:endParaRPr lang="en-US" sz="2400" dirty="0"/>
          </a:p>
        </p:txBody>
      </p:sp>
      <p:sp>
        <p:nvSpPr>
          <p:cNvPr id="16" name="Text 14"/>
          <p:cNvSpPr/>
          <p:nvPr/>
        </p:nvSpPr>
        <p:spPr>
          <a:xfrm>
            <a:off x="1325880" y="2743200"/>
            <a:ext cx="5852160" cy="548640"/>
          </a:xfrm>
          <a:prstGeom prst="rect">
            <a:avLst/>
          </a:prstGeom>
          <a:noFill/>
          <a:ln/>
        </p:spPr>
        <p:txBody>
          <a:bodyPr wrap="square" lIns="0" tIns="0" rIns="0" bIns="0" rtlCol="0" anchor="ctr"/>
          <a:lstStyle/>
          <a:p>
            <a:pPr indent="0" marL="0">
              <a:buNone/>
            </a:pPr>
            <a:r>
              <a:rPr lang="en-US" sz="1300" b="1" dirty="0">
                <a:solidFill>
                  <a:srgbClr val="1F2937"/>
                </a:solidFill>
                <a:latin typeface="Arial" pitchFamily="34" charset="0"/>
                <a:ea typeface="Arial" pitchFamily="34" charset="-122"/>
                <a:cs typeface="Arial" pitchFamily="34" charset="-120"/>
              </a:rPr>
              <a:t>Of the next batch of lapsed members, who will respond to the comeback voucher?</a:t>
            </a:r>
            <a:endParaRPr lang="en-US" sz="1300" dirty="0"/>
          </a:p>
        </p:txBody>
      </p:sp>
      <p:sp>
        <p:nvSpPr>
          <p:cNvPr id="17" name="Shape 15"/>
          <p:cNvSpPr/>
          <p:nvPr/>
        </p:nvSpPr>
        <p:spPr>
          <a:xfrm>
            <a:off x="7315200" y="2697480"/>
            <a:ext cx="1188720" cy="411480"/>
          </a:xfrm>
          <a:prstGeom prst="rect">
            <a:avLst/>
          </a:prstGeom>
          <a:solidFill>
            <a:srgbClr val="E0F7FA"/>
          </a:solidFill>
          <a:ln w="6350">
            <a:solidFill>
              <a:srgbClr val="0891B2"/>
            </a:solidFill>
            <a:prstDash val="solid"/>
          </a:ln>
        </p:spPr>
      </p:sp>
      <p:sp>
        <p:nvSpPr>
          <p:cNvPr id="18" name="Text 16"/>
          <p:cNvSpPr/>
          <p:nvPr/>
        </p:nvSpPr>
        <p:spPr>
          <a:xfrm>
            <a:off x="7315200" y="2697480"/>
            <a:ext cx="1188720" cy="411480"/>
          </a:xfrm>
          <a:prstGeom prst="rect">
            <a:avLst/>
          </a:prstGeom>
          <a:noFill/>
          <a:ln/>
        </p:spPr>
        <p:txBody>
          <a:bodyPr wrap="square" lIns="0" tIns="0" rIns="0" bIns="0" rtlCol="0" anchor="ctr"/>
          <a:lstStyle/>
          <a:p>
            <a:pPr algn="ctr" indent="0" marL="0">
              <a:buNone/>
            </a:pPr>
            <a:r>
              <a:rPr lang="en-US" sz="1000" b="1" dirty="0">
                <a:solidFill>
                  <a:srgbClr val="0891B2"/>
                </a:solidFill>
                <a:latin typeface="Arial" pitchFamily="34" charset="0"/>
                <a:ea typeface="Arial" pitchFamily="34" charset="-122"/>
                <a:cs typeface="Arial" pitchFamily="34" charset="-120"/>
              </a:rPr>
              <a:t>Marketing</a:t>
            </a:r>
            <a:endParaRPr lang="en-US" sz="1000" dirty="0"/>
          </a:p>
        </p:txBody>
      </p:sp>
      <p:sp>
        <p:nvSpPr>
          <p:cNvPr id="19" name="Text 17"/>
          <p:cNvSpPr/>
          <p:nvPr/>
        </p:nvSpPr>
        <p:spPr>
          <a:xfrm>
            <a:off x="640080" y="3337560"/>
            <a:ext cx="640080" cy="548640"/>
          </a:xfrm>
          <a:prstGeom prst="rect">
            <a:avLst/>
          </a:prstGeom>
          <a:noFill/>
          <a:ln/>
        </p:spPr>
        <p:txBody>
          <a:bodyPr wrap="square" lIns="0" tIns="0" rIns="0" bIns="0" rtlCol="0" anchor="ctr"/>
          <a:lstStyle/>
          <a:p>
            <a:pPr indent="0" marL="0">
              <a:buNone/>
            </a:pPr>
            <a:r>
              <a:rPr lang="en-US" sz="2400" b="1" dirty="0">
                <a:solidFill>
                  <a:srgbClr val="0891B2"/>
                </a:solidFill>
                <a:latin typeface="Arial" pitchFamily="34" charset="0"/>
                <a:ea typeface="Arial" pitchFamily="34" charset="-122"/>
                <a:cs typeface="Arial" pitchFamily="34" charset="-120"/>
              </a:rPr>
              <a:t>04</a:t>
            </a:r>
            <a:endParaRPr lang="en-US" sz="2400" dirty="0"/>
          </a:p>
        </p:txBody>
      </p:sp>
      <p:sp>
        <p:nvSpPr>
          <p:cNvPr id="20" name="Text 18"/>
          <p:cNvSpPr/>
          <p:nvPr/>
        </p:nvSpPr>
        <p:spPr>
          <a:xfrm>
            <a:off x="1325880" y="3429000"/>
            <a:ext cx="5852160" cy="548640"/>
          </a:xfrm>
          <a:prstGeom prst="rect">
            <a:avLst/>
          </a:prstGeom>
          <a:noFill/>
          <a:ln/>
        </p:spPr>
        <p:txBody>
          <a:bodyPr wrap="square" lIns="0" tIns="0" rIns="0" bIns="0" rtlCol="0" anchor="ctr"/>
          <a:lstStyle/>
          <a:p>
            <a:pPr indent="0" marL="0">
              <a:buNone/>
            </a:pPr>
            <a:r>
              <a:rPr lang="en-US" sz="1300" b="1" dirty="0">
                <a:solidFill>
                  <a:srgbClr val="1F2937"/>
                </a:solidFill>
                <a:latin typeface="Arial" pitchFamily="34" charset="0"/>
                <a:ea typeface="Arial" pitchFamily="34" charset="-122"/>
                <a:cs typeface="Arial" pitchFamily="34" charset="-120"/>
              </a:rPr>
              <a:t>How many real types of customer do we have, and what should we put in front of them?</a:t>
            </a:r>
            <a:endParaRPr lang="en-US" sz="1300" dirty="0"/>
          </a:p>
        </p:txBody>
      </p:sp>
      <p:sp>
        <p:nvSpPr>
          <p:cNvPr id="21" name="Shape 19"/>
          <p:cNvSpPr/>
          <p:nvPr/>
        </p:nvSpPr>
        <p:spPr>
          <a:xfrm>
            <a:off x="7315200" y="3383280"/>
            <a:ext cx="1188720" cy="411480"/>
          </a:xfrm>
          <a:prstGeom prst="rect">
            <a:avLst/>
          </a:prstGeom>
          <a:solidFill>
            <a:srgbClr val="E0F7FA"/>
          </a:solidFill>
          <a:ln w="6350">
            <a:solidFill>
              <a:srgbClr val="0891B2"/>
            </a:solidFill>
            <a:prstDash val="solid"/>
          </a:ln>
        </p:spPr>
      </p:sp>
      <p:sp>
        <p:nvSpPr>
          <p:cNvPr id="22" name="Text 20"/>
          <p:cNvSpPr/>
          <p:nvPr/>
        </p:nvSpPr>
        <p:spPr>
          <a:xfrm>
            <a:off x="7315200" y="3383280"/>
            <a:ext cx="1188720" cy="411480"/>
          </a:xfrm>
          <a:prstGeom prst="rect">
            <a:avLst/>
          </a:prstGeom>
          <a:noFill/>
          <a:ln/>
        </p:spPr>
        <p:txBody>
          <a:bodyPr wrap="square" lIns="0" tIns="0" rIns="0" bIns="0" rtlCol="0" anchor="ctr"/>
          <a:lstStyle/>
          <a:p>
            <a:pPr algn="ctr" indent="0" marL="0">
              <a:buNone/>
            </a:pPr>
            <a:r>
              <a:rPr lang="en-US" sz="1000" b="1" dirty="0">
                <a:solidFill>
                  <a:srgbClr val="0891B2"/>
                </a:solidFill>
                <a:latin typeface="Arial" pitchFamily="34" charset="0"/>
                <a:ea typeface="Arial" pitchFamily="34" charset="-122"/>
                <a:cs typeface="Arial" pitchFamily="34" charset="-120"/>
              </a:rPr>
              <a:t>Product</a:t>
            </a:r>
            <a:endParaRPr lang="en-US" sz="1000" dirty="0"/>
          </a:p>
        </p:txBody>
      </p:sp>
      <p:sp>
        <p:nvSpPr>
          <p:cNvPr id="23" name="Text 21"/>
          <p:cNvSpPr/>
          <p:nvPr/>
        </p:nvSpPr>
        <p:spPr>
          <a:xfrm>
            <a:off x="640080" y="4023360"/>
            <a:ext cx="640080" cy="548640"/>
          </a:xfrm>
          <a:prstGeom prst="rect">
            <a:avLst/>
          </a:prstGeom>
          <a:noFill/>
          <a:ln/>
        </p:spPr>
        <p:txBody>
          <a:bodyPr wrap="square" lIns="0" tIns="0" rIns="0" bIns="0" rtlCol="0" anchor="ctr"/>
          <a:lstStyle/>
          <a:p>
            <a:pPr indent="0" marL="0">
              <a:buNone/>
            </a:pPr>
            <a:r>
              <a:rPr lang="en-US" sz="2400" b="1" dirty="0">
                <a:solidFill>
                  <a:srgbClr val="0891B2"/>
                </a:solidFill>
                <a:latin typeface="Arial" pitchFamily="34" charset="0"/>
                <a:ea typeface="Arial" pitchFamily="34" charset="-122"/>
                <a:cs typeface="Arial" pitchFamily="34" charset="-120"/>
              </a:rPr>
              <a:t>05</a:t>
            </a:r>
            <a:endParaRPr lang="en-US" sz="2400" dirty="0"/>
          </a:p>
        </p:txBody>
      </p:sp>
      <p:sp>
        <p:nvSpPr>
          <p:cNvPr id="24" name="Text 22"/>
          <p:cNvSpPr/>
          <p:nvPr/>
        </p:nvSpPr>
        <p:spPr>
          <a:xfrm>
            <a:off x="1325880" y="4114800"/>
            <a:ext cx="5852160" cy="548640"/>
          </a:xfrm>
          <a:prstGeom prst="rect">
            <a:avLst/>
          </a:prstGeom>
          <a:noFill/>
          <a:ln/>
        </p:spPr>
        <p:txBody>
          <a:bodyPr wrap="square" lIns="0" tIns="0" rIns="0" bIns="0" rtlCol="0" anchor="ctr"/>
          <a:lstStyle/>
          <a:p>
            <a:pPr indent="0" marL="0">
              <a:buNone/>
            </a:pPr>
            <a:r>
              <a:rPr lang="en-US" sz="1300" b="1" dirty="0">
                <a:solidFill>
                  <a:srgbClr val="1F2937"/>
                </a:solidFill>
                <a:latin typeface="Arial" pitchFamily="34" charset="0"/>
                <a:ea typeface="Arial" pitchFamily="34" charset="-122"/>
                <a:cs typeface="Arial" pitchFamily="34" charset="-120"/>
              </a:rPr>
              <a:t>What are customers actually saying — and where is it worst?</a:t>
            </a:r>
            <a:endParaRPr lang="en-US" sz="1300" dirty="0"/>
          </a:p>
        </p:txBody>
      </p:sp>
      <p:sp>
        <p:nvSpPr>
          <p:cNvPr id="25" name="Shape 23"/>
          <p:cNvSpPr/>
          <p:nvPr/>
        </p:nvSpPr>
        <p:spPr>
          <a:xfrm>
            <a:off x="7315200" y="4069080"/>
            <a:ext cx="1188720" cy="411480"/>
          </a:xfrm>
          <a:prstGeom prst="rect">
            <a:avLst/>
          </a:prstGeom>
          <a:solidFill>
            <a:srgbClr val="E0F7FA"/>
          </a:solidFill>
          <a:ln w="6350">
            <a:solidFill>
              <a:srgbClr val="0891B2"/>
            </a:solidFill>
            <a:prstDash val="solid"/>
          </a:ln>
        </p:spPr>
      </p:sp>
      <p:sp>
        <p:nvSpPr>
          <p:cNvPr id="26" name="Text 24"/>
          <p:cNvSpPr/>
          <p:nvPr/>
        </p:nvSpPr>
        <p:spPr>
          <a:xfrm>
            <a:off x="7315200" y="4069080"/>
            <a:ext cx="1188720" cy="411480"/>
          </a:xfrm>
          <a:prstGeom prst="rect">
            <a:avLst/>
          </a:prstGeom>
          <a:noFill/>
          <a:ln/>
        </p:spPr>
        <p:txBody>
          <a:bodyPr wrap="square" lIns="0" tIns="0" rIns="0" bIns="0" rtlCol="0" anchor="ctr"/>
          <a:lstStyle/>
          <a:p>
            <a:pPr algn="ctr" indent="0" marL="0">
              <a:buNone/>
            </a:pPr>
            <a:r>
              <a:rPr lang="en-US" sz="1000" b="1" dirty="0">
                <a:solidFill>
                  <a:srgbClr val="0891B2"/>
                </a:solidFill>
                <a:latin typeface="Arial" pitchFamily="34" charset="0"/>
                <a:ea typeface="Arial" pitchFamily="34" charset="-122"/>
                <a:cs typeface="Arial" pitchFamily="34" charset="-120"/>
              </a:rPr>
              <a:t>Service</a:t>
            </a:r>
            <a:endParaRPr lang="en-US" sz="10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9144000" cy="45720"/>
          </a:xfrm>
          <a:prstGeom prst="rect">
            <a:avLst/>
          </a:prstGeom>
          <a:solidFill>
            <a:srgbClr val="0891B2"/>
          </a:solidFill>
          <a:ln/>
        </p:spPr>
      </p:sp>
      <p:sp>
        <p:nvSpPr>
          <p:cNvPr id="3" name="Text 1"/>
          <p:cNvSpPr/>
          <p:nvPr/>
        </p:nvSpPr>
        <p:spPr>
          <a:xfrm>
            <a:off x="640080" y="4828032"/>
            <a:ext cx="5486400" cy="228600"/>
          </a:xfrm>
          <a:prstGeom prst="rect">
            <a:avLst/>
          </a:prstGeom>
          <a:noFill/>
          <a:ln/>
        </p:spPr>
        <p:txBody>
          <a:bodyPr wrap="square" lIns="0" tIns="0" rIns="0" bIns="0" rtlCol="0" anchor="ctr"/>
          <a:lstStyle/>
          <a:p>
            <a:pPr indent="0" marL="0">
              <a:buNone/>
            </a:pPr>
            <a:r>
              <a:rPr lang="en-US" sz="900" dirty="0">
                <a:solidFill>
                  <a:srgbClr val="9CA3AF"/>
                </a:solidFill>
                <a:latin typeface="Arial" pitchFamily="34" charset="0"/>
                <a:ea typeface="Arial" pitchFamily="34" charset="-122"/>
                <a:cs typeface="Arial" pitchFamily="34" charset="-120"/>
              </a:rPr>
              <a:t>NIDA  |  MADT6004  |  Today</a:t>
            </a:r>
            <a:endParaRPr lang="en-US" sz="900" dirty="0"/>
          </a:p>
        </p:txBody>
      </p:sp>
      <p:sp>
        <p:nvSpPr>
          <p:cNvPr id="4" name="Text 2"/>
          <p:cNvSpPr/>
          <p:nvPr/>
        </p:nvSpPr>
        <p:spPr>
          <a:xfrm>
            <a:off x="7772400" y="4800600"/>
            <a:ext cx="914400" cy="274320"/>
          </a:xfrm>
          <a:prstGeom prst="rect">
            <a:avLst/>
          </a:prstGeom>
          <a:noFill/>
          <a:ln/>
        </p:spPr>
        <p:txBody>
          <a:bodyPr wrap="square" lIns="0" tIns="0" rIns="0" bIns="0" rtlCol="0" anchor="ctr"/>
          <a:lstStyle/>
          <a:p>
            <a:pPr algn="r" indent="0" marL="0">
              <a:buNone/>
            </a:pPr>
            <a:r>
              <a:rPr lang="en-US" sz="1200" b="1" dirty="0">
                <a:solidFill>
                  <a:srgbClr val="0891B2"/>
                </a:solidFill>
                <a:latin typeface="Arial" pitchFamily="34" charset="0"/>
                <a:ea typeface="Arial" pitchFamily="34" charset="-122"/>
                <a:cs typeface="Arial" pitchFamily="34" charset="-120"/>
              </a:rPr>
              <a:t>MADT</a:t>
            </a:r>
            <a:endParaRPr lang="en-US" sz="1200" dirty="0"/>
          </a:p>
        </p:txBody>
      </p:sp>
      <p:sp>
        <p:nvSpPr>
          <p:cNvPr id="5" name="Text 3"/>
          <p:cNvSpPr/>
          <p:nvPr/>
        </p:nvSpPr>
        <p:spPr>
          <a:xfrm>
            <a:off x="640080" y="274320"/>
            <a:ext cx="7863840" cy="502920"/>
          </a:xfrm>
          <a:prstGeom prst="rect">
            <a:avLst/>
          </a:prstGeom>
          <a:noFill/>
          <a:ln/>
        </p:spPr>
        <p:txBody>
          <a:bodyPr wrap="square" lIns="0" tIns="0" rIns="0" bIns="0" rtlCol="0" anchor="ctr"/>
          <a:lstStyle/>
          <a:p>
            <a:pPr indent="0" marL="0">
              <a:buNone/>
            </a:pPr>
            <a:r>
              <a:rPr lang="en-US" sz="2800" b="1" dirty="0">
                <a:solidFill>
                  <a:srgbClr val="1F2937"/>
                </a:solidFill>
                <a:latin typeface="Arial" pitchFamily="34" charset="0"/>
                <a:ea typeface="Arial" pitchFamily="34" charset="-122"/>
                <a:cs typeface="Arial" pitchFamily="34" charset="-120"/>
              </a:rPr>
              <a:t>Today's journey</a:t>
            </a:r>
            <a:endParaRPr lang="en-US" sz="2800" dirty="0"/>
          </a:p>
        </p:txBody>
      </p:sp>
      <p:sp>
        <p:nvSpPr>
          <p:cNvPr id="6" name="Text 4"/>
          <p:cNvSpPr/>
          <p:nvPr/>
        </p:nvSpPr>
        <p:spPr>
          <a:xfrm>
            <a:off x="640080" y="777240"/>
            <a:ext cx="7863840" cy="274320"/>
          </a:xfrm>
          <a:prstGeom prst="rect">
            <a:avLst/>
          </a:prstGeom>
          <a:noFill/>
          <a:ln/>
        </p:spPr>
        <p:txBody>
          <a:bodyPr wrap="square" lIns="0" tIns="0" rIns="0" bIns="0" rtlCol="0" anchor="ctr"/>
          <a:lstStyle/>
          <a:p>
            <a:pPr indent="0" marL="0">
              <a:buNone/>
            </a:pPr>
            <a:r>
              <a:rPr lang="en-US" sz="1300" i="1" dirty="0">
                <a:solidFill>
                  <a:srgbClr val="6B7280"/>
                </a:solidFill>
                <a:latin typeface="Arial" pitchFamily="34" charset="0"/>
                <a:ea typeface="Arial" pitchFamily="34" charset="-122"/>
                <a:cs typeface="Arial" pitchFamily="34" charset="-120"/>
              </a:rPr>
              <a:t>Five modules. One thread. Three hours.</a:t>
            </a:r>
            <a:endParaRPr lang="en-US" sz="1300" dirty="0"/>
          </a:p>
        </p:txBody>
      </p:sp>
      <p:sp>
        <p:nvSpPr>
          <p:cNvPr id="7" name="Shape 5"/>
          <p:cNvSpPr/>
          <p:nvPr/>
        </p:nvSpPr>
        <p:spPr>
          <a:xfrm>
            <a:off x="640080" y="1280160"/>
            <a:ext cx="548640" cy="548640"/>
          </a:xfrm>
          <a:prstGeom prst="rect">
            <a:avLst/>
          </a:prstGeom>
          <a:solidFill>
            <a:srgbClr val="0891B2"/>
          </a:solidFill>
          <a:ln/>
        </p:spPr>
      </p:sp>
      <p:sp>
        <p:nvSpPr>
          <p:cNvPr id="8" name="Text 6"/>
          <p:cNvSpPr/>
          <p:nvPr/>
        </p:nvSpPr>
        <p:spPr>
          <a:xfrm>
            <a:off x="640080" y="1280160"/>
            <a:ext cx="548640" cy="548640"/>
          </a:xfrm>
          <a:prstGeom prst="rect">
            <a:avLst/>
          </a:prstGeom>
          <a:noFill/>
          <a:ln/>
        </p:spPr>
        <p:txBody>
          <a:bodyPr wrap="square" lIns="0" tIns="0" rIns="0" bIns="0" rtlCol="0" anchor="ctr"/>
          <a:lstStyle/>
          <a:p>
            <a:pPr algn="ctr" indent="0" marL="0">
              <a:buNone/>
            </a:pPr>
            <a:r>
              <a:rPr lang="en-US" sz="1800" b="1" dirty="0">
                <a:solidFill>
                  <a:srgbClr val="FFFFFF"/>
                </a:solidFill>
                <a:latin typeface="Arial" pitchFamily="34" charset="0"/>
                <a:ea typeface="Arial" pitchFamily="34" charset="-122"/>
                <a:cs typeface="Arial" pitchFamily="34" charset="-120"/>
              </a:rPr>
              <a:t>01</a:t>
            </a:r>
            <a:endParaRPr lang="en-US" sz="1800" dirty="0"/>
          </a:p>
        </p:txBody>
      </p:sp>
      <p:sp>
        <p:nvSpPr>
          <p:cNvPr id="9" name="Text 7"/>
          <p:cNvSpPr/>
          <p:nvPr/>
        </p:nvSpPr>
        <p:spPr>
          <a:xfrm>
            <a:off x="1371600" y="1280160"/>
            <a:ext cx="2286000" cy="274320"/>
          </a:xfrm>
          <a:prstGeom prst="rect">
            <a:avLst/>
          </a:prstGeom>
          <a:noFill/>
          <a:ln/>
        </p:spPr>
        <p:txBody>
          <a:bodyPr wrap="square" lIns="0" tIns="0" rIns="0" bIns="0" rtlCol="0" anchor="ctr"/>
          <a:lstStyle/>
          <a:p>
            <a:pPr indent="0" marL="0">
              <a:buNone/>
            </a:pPr>
            <a:r>
              <a:rPr lang="en-US" sz="1600" b="1" dirty="0">
                <a:solidFill>
                  <a:srgbClr val="1F2937"/>
                </a:solidFill>
                <a:latin typeface="Arial" pitchFamily="34" charset="0"/>
                <a:ea typeface="Arial" pitchFamily="34" charset="-122"/>
                <a:cs typeface="Arial" pitchFamily="34" charset="-120"/>
              </a:rPr>
              <a:t>Diagnose</a:t>
            </a:r>
            <a:endParaRPr lang="en-US" sz="1600" dirty="0"/>
          </a:p>
        </p:txBody>
      </p:sp>
      <p:sp>
        <p:nvSpPr>
          <p:cNvPr id="10" name="Text 8"/>
          <p:cNvSpPr/>
          <p:nvPr/>
        </p:nvSpPr>
        <p:spPr>
          <a:xfrm>
            <a:off x="1371600" y="1554480"/>
            <a:ext cx="5029200" cy="274320"/>
          </a:xfrm>
          <a:prstGeom prst="rect">
            <a:avLst/>
          </a:prstGeom>
          <a:noFill/>
          <a:ln/>
        </p:spPr>
        <p:txBody>
          <a:bodyPr wrap="square" lIns="0" tIns="0" rIns="0" bIns="0" rtlCol="0" anchor="ctr"/>
          <a:lstStyle/>
          <a:p>
            <a:pPr indent="0" marL="0">
              <a:buNone/>
            </a:pPr>
            <a:r>
              <a:rPr lang="en-US" sz="1200" i="1" dirty="0">
                <a:solidFill>
                  <a:srgbClr val="6B7280"/>
                </a:solidFill>
                <a:latin typeface="Arial" pitchFamily="34" charset="0"/>
                <a:ea typeface="Arial" pitchFamily="34" charset="-122"/>
                <a:cs typeface="Arial" pitchFamily="34" charset="-120"/>
              </a:rPr>
              <a:t>What's actually true</a:t>
            </a:r>
            <a:endParaRPr lang="en-US" sz="1200" dirty="0"/>
          </a:p>
        </p:txBody>
      </p:sp>
      <p:sp>
        <p:nvSpPr>
          <p:cNvPr id="11" name="Text 9"/>
          <p:cNvSpPr/>
          <p:nvPr/>
        </p:nvSpPr>
        <p:spPr>
          <a:xfrm>
            <a:off x="7772400" y="1325880"/>
            <a:ext cx="822960" cy="457200"/>
          </a:xfrm>
          <a:prstGeom prst="rect">
            <a:avLst/>
          </a:prstGeom>
          <a:noFill/>
          <a:ln/>
        </p:spPr>
        <p:txBody>
          <a:bodyPr wrap="square" lIns="0" tIns="0" rIns="0" bIns="0" rtlCol="0" anchor="ctr"/>
          <a:lstStyle/>
          <a:p>
            <a:pPr algn="r" indent="0" marL="0">
              <a:buNone/>
            </a:pPr>
            <a:r>
              <a:rPr lang="en-US" sz="1200" dirty="0">
                <a:solidFill>
                  <a:srgbClr val="9CA3AF"/>
                </a:solidFill>
                <a:latin typeface="Arial" pitchFamily="34" charset="0"/>
                <a:ea typeface="Arial" pitchFamily="34" charset="-122"/>
                <a:cs typeface="Arial" pitchFamily="34" charset="-120"/>
              </a:rPr>
              <a:t>50 min</a:t>
            </a:r>
            <a:endParaRPr lang="en-US" sz="1200" dirty="0"/>
          </a:p>
        </p:txBody>
      </p:sp>
      <p:sp>
        <p:nvSpPr>
          <p:cNvPr id="12" name="Shape 10"/>
          <p:cNvSpPr/>
          <p:nvPr/>
        </p:nvSpPr>
        <p:spPr>
          <a:xfrm>
            <a:off x="640080" y="1920240"/>
            <a:ext cx="548640" cy="548640"/>
          </a:xfrm>
          <a:prstGeom prst="rect">
            <a:avLst/>
          </a:prstGeom>
          <a:solidFill>
            <a:srgbClr val="059669"/>
          </a:solidFill>
          <a:ln/>
        </p:spPr>
      </p:sp>
      <p:sp>
        <p:nvSpPr>
          <p:cNvPr id="13" name="Text 11"/>
          <p:cNvSpPr/>
          <p:nvPr/>
        </p:nvSpPr>
        <p:spPr>
          <a:xfrm>
            <a:off x="640080" y="1920240"/>
            <a:ext cx="548640" cy="548640"/>
          </a:xfrm>
          <a:prstGeom prst="rect">
            <a:avLst/>
          </a:prstGeom>
          <a:noFill/>
          <a:ln/>
        </p:spPr>
        <p:txBody>
          <a:bodyPr wrap="square" lIns="0" tIns="0" rIns="0" bIns="0" rtlCol="0" anchor="ctr"/>
          <a:lstStyle/>
          <a:p>
            <a:pPr algn="ctr" indent="0" marL="0">
              <a:buNone/>
            </a:pPr>
            <a:r>
              <a:rPr lang="en-US" sz="1800" b="1" dirty="0">
                <a:solidFill>
                  <a:srgbClr val="FFFFFF"/>
                </a:solidFill>
                <a:latin typeface="Arial" pitchFamily="34" charset="0"/>
                <a:ea typeface="Arial" pitchFamily="34" charset="-122"/>
                <a:cs typeface="Arial" pitchFamily="34" charset="-120"/>
              </a:rPr>
              <a:t>02</a:t>
            </a:r>
            <a:endParaRPr lang="en-US" sz="1800" dirty="0"/>
          </a:p>
        </p:txBody>
      </p:sp>
      <p:sp>
        <p:nvSpPr>
          <p:cNvPr id="14" name="Text 12"/>
          <p:cNvSpPr/>
          <p:nvPr/>
        </p:nvSpPr>
        <p:spPr>
          <a:xfrm>
            <a:off x="1371600" y="1920240"/>
            <a:ext cx="2286000" cy="274320"/>
          </a:xfrm>
          <a:prstGeom prst="rect">
            <a:avLst/>
          </a:prstGeom>
          <a:noFill/>
          <a:ln/>
        </p:spPr>
        <p:txBody>
          <a:bodyPr wrap="square" lIns="0" tIns="0" rIns="0" bIns="0" rtlCol="0" anchor="ctr"/>
          <a:lstStyle/>
          <a:p>
            <a:pPr indent="0" marL="0">
              <a:buNone/>
            </a:pPr>
            <a:r>
              <a:rPr lang="en-US" sz="1600" b="1" dirty="0">
                <a:solidFill>
                  <a:srgbClr val="1F2937"/>
                </a:solidFill>
                <a:latin typeface="Arial" pitchFamily="34" charset="0"/>
                <a:ea typeface="Arial" pitchFamily="34" charset="-122"/>
                <a:cs typeface="Arial" pitchFamily="34" charset="-120"/>
              </a:rPr>
              <a:t>Forecast</a:t>
            </a:r>
            <a:endParaRPr lang="en-US" sz="1600" dirty="0"/>
          </a:p>
        </p:txBody>
      </p:sp>
      <p:sp>
        <p:nvSpPr>
          <p:cNvPr id="15" name="Text 13"/>
          <p:cNvSpPr/>
          <p:nvPr/>
        </p:nvSpPr>
        <p:spPr>
          <a:xfrm>
            <a:off x="1371600" y="2194560"/>
            <a:ext cx="5029200" cy="274320"/>
          </a:xfrm>
          <a:prstGeom prst="rect">
            <a:avLst/>
          </a:prstGeom>
          <a:noFill/>
          <a:ln/>
        </p:spPr>
        <p:txBody>
          <a:bodyPr wrap="square" lIns="0" tIns="0" rIns="0" bIns="0" rtlCol="0" anchor="ctr"/>
          <a:lstStyle/>
          <a:p>
            <a:pPr indent="0" marL="0">
              <a:buNone/>
            </a:pPr>
            <a:r>
              <a:rPr lang="en-US" sz="1200" i="1" dirty="0">
                <a:solidFill>
                  <a:srgbClr val="6B7280"/>
                </a:solidFill>
                <a:latin typeface="Arial" pitchFamily="34" charset="0"/>
                <a:ea typeface="Arial" pitchFamily="34" charset="-122"/>
                <a:cs typeface="Arial" pitchFamily="34" charset="-120"/>
              </a:rPr>
              <a:t>What's coming</a:t>
            </a:r>
            <a:endParaRPr lang="en-US" sz="1200" dirty="0"/>
          </a:p>
        </p:txBody>
      </p:sp>
      <p:sp>
        <p:nvSpPr>
          <p:cNvPr id="16" name="Text 14"/>
          <p:cNvSpPr/>
          <p:nvPr/>
        </p:nvSpPr>
        <p:spPr>
          <a:xfrm>
            <a:off x="7772400" y="1965960"/>
            <a:ext cx="822960" cy="457200"/>
          </a:xfrm>
          <a:prstGeom prst="rect">
            <a:avLst/>
          </a:prstGeom>
          <a:noFill/>
          <a:ln/>
        </p:spPr>
        <p:txBody>
          <a:bodyPr wrap="square" lIns="0" tIns="0" rIns="0" bIns="0" rtlCol="0" anchor="ctr"/>
          <a:lstStyle/>
          <a:p>
            <a:pPr algn="r" indent="0" marL="0">
              <a:buNone/>
            </a:pPr>
            <a:r>
              <a:rPr lang="en-US" sz="1200" dirty="0">
                <a:solidFill>
                  <a:srgbClr val="9CA3AF"/>
                </a:solidFill>
                <a:latin typeface="Arial" pitchFamily="34" charset="0"/>
                <a:ea typeface="Arial" pitchFamily="34" charset="-122"/>
                <a:cs typeface="Arial" pitchFamily="34" charset="-120"/>
              </a:rPr>
              <a:t>55 min</a:t>
            </a:r>
            <a:endParaRPr lang="en-US" sz="1200" dirty="0"/>
          </a:p>
        </p:txBody>
      </p:sp>
      <p:sp>
        <p:nvSpPr>
          <p:cNvPr id="17" name="Shape 15"/>
          <p:cNvSpPr/>
          <p:nvPr/>
        </p:nvSpPr>
        <p:spPr>
          <a:xfrm>
            <a:off x="640080" y="2560320"/>
            <a:ext cx="548640" cy="548640"/>
          </a:xfrm>
          <a:prstGeom prst="rect">
            <a:avLst/>
          </a:prstGeom>
          <a:solidFill>
            <a:srgbClr val="D97706"/>
          </a:solidFill>
          <a:ln/>
        </p:spPr>
      </p:sp>
      <p:sp>
        <p:nvSpPr>
          <p:cNvPr id="18" name="Text 16"/>
          <p:cNvSpPr/>
          <p:nvPr/>
        </p:nvSpPr>
        <p:spPr>
          <a:xfrm>
            <a:off x="640080" y="2560320"/>
            <a:ext cx="548640" cy="548640"/>
          </a:xfrm>
          <a:prstGeom prst="rect">
            <a:avLst/>
          </a:prstGeom>
          <a:noFill/>
          <a:ln/>
        </p:spPr>
        <p:txBody>
          <a:bodyPr wrap="square" lIns="0" tIns="0" rIns="0" bIns="0" rtlCol="0" anchor="ctr"/>
          <a:lstStyle/>
          <a:p>
            <a:pPr algn="ctr" indent="0" marL="0">
              <a:buNone/>
            </a:pPr>
            <a:r>
              <a:rPr lang="en-US" sz="1800" b="1" dirty="0">
                <a:solidFill>
                  <a:srgbClr val="FFFFFF"/>
                </a:solidFill>
                <a:latin typeface="Arial" pitchFamily="34" charset="0"/>
                <a:ea typeface="Arial" pitchFamily="34" charset="-122"/>
                <a:cs typeface="Arial" pitchFamily="34" charset="-120"/>
              </a:rPr>
              <a:t>03</a:t>
            </a:r>
            <a:endParaRPr lang="en-US" sz="1800" dirty="0"/>
          </a:p>
        </p:txBody>
      </p:sp>
      <p:sp>
        <p:nvSpPr>
          <p:cNvPr id="19" name="Text 17"/>
          <p:cNvSpPr/>
          <p:nvPr/>
        </p:nvSpPr>
        <p:spPr>
          <a:xfrm>
            <a:off x="1371600" y="2560320"/>
            <a:ext cx="2286000" cy="274320"/>
          </a:xfrm>
          <a:prstGeom prst="rect">
            <a:avLst/>
          </a:prstGeom>
          <a:noFill/>
          <a:ln/>
        </p:spPr>
        <p:txBody>
          <a:bodyPr wrap="square" lIns="0" tIns="0" rIns="0" bIns="0" rtlCol="0" anchor="ctr"/>
          <a:lstStyle/>
          <a:p>
            <a:pPr indent="0" marL="0">
              <a:buNone/>
            </a:pPr>
            <a:r>
              <a:rPr lang="en-US" sz="1600" b="1" dirty="0">
                <a:solidFill>
                  <a:srgbClr val="1F2937"/>
                </a:solidFill>
                <a:latin typeface="Arial" pitchFamily="34" charset="0"/>
                <a:ea typeface="Arial" pitchFamily="34" charset="-122"/>
                <a:cs typeface="Arial" pitchFamily="34" charset="-120"/>
              </a:rPr>
              <a:t>Predict</a:t>
            </a:r>
            <a:endParaRPr lang="en-US" sz="1600" dirty="0"/>
          </a:p>
        </p:txBody>
      </p:sp>
      <p:sp>
        <p:nvSpPr>
          <p:cNvPr id="20" name="Text 18"/>
          <p:cNvSpPr/>
          <p:nvPr/>
        </p:nvSpPr>
        <p:spPr>
          <a:xfrm>
            <a:off x="1371600" y="2834640"/>
            <a:ext cx="5029200" cy="274320"/>
          </a:xfrm>
          <a:prstGeom prst="rect">
            <a:avLst/>
          </a:prstGeom>
          <a:noFill/>
          <a:ln/>
        </p:spPr>
        <p:txBody>
          <a:bodyPr wrap="square" lIns="0" tIns="0" rIns="0" bIns="0" rtlCol="0" anchor="ctr"/>
          <a:lstStyle/>
          <a:p>
            <a:pPr indent="0" marL="0">
              <a:buNone/>
            </a:pPr>
            <a:r>
              <a:rPr lang="en-US" sz="1200" i="1" dirty="0">
                <a:solidFill>
                  <a:srgbClr val="6B7280"/>
                </a:solidFill>
                <a:latin typeface="Arial" pitchFamily="34" charset="0"/>
                <a:ea typeface="Arial" pitchFamily="34" charset="-122"/>
                <a:cs typeface="Arial" pitchFamily="34" charset="-120"/>
              </a:rPr>
              <a:t>Who responds</a:t>
            </a:r>
            <a:endParaRPr lang="en-US" sz="1200" dirty="0"/>
          </a:p>
        </p:txBody>
      </p:sp>
      <p:sp>
        <p:nvSpPr>
          <p:cNvPr id="21" name="Text 19"/>
          <p:cNvSpPr/>
          <p:nvPr/>
        </p:nvSpPr>
        <p:spPr>
          <a:xfrm>
            <a:off x="7772400" y="2606040"/>
            <a:ext cx="822960" cy="457200"/>
          </a:xfrm>
          <a:prstGeom prst="rect">
            <a:avLst/>
          </a:prstGeom>
          <a:noFill/>
          <a:ln/>
        </p:spPr>
        <p:txBody>
          <a:bodyPr wrap="square" lIns="0" tIns="0" rIns="0" bIns="0" rtlCol="0" anchor="ctr"/>
          <a:lstStyle/>
          <a:p>
            <a:pPr algn="r" indent="0" marL="0">
              <a:buNone/>
            </a:pPr>
            <a:r>
              <a:rPr lang="en-US" sz="1200" dirty="0">
                <a:solidFill>
                  <a:srgbClr val="9CA3AF"/>
                </a:solidFill>
                <a:latin typeface="Arial" pitchFamily="34" charset="0"/>
                <a:ea typeface="Arial" pitchFamily="34" charset="-122"/>
                <a:cs typeface="Arial" pitchFamily="34" charset="-120"/>
              </a:rPr>
              <a:t>30 min</a:t>
            </a:r>
            <a:endParaRPr lang="en-US" sz="1200" dirty="0"/>
          </a:p>
        </p:txBody>
      </p:sp>
      <p:sp>
        <p:nvSpPr>
          <p:cNvPr id="22" name="Shape 20"/>
          <p:cNvSpPr/>
          <p:nvPr/>
        </p:nvSpPr>
        <p:spPr>
          <a:xfrm>
            <a:off x="640080" y="3200400"/>
            <a:ext cx="548640" cy="548640"/>
          </a:xfrm>
          <a:prstGeom prst="rect">
            <a:avLst/>
          </a:prstGeom>
          <a:solidFill>
            <a:srgbClr val="6D28D9"/>
          </a:solidFill>
          <a:ln/>
        </p:spPr>
      </p:sp>
      <p:sp>
        <p:nvSpPr>
          <p:cNvPr id="23" name="Text 21"/>
          <p:cNvSpPr/>
          <p:nvPr/>
        </p:nvSpPr>
        <p:spPr>
          <a:xfrm>
            <a:off x="640080" y="3200400"/>
            <a:ext cx="548640" cy="548640"/>
          </a:xfrm>
          <a:prstGeom prst="rect">
            <a:avLst/>
          </a:prstGeom>
          <a:noFill/>
          <a:ln/>
        </p:spPr>
        <p:txBody>
          <a:bodyPr wrap="square" lIns="0" tIns="0" rIns="0" bIns="0" rtlCol="0" anchor="ctr"/>
          <a:lstStyle/>
          <a:p>
            <a:pPr algn="ctr" indent="0" marL="0">
              <a:buNone/>
            </a:pPr>
            <a:r>
              <a:rPr lang="en-US" sz="1800" b="1" dirty="0">
                <a:solidFill>
                  <a:srgbClr val="FFFFFF"/>
                </a:solidFill>
                <a:latin typeface="Arial" pitchFamily="34" charset="0"/>
                <a:ea typeface="Arial" pitchFamily="34" charset="-122"/>
                <a:cs typeface="Arial" pitchFamily="34" charset="-120"/>
              </a:rPr>
              <a:t>04</a:t>
            </a:r>
            <a:endParaRPr lang="en-US" sz="1800" dirty="0"/>
          </a:p>
        </p:txBody>
      </p:sp>
      <p:sp>
        <p:nvSpPr>
          <p:cNvPr id="24" name="Text 22"/>
          <p:cNvSpPr/>
          <p:nvPr/>
        </p:nvSpPr>
        <p:spPr>
          <a:xfrm>
            <a:off x="1371600" y="3200400"/>
            <a:ext cx="2286000" cy="274320"/>
          </a:xfrm>
          <a:prstGeom prst="rect">
            <a:avLst/>
          </a:prstGeom>
          <a:noFill/>
          <a:ln/>
        </p:spPr>
        <p:txBody>
          <a:bodyPr wrap="square" lIns="0" tIns="0" rIns="0" bIns="0" rtlCol="0" anchor="ctr"/>
          <a:lstStyle/>
          <a:p>
            <a:pPr indent="0" marL="0">
              <a:buNone/>
            </a:pPr>
            <a:r>
              <a:rPr lang="en-US" sz="1600" b="1" dirty="0">
                <a:solidFill>
                  <a:srgbClr val="1F2937"/>
                </a:solidFill>
                <a:latin typeface="Arial" pitchFamily="34" charset="0"/>
                <a:ea typeface="Arial" pitchFamily="34" charset="-122"/>
                <a:cs typeface="Arial" pitchFamily="34" charset="-120"/>
              </a:rPr>
              <a:t>Segment</a:t>
            </a:r>
            <a:endParaRPr lang="en-US" sz="1600" dirty="0"/>
          </a:p>
        </p:txBody>
      </p:sp>
      <p:sp>
        <p:nvSpPr>
          <p:cNvPr id="25" name="Text 23"/>
          <p:cNvSpPr/>
          <p:nvPr/>
        </p:nvSpPr>
        <p:spPr>
          <a:xfrm>
            <a:off x="1371600" y="3474720"/>
            <a:ext cx="5029200" cy="274320"/>
          </a:xfrm>
          <a:prstGeom prst="rect">
            <a:avLst/>
          </a:prstGeom>
          <a:noFill/>
          <a:ln/>
        </p:spPr>
        <p:txBody>
          <a:bodyPr wrap="square" lIns="0" tIns="0" rIns="0" bIns="0" rtlCol="0" anchor="ctr"/>
          <a:lstStyle/>
          <a:p>
            <a:pPr indent="0" marL="0">
              <a:buNone/>
            </a:pPr>
            <a:r>
              <a:rPr lang="en-US" sz="1200" i="1" dirty="0">
                <a:solidFill>
                  <a:srgbClr val="6B7280"/>
                </a:solidFill>
                <a:latin typeface="Arial" pitchFamily="34" charset="0"/>
                <a:ea typeface="Arial" pitchFamily="34" charset="-122"/>
                <a:cs typeface="Arial" pitchFamily="34" charset="-120"/>
              </a:rPr>
              <a:t>Who they are + what to offer</a:t>
            </a:r>
            <a:endParaRPr lang="en-US" sz="1200" dirty="0"/>
          </a:p>
        </p:txBody>
      </p:sp>
      <p:sp>
        <p:nvSpPr>
          <p:cNvPr id="26" name="Text 24"/>
          <p:cNvSpPr/>
          <p:nvPr/>
        </p:nvSpPr>
        <p:spPr>
          <a:xfrm>
            <a:off x="7772400" y="3246120"/>
            <a:ext cx="822960" cy="457200"/>
          </a:xfrm>
          <a:prstGeom prst="rect">
            <a:avLst/>
          </a:prstGeom>
          <a:noFill/>
          <a:ln/>
        </p:spPr>
        <p:txBody>
          <a:bodyPr wrap="square" lIns="0" tIns="0" rIns="0" bIns="0" rtlCol="0" anchor="ctr"/>
          <a:lstStyle/>
          <a:p>
            <a:pPr algn="r" indent="0" marL="0">
              <a:buNone/>
            </a:pPr>
            <a:r>
              <a:rPr lang="en-US" sz="1200" dirty="0">
                <a:solidFill>
                  <a:srgbClr val="9CA3AF"/>
                </a:solidFill>
                <a:latin typeface="Arial" pitchFamily="34" charset="0"/>
                <a:ea typeface="Arial" pitchFamily="34" charset="-122"/>
                <a:cs typeface="Arial" pitchFamily="34" charset="-120"/>
              </a:rPr>
              <a:t>30 min</a:t>
            </a:r>
            <a:endParaRPr lang="en-US" sz="1200" dirty="0"/>
          </a:p>
        </p:txBody>
      </p:sp>
      <p:sp>
        <p:nvSpPr>
          <p:cNvPr id="27" name="Shape 25"/>
          <p:cNvSpPr/>
          <p:nvPr/>
        </p:nvSpPr>
        <p:spPr>
          <a:xfrm>
            <a:off x="640080" y="3840480"/>
            <a:ext cx="548640" cy="548640"/>
          </a:xfrm>
          <a:prstGeom prst="rect">
            <a:avLst/>
          </a:prstGeom>
          <a:solidFill>
            <a:srgbClr val="DC2626"/>
          </a:solidFill>
          <a:ln/>
        </p:spPr>
      </p:sp>
      <p:sp>
        <p:nvSpPr>
          <p:cNvPr id="28" name="Text 26"/>
          <p:cNvSpPr/>
          <p:nvPr/>
        </p:nvSpPr>
        <p:spPr>
          <a:xfrm>
            <a:off x="640080" y="3840480"/>
            <a:ext cx="548640" cy="548640"/>
          </a:xfrm>
          <a:prstGeom prst="rect">
            <a:avLst/>
          </a:prstGeom>
          <a:noFill/>
          <a:ln/>
        </p:spPr>
        <p:txBody>
          <a:bodyPr wrap="square" lIns="0" tIns="0" rIns="0" bIns="0" rtlCol="0" anchor="ctr"/>
          <a:lstStyle/>
          <a:p>
            <a:pPr algn="ctr" indent="0" marL="0">
              <a:buNone/>
            </a:pPr>
            <a:r>
              <a:rPr lang="en-US" sz="1800" b="1" dirty="0">
                <a:solidFill>
                  <a:srgbClr val="FFFFFF"/>
                </a:solidFill>
                <a:latin typeface="Arial" pitchFamily="34" charset="0"/>
                <a:ea typeface="Arial" pitchFamily="34" charset="-122"/>
                <a:cs typeface="Arial" pitchFamily="34" charset="-120"/>
              </a:rPr>
              <a:t>05</a:t>
            </a:r>
            <a:endParaRPr lang="en-US" sz="1800" dirty="0"/>
          </a:p>
        </p:txBody>
      </p:sp>
      <p:sp>
        <p:nvSpPr>
          <p:cNvPr id="29" name="Text 27"/>
          <p:cNvSpPr/>
          <p:nvPr/>
        </p:nvSpPr>
        <p:spPr>
          <a:xfrm>
            <a:off x="1371600" y="3840480"/>
            <a:ext cx="2286000" cy="274320"/>
          </a:xfrm>
          <a:prstGeom prst="rect">
            <a:avLst/>
          </a:prstGeom>
          <a:noFill/>
          <a:ln/>
        </p:spPr>
        <p:txBody>
          <a:bodyPr wrap="square" lIns="0" tIns="0" rIns="0" bIns="0" rtlCol="0" anchor="ctr"/>
          <a:lstStyle/>
          <a:p>
            <a:pPr indent="0" marL="0">
              <a:buNone/>
            </a:pPr>
            <a:r>
              <a:rPr lang="en-US" sz="1600" b="1" dirty="0">
                <a:solidFill>
                  <a:srgbClr val="1F2937"/>
                </a:solidFill>
                <a:latin typeface="Arial" pitchFamily="34" charset="0"/>
                <a:ea typeface="Arial" pitchFamily="34" charset="-122"/>
                <a:cs typeface="Arial" pitchFamily="34" charset="-120"/>
              </a:rPr>
              <a:t>Listen</a:t>
            </a:r>
            <a:endParaRPr lang="en-US" sz="1600" dirty="0"/>
          </a:p>
        </p:txBody>
      </p:sp>
      <p:sp>
        <p:nvSpPr>
          <p:cNvPr id="30" name="Text 28"/>
          <p:cNvSpPr/>
          <p:nvPr/>
        </p:nvSpPr>
        <p:spPr>
          <a:xfrm>
            <a:off x="1371600" y="4114800"/>
            <a:ext cx="5029200" cy="274320"/>
          </a:xfrm>
          <a:prstGeom prst="rect">
            <a:avLst/>
          </a:prstGeom>
          <a:noFill/>
          <a:ln/>
        </p:spPr>
        <p:txBody>
          <a:bodyPr wrap="square" lIns="0" tIns="0" rIns="0" bIns="0" rtlCol="0" anchor="ctr"/>
          <a:lstStyle/>
          <a:p>
            <a:pPr indent="0" marL="0">
              <a:buNone/>
            </a:pPr>
            <a:r>
              <a:rPr lang="en-US" sz="1200" i="1" dirty="0">
                <a:solidFill>
                  <a:srgbClr val="6B7280"/>
                </a:solidFill>
                <a:latin typeface="Arial" pitchFamily="34" charset="0"/>
                <a:ea typeface="Arial" pitchFamily="34" charset="-122"/>
                <a:cs typeface="Arial" pitchFamily="34" charset="-120"/>
              </a:rPr>
              <a:t>What they're saying</a:t>
            </a:r>
            <a:endParaRPr lang="en-US" sz="1200" dirty="0"/>
          </a:p>
        </p:txBody>
      </p:sp>
      <p:sp>
        <p:nvSpPr>
          <p:cNvPr id="31" name="Text 29"/>
          <p:cNvSpPr/>
          <p:nvPr/>
        </p:nvSpPr>
        <p:spPr>
          <a:xfrm>
            <a:off x="7772400" y="3886200"/>
            <a:ext cx="822960" cy="457200"/>
          </a:xfrm>
          <a:prstGeom prst="rect">
            <a:avLst/>
          </a:prstGeom>
          <a:noFill/>
          <a:ln/>
        </p:spPr>
        <p:txBody>
          <a:bodyPr wrap="square" lIns="0" tIns="0" rIns="0" bIns="0" rtlCol="0" anchor="ctr"/>
          <a:lstStyle/>
          <a:p>
            <a:pPr algn="r" indent="0" marL="0">
              <a:buNone/>
            </a:pPr>
            <a:r>
              <a:rPr lang="en-US" sz="1200" dirty="0">
                <a:solidFill>
                  <a:srgbClr val="9CA3AF"/>
                </a:solidFill>
                <a:latin typeface="Arial" pitchFamily="34" charset="0"/>
                <a:ea typeface="Arial" pitchFamily="34" charset="-122"/>
                <a:cs typeface="Arial" pitchFamily="34" charset="-120"/>
              </a:rPr>
              <a:t>25 min</a:t>
            </a:r>
            <a:endParaRPr lang="en-US" sz="1200" dirty="0"/>
          </a:p>
        </p:txBody>
      </p:sp>
      <p:sp>
        <p:nvSpPr>
          <p:cNvPr id="32" name="Shape 30"/>
          <p:cNvSpPr/>
          <p:nvPr/>
        </p:nvSpPr>
        <p:spPr>
          <a:xfrm>
            <a:off x="640080" y="4572000"/>
            <a:ext cx="7863840" cy="411480"/>
          </a:xfrm>
          <a:prstGeom prst="rect">
            <a:avLst/>
          </a:prstGeom>
          <a:solidFill>
            <a:srgbClr val="E0F7FA"/>
          </a:solidFill>
          <a:ln w="12700">
            <a:solidFill>
              <a:srgbClr val="0891B2"/>
            </a:solidFill>
            <a:prstDash val="solid"/>
          </a:ln>
        </p:spPr>
      </p:sp>
      <p:sp>
        <p:nvSpPr>
          <p:cNvPr id="33" name="Text 31"/>
          <p:cNvSpPr/>
          <p:nvPr/>
        </p:nvSpPr>
        <p:spPr>
          <a:xfrm>
            <a:off x="822960" y="4663440"/>
            <a:ext cx="7498080" cy="228600"/>
          </a:xfrm>
          <a:prstGeom prst="rect">
            <a:avLst/>
          </a:prstGeom>
          <a:noFill/>
          <a:ln/>
        </p:spPr>
        <p:txBody>
          <a:bodyPr wrap="square" lIns="0" tIns="0" rIns="0" bIns="0" rtlCol="0" anchor="ctr"/>
          <a:lstStyle/>
          <a:p>
            <a:pPr indent="0" marL="0">
              <a:buNone/>
            </a:pPr>
            <a:r>
              <a:rPr lang="en-US" sz="1200" i="1" dirty="0">
                <a:solidFill>
                  <a:srgbClr val="1F2937"/>
                </a:solidFill>
                <a:latin typeface="Arial" pitchFamily="34" charset="0"/>
                <a:ea typeface="Arial" pitchFamily="34" charset="-122"/>
                <a:cs typeface="Arial" pitchFamily="34" charset="-120"/>
              </a:rPr>
              <a:t>By the end, Module 5 feeds back into Module 3, and Module 4 filters what we send. The loop closes.</a:t>
            </a:r>
            <a:endParaRPr lang="en-US" sz="12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1F2937"/>
        </a:solidFill>
      </p:bgPr>
    </p:bg>
    <p:spTree>
      <p:nvGrpSpPr>
        <p:cNvPr id="1" name=""/>
        <p:cNvGrpSpPr/>
        <p:nvPr/>
      </p:nvGrpSpPr>
      <p:grpSpPr>
        <a:xfrm>
          <a:off x="0" y="0"/>
          <a:ext cx="0" cy="0"/>
          <a:chOff x="0" y="0"/>
          <a:chExt cx="0" cy="0"/>
        </a:xfrm>
      </p:grpSpPr>
      <p:sp>
        <p:nvSpPr>
          <p:cNvPr id="2" name="Shape 0"/>
          <p:cNvSpPr/>
          <p:nvPr/>
        </p:nvSpPr>
        <p:spPr>
          <a:xfrm>
            <a:off x="0" y="0"/>
            <a:ext cx="9144000" cy="45720"/>
          </a:xfrm>
          <a:prstGeom prst="rect">
            <a:avLst/>
          </a:prstGeom>
          <a:solidFill>
            <a:srgbClr val="0891B2"/>
          </a:solidFill>
          <a:ln/>
        </p:spPr>
      </p:sp>
      <p:sp>
        <p:nvSpPr>
          <p:cNvPr id="3" name="Text 1"/>
          <p:cNvSpPr/>
          <p:nvPr/>
        </p:nvSpPr>
        <p:spPr>
          <a:xfrm>
            <a:off x="640080" y="1188720"/>
            <a:ext cx="2286000" cy="1280160"/>
          </a:xfrm>
          <a:prstGeom prst="rect">
            <a:avLst/>
          </a:prstGeom>
          <a:noFill/>
          <a:ln/>
        </p:spPr>
        <p:txBody>
          <a:bodyPr wrap="square" lIns="0" tIns="0" rIns="0" bIns="0" rtlCol="0" anchor="ctr"/>
          <a:lstStyle/>
          <a:p>
            <a:pPr indent="0" marL="0">
              <a:buNone/>
            </a:pPr>
            <a:r>
              <a:rPr lang="en-US" sz="8000" b="1" dirty="0">
                <a:solidFill>
                  <a:srgbClr val="0891B2"/>
                </a:solidFill>
                <a:latin typeface="Arial" pitchFamily="34" charset="0"/>
                <a:ea typeface="Arial" pitchFamily="34" charset="-122"/>
                <a:cs typeface="Arial" pitchFamily="34" charset="-120"/>
              </a:rPr>
              <a:t>01</a:t>
            </a:r>
            <a:endParaRPr lang="en-US" sz="8000" dirty="0"/>
          </a:p>
        </p:txBody>
      </p:sp>
      <p:sp>
        <p:nvSpPr>
          <p:cNvPr id="4" name="Shape 2"/>
          <p:cNvSpPr/>
          <p:nvPr/>
        </p:nvSpPr>
        <p:spPr>
          <a:xfrm>
            <a:off x="640080" y="2606040"/>
            <a:ext cx="3200400" cy="0"/>
          </a:xfrm>
          <a:prstGeom prst="line">
            <a:avLst/>
          </a:prstGeom>
          <a:noFill/>
          <a:ln w="31750">
            <a:solidFill>
              <a:srgbClr val="0891B2"/>
            </a:solidFill>
            <a:prstDash val="solid"/>
          </a:ln>
        </p:spPr>
      </p:sp>
      <p:sp>
        <p:nvSpPr>
          <p:cNvPr id="5" name="Text 3"/>
          <p:cNvSpPr/>
          <p:nvPr/>
        </p:nvSpPr>
        <p:spPr>
          <a:xfrm>
            <a:off x="640080" y="2788920"/>
            <a:ext cx="7863840" cy="640080"/>
          </a:xfrm>
          <a:prstGeom prst="rect">
            <a:avLst/>
          </a:prstGeom>
          <a:noFill/>
          <a:ln/>
        </p:spPr>
        <p:txBody>
          <a:bodyPr wrap="square" lIns="0" tIns="0" rIns="0" bIns="0" rtlCol="0" anchor="ctr"/>
          <a:lstStyle/>
          <a:p>
            <a:pPr indent="0" marL="0">
              <a:buNone/>
            </a:pPr>
            <a:r>
              <a:rPr lang="en-US" sz="3600" b="1" dirty="0">
                <a:solidFill>
                  <a:srgbClr val="FFFFFF"/>
                </a:solidFill>
                <a:latin typeface="Arial" pitchFamily="34" charset="0"/>
                <a:ea typeface="Arial" pitchFamily="34" charset="-122"/>
                <a:cs typeface="Arial" pitchFamily="34" charset="-120"/>
              </a:rPr>
              <a:t>Diagnose</a:t>
            </a:r>
            <a:endParaRPr lang="en-US" sz="3600" dirty="0"/>
          </a:p>
        </p:txBody>
      </p:sp>
      <p:sp>
        <p:nvSpPr>
          <p:cNvPr id="6" name="Text 4"/>
          <p:cNvSpPr/>
          <p:nvPr/>
        </p:nvSpPr>
        <p:spPr>
          <a:xfrm>
            <a:off x="640080" y="3520440"/>
            <a:ext cx="7863840" cy="457200"/>
          </a:xfrm>
          <a:prstGeom prst="rect">
            <a:avLst/>
          </a:prstGeom>
          <a:noFill/>
          <a:ln/>
        </p:spPr>
        <p:txBody>
          <a:bodyPr wrap="square" lIns="0" tIns="0" rIns="0" bIns="0" rtlCol="0" anchor="ctr"/>
          <a:lstStyle/>
          <a:p>
            <a:pPr indent="0" marL="0">
              <a:buNone/>
            </a:pPr>
            <a:r>
              <a:rPr lang="en-US" sz="1600" i="1" dirty="0">
                <a:solidFill>
                  <a:srgbClr val="9CA3AF"/>
                </a:solidFill>
                <a:latin typeface="Arial" pitchFamily="34" charset="0"/>
                <a:ea typeface="Arial" pitchFamily="34" charset="-122"/>
                <a:cs typeface="Arial" pitchFamily="34" charset="-120"/>
              </a:rPr>
              <a:t>What is actually driving daily branch revenue?</a:t>
            </a:r>
            <a:endParaRPr lang="en-US" sz="1600" dirty="0"/>
          </a:p>
        </p:txBody>
      </p:sp>
      <p:sp>
        <p:nvSpPr>
          <p:cNvPr id="7" name="Text 5"/>
          <p:cNvSpPr/>
          <p:nvPr/>
        </p:nvSpPr>
        <p:spPr>
          <a:xfrm>
            <a:off x="7680960" y="228600"/>
            <a:ext cx="1097280" cy="365760"/>
          </a:xfrm>
          <a:prstGeom prst="rect">
            <a:avLst/>
          </a:prstGeom>
          <a:noFill/>
          <a:ln/>
        </p:spPr>
        <p:txBody>
          <a:bodyPr wrap="square" rtlCol="0" anchor="ctr"/>
          <a:lstStyle/>
          <a:p>
            <a:pPr algn="r" indent="0" marL="0">
              <a:buNone/>
            </a:pPr>
            <a:r>
              <a:rPr lang="en-US" sz="1300" b="1" dirty="0">
                <a:solidFill>
                  <a:srgbClr val="0891B2"/>
                </a:solidFill>
                <a:latin typeface="Arial" pitchFamily="34" charset="0"/>
                <a:ea typeface="Arial" pitchFamily="34" charset="-122"/>
                <a:cs typeface="Arial" pitchFamily="34" charset="-120"/>
              </a:rPr>
              <a:t>MADT</a:t>
            </a:r>
            <a:endParaRPr lang="en-US" sz="13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9144000" cy="45720"/>
          </a:xfrm>
          <a:prstGeom prst="rect">
            <a:avLst/>
          </a:prstGeom>
          <a:solidFill>
            <a:srgbClr val="0891B2"/>
          </a:solidFill>
          <a:ln/>
        </p:spPr>
      </p:sp>
      <p:sp>
        <p:nvSpPr>
          <p:cNvPr id="3" name="Text 1"/>
          <p:cNvSpPr/>
          <p:nvPr/>
        </p:nvSpPr>
        <p:spPr>
          <a:xfrm>
            <a:off x="640080" y="4828032"/>
            <a:ext cx="5486400" cy="228600"/>
          </a:xfrm>
          <a:prstGeom prst="rect">
            <a:avLst/>
          </a:prstGeom>
          <a:noFill/>
          <a:ln/>
        </p:spPr>
        <p:txBody>
          <a:bodyPr wrap="square" lIns="0" tIns="0" rIns="0" bIns="0" rtlCol="0" anchor="ctr"/>
          <a:lstStyle/>
          <a:p>
            <a:pPr indent="0" marL="0">
              <a:buNone/>
            </a:pPr>
            <a:r>
              <a:rPr lang="en-US" sz="900" dirty="0">
                <a:solidFill>
                  <a:srgbClr val="9CA3AF"/>
                </a:solidFill>
                <a:latin typeface="Arial" pitchFamily="34" charset="0"/>
                <a:ea typeface="Arial" pitchFamily="34" charset="-122"/>
                <a:cs typeface="Arial" pitchFamily="34" charset="-120"/>
              </a:rPr>
              <a:t>NIDA  |  MADT6004  |  Module 1 — the trap</a:t>
            </a:r>
            <a:endParaRPr lang="en-US" sz="900" dirty="0"/>
          </a:p>
        </p:txBody>
      </p:sp>
      <p:sp>
        <p:nvSpPr>
          <p:cNvPr id="4" name="Text 2"/>
          <p:cNvSpPr/>
          <p:nvPr/>
        </p:nvSpPr>
        <p:spPr>
          <a:xfrm>
            <a:off x="7772400" y="4800600"/>
            <a:ext cx="914400" cy="274320"/>
          </a:xfrm>
          <a:prstGeom prst="rect">
            <a:avLst/>
          </a:prstGeom>
          <a:noFill/>
          <a:ln/>
        </p:spPr>
        <p:txBody>
          <a:bodyPr wrap="square" lIns="0" tIns="0" rIns="0" bIns="0" rtlCol="0" anchor="ctr"/>
          <a:lstStyle/>
          <a:p>
            <a:pPr algn="r" indent="0" marL="0">
              <a:buNone/>
            </a:pPr>
            <a:r>
              <a:rPr lang="en-US" sz="1200" b="1" dirty="0">
                <a:solidFill>
                  <a:srgbClr val="0891B2"/>
                </a:solidFill>
                <a:latin typeface="Arial" pitchFamily="34" charset="0"/>
                <a:ea typeface="Arial" pitchFamily="34" charset="-122"/>
                <a:cs typeface="Arial" pitchFamily="34" charset="-120"/>
              </a:rPr>
              <a:t>MADT</a:t>
            </a:r>
            <a:endParaRPr lang="en-US" sz="1200" dirty="0"/>
          </a:p>
        </p:txBody>
      </p:sp>
      <p:sp>
        <p:nvSpPr>
          <p:cNvPr id="5" name="Text 3"/>
          <p:cNvSpPr/>
          <p:nvPr/>
        </p:nvSpPr>
        <p:spPr>
          <a:xfrm>
            <a:off x="640080" y="274320"/>
            <a:ext cx="7863840" cy="502920"/>
          </a:xfrm>
          <a:prstGeom prst="rect">
            <a:avLst/>
          </a:prstGeom>
          <a:noFill/>
          <a:ln/>
        </p:spPr>
        <p:txBody>
          <a:bodyPr wrap="square" lIns="0" tIns="0" rIns="0" bIns="0" rtlCol="0" anchor="ctr"/>
          <a:lstStyle/>
          <a:p>
            <a:pPr indent="0" marL="0">
              <a:buNone/>
            </a:pPr>
            <a:r>
              <a:rPr lang="en-US" sz="2800" b="1" dirty="0">
                <a:solidFill>
                  <a:srgbClr val="1F2937"/>
                </a:solidFill>
                <a:latin typeface="Arial" pitchFamily="34" charset="0"/>
                <a:ea typeface="Arial" pitchFamily="34" charset="-122"/>
                <a:cs typeface="Arial" pitchFamily="34" charset="-120"/>
              </a:rPr>
              <a:t>The trap of running many tests</a:t>
            </a:r>
            <a:endParaRPr lang="en-US" sz="2800" dirty="0"/>
          </a:p>
        </p:txBody>
      </p:sp>
      <p:sp>
        <p:nvSpPr>
          <p:cNvPr id="6" name="Text 4"/>
          <p:cNvSpPr/>
          <p:nvPr/>
        </p:nvSpPr>
        <p:spPr>
          <a:xfrm>
            <a:off x="640080" y="777240"/>
            <a:ext cx="7863840" cy="274320"/>
          </a:xfrm>
          <a:prstGeom prst="rect">
            <a:avLst/>
          </a:prstGeom>
          <a:noFill/>
          <a:ln/>
        </p:spPr>
        <p:txBody>
          <a:bodyPr wrap="square" lIns="0" tIns="0" rIns="0" bIns="0" rtlCol="0" anchor="ctr"/>
          <a:lstStyle/>
          <a:p>
            <a:pPr indent="0" marL="0">
              <a:buNone/>
            </a:pPr>
            <a:r>
              <a:rPr lang="en-US" sz="1300" i="1" dirty="0">
                <a:solidFill>
                  <a:srgbClr val="6B7280"/>
                </a:solidFill>
                <a:latin typeface="Arial" pitchFamily="34" charset="0"/>
                <a:ea typeface="Arial" pitchFamily="34" charset="-122"/>
                <a:cs typeface="Arial" pitchFamily="34" charset="-120"/>
              </a:rPr>
              <a:t>Run 30 t-tests, report the p&lt;.05 ones, declare insight. This is not analysis.</a:t>
            </a:r>
            <a:endParaRPr lang="en-US" sz="1300" dirty="0"/>
          </a:p>
        </p:txBody>
      </p:sp>
      <p:sp>
        <p:nvSpPr>
          <p:cNvPr id="7" name="Shape 5"/>
          <p:cNvSpPr/>
          <p:nvPr/>
        </p:nvSpPr>
        <p:spPr>
          <a:xfrm>
            <a:off x="640080" y="1280160"/>
            <a:ext cx="3749040" cy="2926080"/>
          </a:xfrm>
          <a:prstGeom prst="rect">
            <a:avLst/>
          </a:prstGeom>
          <a:solidFill>
            <a:srgbClr val="FEF3C7"/>
          </a:solidFill>
          <a:ln w="12700">
            <a:solidFill>
              <a:srgbClr val="D97706"/>
            </a:solidFill>
            <a:prstDash val="solid"/>
          </a:ln>
        </p:spPr>
      </p:sp>
      <p:sp>
        <p:nvSpPr>
          <p:cNvPr id="8" name="Text 6"/>
          <p:cNvSpPr/>
          <p:nvPr/>
        </p:nvSpPr>
        <p:spPr>
          <a:xfrm>
            <a:off x="777240" y="1371600"/>
            <a:ext cx="3474720" cy="320040"/>
          </a:xfrm>
          <a:prstGeom prst="rect">
            <a:avLst/>
          </a:prstGeom>
          <a:noFill/>
          <a:ln/>
        </p:spPr>
        <p:txBody>
          <a:bodyPr wrap="square" lIns="0" tIns="0" rIns="0" bIns="0" rtlCol="0" anchor="ctr"/>
          <a:lstStyle/>
          <a:p>
            <a:pPr indent="0" marL="0">
              <a:buNone/>
            </a:pPr>
            <a:r>
              <a:rPr lang="en-US" sz="1400" b="1" dirty="0">
                <a:solidFill>
                  <a:srgbClr val="D97706"/>
                </a:solidFill>
                <a:latin typeface="Arial" pitchFamily="34" charset="0"/>
                <a:ea typeface="Arial" pitchFamily="34" charset="-122"/>
                <a:cs typeface="Arial" pitchFamily="34" charset="-120"/>
              </a:rPr>
              <a:t>WITHOUT discipline</a:t>
            </a:r>
            <a:endParaRPr lang="en-US" sz="1400" dirty="0"/>
          </a:p>
        </p:txBody>
      </p:sp>
      <p:sp>
        <p:nvSpPr>
          <p:cNvPr id="9" name="Text 7"/>
          <p:cNvSpPr/>
          <p:nvPr/>
        </p:nvSpPr>
        <p:spPr>
          <a:xfrm>
            <a:off x="777240" y="1783080"/>
            <a:ext cx="3474720" cy="2286000"/>
          </a:xfrm>
          <a:prstGeom prst="rect">
            <a:avLst/>
          </a:prstGeom>
          <a:noFill/>
          <a:ln/>
        </p:spPr>
        <p:txBody>
          <a:bodyPr wrap="square" lIns="0" tIns="0" rIns="0" bIns="0" rtlCol="0" anchor="t"/>
          <a:lstStyle/>
          <a:p>
            <a:pPr indent="0" marL="0">
              <a:buNone/>
            </a:pPr>
            <a:r>
              <a:rPr lang="en-US" sz="1200" dirty="0">
                <a:solidFill>
                  <a:srgbClr val="374151"/>
                </a:solidFill>
                <a:latin typeface="Arial" pitchFamily="34" charset="0"/>
                <a:ea typeface="Arial" pitchFamily="34" charset="-122"/>
                <a:cs typeface="Arial" pitchFamily="34" charset="-120"/>
              </a:rPr>
              <a:t>•  Run every comparison you can think of
</a:t>
            </a:r>
            <a:pPr indent="0" marL="0">
              <a:buNone/>
            </a:pPr>
            <a:r>
              <a:rPr lang="en-US" sz="1200" dirty="0">
                <a:solidFill>
                  <a:srgbClr val="374151"/>
                </a:solidFill>
                <a:latin typeface="Arial" pitchFamily="34" charset="0"/>
                <a:ea typeface="Arial" pitchFamily="34" charset="-122"/>
                <a:cs typeface="Arial" pitchFamily="34" charset="-120"/>
              </a:rPr>
              <a:t>•  Pick the ones with p &lt; .05
</a:t>
            </a:r>
            <a:pPr indent="0" marL="0">
              <a:buNone/>
            </a:pPr>
            <a:r>
              <a:rPr lang="en-US" sz="1200" dirty="0">
                <a:solidFill>
                  <a:srgbClr val="374151"/>
                </a:solidFill>
                <a:latin typeface="Arial" pitchFamily="34" charset="0"/>
                <a:ea typeface="Arial" pitchFamily="34" charset="-122"/>
                <a:cs typeface="Arial" pitchFamily="34" charset="-120"/>
              </a:rPr>
              <a:t>•  Tell a story around them
</a:t>
            </a:r>
            <a:pPr indent="0" marL="0">
              <a:buNone/>
            </a:pPr>
            <a:r>
              <a:rPr lang="en-US" sz="1200" dirty="0">
                <a:solidFill>
                  <a:srgbClr val="374151"/>
                </a:solidFill>
                <a:latin typeface="Arial" pitchFamily="34" charset="0"/>
                <a:ea typeface="Arial" pitchFamily="34" charset="-122"/>
                <a:cs typeface="Arial" pitchFamily="34" charset="-120"/>
              </a:rPr>
              <a:t>•  Forget about multiple-comparisons inflation
</a:t>
            </a:r>
            <a:pPr indent="0" marL="0">
              <a:buNone/>
            </a:pPr>
            <a:r>
              <a:rPr lang="en-US" sz="1200" dirty="0">
                <a:solidFill>
                  <a:srgbClr val="374151"/>
                </a:solidFill>
                <a:latin typeface="Arial" pitchFamily="34" charset="0"/>
                <a:ea typeface="Arial" pitchFamily="34" charset="-122"/>
                <a:cs typeface="Arial" pitchFamily="34" charset="-120"/>
              </a:rPr>
              <a:t>•  Confound categorical effects with continuous ones
</a:t>
            </a:r>
            <a:pPr indent="0" marL="0">
              <a:buNone/>
            </a:pPr>
            <a:r>
              <a:rPr lang="en-US" sz="1200" dirty="0">
                <a:solidFill>
                  <a:srgbClr val="000000"/>
                </a:solidFill>
                <a:latin typeface="Arial" pitchFamily="34" charset="0"/>
                <a:ea typeface="Arial" pitchFamily="34" charset="-122"/>
                <a:cs typeface="Arial" pitchFamily="34" charset="-120"/>
              </a:rPr>
              <a:t>
</a:t>
            </a:r>
            <a:pPr indent="0" marL="0">
              <a:buNone/>
            </a:pPr>
            <a:r>
              <a:rPr lang="en-US" sz="1100" b="1" i="1" dirty="0">
                <a:solidFill>
                  <a:srgbClr val="D97706"/>
                </a:solidFill>
                <a:latin typeface="Arial" pitchFamily="34" charset="0"/>
                <a:ea typeface="Arial" pitchFamily="34" charset="-122"/>
                <a:cs typeface="Arial" pitchFamily="34" charset="-120"/>
              </a:rPr>
              <a:t>Result: false positives, lost trust, wrong actions</a:t>
            </a:r>
            <a:endParaRPr lang="en-US" sz="1200" dirty="0"/>
          </a:p>
        </p:txBody>
      </p:sp>
      <p:sp>
        <p:nvSpPr>
          <p:cNvPr id="10" name="Shape 8"/>
          <p:cNvSpPr/>
          <p:nvPr/>
        </p:nvSpPr>
        <p:spPr>
          <a:xfrm>
            <a:off x="4754880" y="1280160"/>
            <a:ext cx="3749040" cy="2926080"/>
          </a:xfrm>
          <a:prstGeom prst="rect">
            <a:avLst/>
          </a:prstGeom>
          <a:solidFill>
            <a:srgbClr val="E0F7FA"/>
          </a:solidFill>
          <a:ln w="12700">
            <a:solidFill>
              <a:srgbClr val="0891B2"/>
            </a:solidFill>
            <a:prstDash val="solid"/>
          </a:ln>
        </p:spPr>
      </p:sp>
      <p:sp>
        <p:nvSpPr>
          <p:cNvPr id="11" name="Text 9"/>
          <p:cNvSpPr/>
          <p:nvPr/>
        </p:nvSpPr>
        <p:spPr>
          <a:xfrm>
            <a:off x="4892040" y="1371600"/>
            <a:ext cx="3474720" cy="320040"/>
          </a:xfrm>
          <a:prstGeom prst="rect">
            <a:avLst/>
          </a:prstGeom>
          <a:noFill/>
          <a:ln/>
        </p:spPr>
        <p:txBody>
          <a:bodyPr wrap="square" lIns="0" tIns="0" rIns="0" bIns="0" rtlCol="0" anchor="ctr"/>
          <a:lstStyle/>
          <a:p>
            <a:pPr indent="0" marL="0">
              <a:buNone/>
            </a:pPr>
            <a:r>
              <a:rPr lang="en-US" sz="1400" b="1" dirty="0">
                <a:solidFill>
                  <a:srgbClr val="0891B2"/>
                </a:solidFill>
                <a:latin typeface="Arial" pitchFamily="34" charset="0"/>
                <a:ea typeface="Arial" pitchFamily="34" charset="-122"/>
                <a:cs typeface="Arial" pitchFamily="34" charset="-120"/>
              </a:rPr>
              <a:t>WITH discipline</a:t>
            </a:r>
            <a:endParaRPr lang="en-US" sz="1400" dirty="0"/>
          </a:p>
        </p:txBody>
      </p:sp>
      <p:sp>
        <p:nvSpPr>
          <p:cNvPr id="12" name="Text 10"/>
          <p:cNvSpPr/>
          <p:nvPr/>
        </p:nvSpPr>
        <p:spPr>
          <a:xfrm>
            <a:off x="4892040" y="1783080"/>
            <a:ext cx="3474720" cy="2286000"/>
          </a:xfrm>
          <a:prstGeom prst="rect">
            <a:avLst/>
          </a:prstGeom>
          <a:noFill/>
          <a:ln/>
        </p:spPr>
        <p:txBody>
          <a:bodyPr wrap="square" lIns="0" tIns="0" rIns="0" bIns="0" rtlCol="0" anchor="t"/>
          <a:lstStyle/>
          <a:p>
            <a:pPr indent="0" marL="0">
              <a:buNone/>
            </a:pPr>
            <a:r>
              <a:rPr lang="en-US" sz="1200" dirty="0">
                <a:solidFill>
                  <a:srgbClr val="374151"/>
                </a:solidFill>
                <a:latin typeface="Arial" pitchFamily="34" charset="0"/>
                <a:ea typeface="Arial" pitchFamily="34" charset="-122"/>
                <a:cs typeface="Arial" pitchFamily="34" charset="-120"/>
              </a:rPr>
              <a:t>•  Pre-register hypotheses as a dictionary
</a:t>
            </a:r>
            <a:pPr indent="0" marL="0">
              <a:buNone/>
            </a:pPr>
            <a:r>
              <a:rPr lang="en-US" sz="1200" dirty="0">
                <a:solidFill>
                  <a:srgbClr val="374151"/>
                </a:solidFill>
                <a:latin typeface="Arial" pitchFamily="34" charset="0"/>
                <a:ea typeface="Arial" pitchFamily="34" charset="-122"/>
                <a:cs typeface="Arial" pitchFamily="34" charset="-120"/>
              </a:rPr>
              <a:t>•  Pick test by data type — automated
</a:t>
            </a:r>
            <a:pPr indent="0" marL="0">
              <a:buNone/>
            </a:pPr>
            <a:r>
              <a:rPr lang="en-US" sz="1200" dirty="0">
                <a:solidFill>
                  <a:srgbClr val="374151"/>
                </a:solidFill>
                <a:latin typeface="Arial" pitchFamily="34" charset="0"/>
                <a:ea typeface="Arial" pitchFamily="34" charset="-122"/>
                <a:cs typeface="Arial" pitchFamily="34" charset="-120"/>
              </a:rPr>
              <a:t>•  Apply FDR (Benjamini-Hochberg) correction
</a:t>
            </a:r>
            <a:pPr indent="0" marL="0">
              <a:buNone/>
            </a:pPr>
            <a:r>
              <a:rPr lang="en-US" sz="1200" dirty="0">
                <a:solidFill>
                  <a:srgbClr val="374151"/>
                </a:solidFill>
                <a:latin typeface="Arial" pitchFamily="34" charset="0"/>
                <a:ea typeface="Arial" pitchFamily="34" charset="-122"/>
                <a:cs typeface="Arial" pitchFamily="34" charset="-120"/>
              </a:rPr>
              <a:t>•  Confirm with regression + interactions
</a:t>
            </a:r>
            <a:pPr indent="0" marL="0">
              <a:buNone/>
            </a:pPr>
            <a:r>
              <a:rPr lang="en-US" sz="1200" dirty="0">
                <a:solidFill>
                  <a:srgbClr val="374151"/>
                </a:solidFill>
                <a:latin typeface="Arial" pitchFamily="34" charset="0"/>
                <a:ea typeface="Arial" pitchFamily="34" charset="-122"/>
                <a:cs typeface="Arial" pitchFamily="34" charset="-120"/>
              </a:rPr>
              <a:t>•  Filter to significant only → dashboard
</a:t>
            </a:r>
            <a:pPr indent="0" marL="0">
              <a:buNone/>
            </a:pPr>
            <a:r>
              <a:rPr lang="en-US" sz="1200" dirty="0">
                <a:solidFill>
                  <a:srgbClr val="000000"/>
                </a:solidFill>
                <a:latin typeface="Arial" pitchFamily="34" charset="0"/>
                <a:ea typeface="Arial" pitchFamily="34" charset="-122"/>
                <a:cs typeface="Arial" pitchFamily="34" charset="-120"/>
              </a:rPr>
              <a:t>
</a:t>
            </a:r>
            <a:pPr indent="0" marL="0">
              <a:buNone/>
            </a:pPr>
            <a:r>
              <a:rPr lang="en-US" sz="1100" b="1" i="1" dirty="0">
                <a:solidFill>
                  <a:srgbClr val="0891B2"/>
                </a:solidFill>
                <a:latin typeface="Arial" pitchFamily="34" charset="0"/>
                <a:ea typeface="Arial" pitchFamily="34" charset="-122"/>
                <a:cs typeface="Arial" pitchFamily="34" charset="-120"/>
              </a:rPr>
              <a:t>Result: a defensible audit trail</a:t>
            </a:r>
            <a:endParaRPr lang="en-US" sz="1200" dirty="0"/>
          </a:p>
        </p:txBody>
      </p:sp>
      <p:sp>
        <p:nvSpPr>
          <p:cNvPr id="13" name="Shape 11"/>
          <p:cNvSpPr/>
          <p:nvPr/>
        </p:nvSpPr>
        <p:spPr>
          <a:xfrm>
            <a:off x="640080" y="4343400"/>
            <a:ext cx="7863840" cy="365760"/>
          </a:xfrm>
          <a:prstGeom prst="rect">
            <a:avLst/>
          </a:prstGeom>
          <a:solidFill>
            <a:srgbClr val="E0F7FA"/>
          </a:solidFill>
          <a:ln w="12700">
            <a:solidFill>
              <a:srgbClr val="0891B2"/>
            </a:solidFill>
            <a:prstDash val="solid"/>
          </a:ln>
        </p:spPr>
      </p:sp>
      <p:sp>
        <p:nvSpPr>
          <p:cNvPr id="14" name="Text 12"/>
          <p:cNvSpPr/>
          <p:nvPr/>
        </p:nvSpPr>
        <p:spPr>
          <a:xfrm>
            <a:off x="822960" y="4434840"/>
            <a:ext cx="7498080" cy="182880"/>
          </a:xfrm>
          <a:prstGeom prst="rect">
            <a:avLst/>
          </a:prstGeom>
          <a:noFill/>
          <a:ln/>
        </p:spPr>
        <p:txBody>
          <a:bodyPr wrap="square" lIns="0" tIns="0" rIns="0" bIns="0" rtlCol="0" anchor="ctr"/>
          <a:lstStyle/>
          <a:p>
            <a:pPr indent="0" marL="0">
              <a:buNone/>
            </a:pPr>
            <a:r>
              <a:rPr lang="en-US" sz="1200" i="1" dirty="0">
                <a:solidFill>
                  <a:srgbClr val="1F2937"/>
                </a:solidFill>
                <a:latin typeface="Arial" pitchFamily="34" charset="0"/>
                <a:ea typeface="Arial" pitchFamily="34" charset="-122"/>
                <a:cs typeface="Arial" pitchFamily="34" charset="-120"/>
              </a:rPr>
              <a:t>The dictionary is the audit trail. Every reviewer can see what you tested — not just what worked.</a:t>
            </a:r>
            <a:endParaRPr lang="en-US" sz="12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9144000" cy="45720"/>
          </a:xfrm>
          <a:prstGeom prst="rect">
            <a:avLst/>
          </a:prstGeom>
          <a:solidFill>
            <a:srgbClr val="0891B2"/>
          </a:solidFill>
          <a:ln/>
        </p:spPr>
      </p:sp>
      <p:sp>
        <p:nvSpPr>
          <p:cNvPr id="3" name="Text 1"/>
          <p:cNvSpPr/>
          <p:nvPr/>
        </p:nvSpPr>
        <p:spPr>
          <a:xfrm>
            <a:off x="640080" y="4828032"/>
            <a:ext cx="5486400" cy="228600"/>
          </a:xfrm>
          <a:prstGeom prst="rect">
            <a:avLst/>
          </a:prstGeom>
          <a:noFill/>
          <a:ln/>
        </p:spPr>
        <p:txBody>
          <a:bodyPr wrap="square" lIns="0" tIns="0" rIns="0" bIns="0" rtlCol="0" anchor="ctr"/>
          <a:lstStyle/>
          <a:p>
            <a:pPr indent="0" marL="0">
              <a:buNone/>
            </a:pPr>
            <a:r>
              <a:rPr lang="en-US" sz="900" dirty="0">
                <a:solidFill>
                  <a:srgbClr val="9CA3AF"/>
                </a:solidFill>
                <a:latin typeface="Arial" pitchFamily="34" charset="0"/>
                <a:ea typeface="Arial" pitchFamily="34" charset="-122"/>
                <a:cs typeface="Arial" pitchFamily="34" charset="-120"/>
              </a:rPr>
              <a:t>NIDA  |  MADT6004  |  Module 1 — pattern</a:t>
            </a:r>
            <a:endParaRPr lang="en-US" sz="900" dirty="0"/>
          </a:p>
        </p:txBody>
      </p:sp>
      <p:sp>
        <p:nvSpPr>
          <p:cNvPr id="4" name="Text 2"/>
          <p:cNvSpPr/>
          <p:nvPr/>
        </p:nvSpPr>
        <p:spPr>
          <a:xfrm>
            <a:off x="7772400" y="4800600"/>
            <a:ext cx="914400" cy="274320"/>
          </a:xfrm>
          <a:prstGeom prst="rect">
            <a:avLst/>
          </a:prstGeom>
          <a:noFill/>
          <a:ln/>
        </p:spPr>
        <p:txBody>
          <a:bodyPr wrap="square" lIns="0" tIns="0" rIns="0" bIns="0" rtlCol="0" anchor="ctr"/>
          <a:lstStyle/>
          <a:p>
            <a:pPr algn="r" indent="0" marL="0">
              <a:buNone/>
            </a:pPr>
            <a:r>
              <a:rPr lang="en-US" sz="1200" b="1" dirty="0">
                <a:solidFill>
                  <a:srgbClr val="0891B2"/>
                </a:solidFill>
                <a:latin typeface="Arial" pitchFamily="34" charset="0"/>
                <a:ea typeface="Arial" pitchFamily="34" charset="-122"/>
                <a:cs typeface="Arial" pitchFamily="34" charset="-120"/>
              </a:rPr>
              <a:t>MADT</a:t>
            </a:r>
            <a:endParaRPr lang="en-US" sz="1200" dirty="0"/>
          </a:p>
        </p:txBody>
      </p:sp>
      <p:sp>
        <p:nvSpPr>
          <p:cNvPr id="5" name="Text 3"/>
          <p:cNvSpPr/>
          <p:nvPr/>
        </p:nvSpPr>
        <p:spPr>
          <a:xfrm>
            <a:off x="640080" y="274320"/>
            <a:ext cx="7863840" cy="502920"/>
          </a:xfrm>
          <a:prstGeom prst="rect">
            <a:avLst/>
          </a:prstGeom>
          <a:noFill/>
          <a:ln/>
        </p:spPr>
        <p:txBody>
          <a:bodyPr wrap="square" lIns="0" tIns="0" rIns="0" bIns="0" rtlCol="0" anchor="ctr"/>
          <a:lstStyle/>
          <a:p>
            <a:pPr indent="0" marL="0">
              <a:buNone/>
            </a:pPr>
            <a:r>
              <a:rPr lang="en-US" sz="2800" b="1" dirty="0">
                <a:solidFill>
                  <a:srgbClr val="1F2937"/>
                </a:solidFill>
                <a:latin typeface="Arial" pitchFamily="34" charset="0"/>
                <a:ea typeface="Arial" pitchFamily="34" charset="-122"/>
                <a:cs typeface="Arial" pitchFamily="34" charset="-120"/>
              </a:rPr>
              <a:t>Causal chain as a dictionary</a:t>
            </a:r>
            <a:endParaRPr lang="en-US" sz="2800" dirty="0"/>
          </a:p>
        </p:txBody>
      </p:sp>
      <p:sp>
        <p:nvSpPr>
          <p:cNvPr id="6" name="Text 4"/>
          <p:cNvSpPr/>
          <p:nvPr/>
        </p:nvSpPr>
        <p:spPr>
          <a:xfrm>
            <a:off x="640080" y="777240"/>
            <a:ext cx="7863840" cy="274320"/>
          </a:xfrm>
          <a:prstGeom prst="rect">
            <a:avLst/>
          </a:prstGeom>
          <a:noFill/>
          <a:ln/>
        </p:spPr>
        <p:txBody>
          <a:bodyPr wrap="square" lIns="0" tIns="0" rIns="0" bIns="0" rtlCol="0" anchor="ctr"/>
          <a:lstStyle/>
          <a:p>
            <a:pPr indent="0" marL="0">
              <a:buNone/>
            </a:pPr>
            <a:r>
              <a:rPr lang="en-US" sz="1300" i="1" dirty="0">
                <a:solidFill>
                  <a:srgbClr val="6B7280"/>
                </a:solidFill>
                <a:latin typeface="Arial" pitchFamily="34" charset="0"/>
                <a:ea typeface="Arial" pitchFamily="34" charset="-122"/>
                <a:cs typeface="Arial" pitchFamily="34" charset="-120"/>
              </a:rPr>
              <a:t>Every relationship is a row in a table. No hidden tests.</a:t>
            </a:r>
            <a:endParaRPr lang="en-US" sz="1300" dirty="0"/>
          </a:p>
        </p:txBody>
      </p:sp>
      <p:sp>
        <p:nvSpPr>
          <p:cNvPr id="7" name="Shape 5"/>
          <p:cNvSpPr/>
          <p:nvPr/>
        </p:nvSpPr>
        <p:spPr>
          <a:xfrm>
            <a:off x="640080" y="1188720"/>
            <a:ext cx="7863840" cy="2743200"/>
          </a:xfrm>
          <a:prstGeom prst="rect">
            <a:avLst/>
          </a:prstGeom>
          <a:solidFill>
            <a:srgbClr val="F3F4F6"/>
          </a:solidFill>
          <a:ln w="6350">
            <a:solidFill>
              <a:srgbClr val="D1D5DB"/>
            </a:solidFill>
            <a:prstDash val="solid"/>
          </a:ln>
        </p:spPr>
      </p:sp>
      <p:sp>
        <p:nvSpPr>
          <p:cNvPr id="8" name="Text 6"/>
          <p:cNvSpPr/>
          <p:nvPr/>
        </p:nvSpPr>
        <p:spPr>
          <a:xfrm>
            <a:off x="777240" y="1280160"/>
            <a:ext cx="7589520" cy="2560320"/>
          </a:xfrm>
          <a:prstGeom prst="rect">
            <a:avLst/>
          </a:prstGeom>
          <a:noFill/>
          <a:ln/>
        </p:spPr>
        <p:txBody>
          <a:bodyPr wrap="square" lIns="0" tIns="0" rIns="0" bIns="0" rtlCol="0" anchor="t"/>
          <a:lstStyle/>
          <a:p>
            <a:pPr indent="0" marL="0">
              <a:buNone/>
            </a:pPr>
            <a:r>
              <a:rPr lang="en-US" sz="1000" dirty="0">
                <a:solidFill>
                  <a:srgbClr val="374151"/>
                </a:solidFill>
                <a:latin typeface="Consolas" pitchFamily="34" charset="0"/>
                <a:ea typeface="Consolas" pitchFamily="34" charset="-122"/>
                <a:cs typeface="Consolas" pitchFamily="34" charset="-120"/>
              </a:rPr>
              <a:t>CAUSAL_CHAIN = {</a:t>
            </a:r>
            <a:endParaRPr lang="en-US" sz="1000" dirty="0"/>
          </a:p>
          <a:p>
            <a:pPr indent="0" marL="0">
              <a:buNone/>
            </a:pPr>
            <a:r>
              <a:rPr lang="en-US" sz="1000" dirty="0">
                <a:solidFill>
                  <a:srgbClr val="374151"/>
                </a:solidFill>
                <a:latin typeface="Consolas" pitchFamily="34" charset="0"/>
                <a:ea typeface="Consolas" pitchFamily="34" charset="-122"/>
                <a:cs typeface="Consolas" pitchFamily="34" charset="-120"/>
              </a:rPr>
              <a:t>    "h01_dt_revenue":         {"cause":"has_drive_thru", "effect":"revenue",</a:t>
            </a:r>
            <a:endParaRPr lang="en-US" sz="1000" dirty="0"/>
          </a:p>
          <a:p>
            <a:pPr indent="0" marL="0">
              <a:buNone/>
            </a:pPr>
            <a:r>
              <a:rPr lang="en-US" sz="1000" dirty="0">
                <a:solidFill>
                  <a:srgbClr val="374151"/>
                </a:solidFill>
                <a:latin typeface="Consolas" pitchFamily="34" charset="0"/>
                <a:ea typeface="Consolas" pitchFamily="34" charset="-122"/>
                <a:cs typeface="Consolas" pitchFamily="34" charset="-120"/>
              </a:rPr>
              <a:t>                               "cause_type":"binary",     "effect_type":"continuous"},</a:t>
            </a:r>
            <a:endParaRPr lang="en-US" sz="1000" dirty="0"/>
          </a:p>
          <a:p>
            <a:pPr indent="0" marL="0">
              <a:buNone/>
            </a:pPr>
            <a:r>
              <a:rPr lang="en-US" sz="1000" dirty="0">
                <a:solidFill>
                  <a:srgbClr val="374151"/>
                </a:solidFill>
                <a:latin typeface="Consolas" pitchFamily="34" charset="0"/>
                <a:ea typeface="Consolas" pitchFamily="34" charset="-122"/>
                <a:cs typeface="Consolas" pitchFamily="34" charset="-120"/>
              </a:rPr>
              <a:t>    "h02_dt_weekend_revenue": {"cause":"has_drive_thru", "effect":"revenue",</a:t>
            </a:r>
            <a:endParaRPr lang="en-US" sz="1000" dirty="0"/>
          </a:p>
          <a:p>
            <a:pPr indent="0" marL="0">
              <a:buNone/>
            </a:pPr>
            <a:r>
              <a:rPr lang="en-US" sz="1000" dirty="0">
                <a:solidFill>
                  <a:srgbClr val="374151"/>
                </a:solidFill>
                <a:latin typeface="Consolas" pitchFamily="34" charset="0"/>
                <a:ea typeface="Consolas" pitchFamily="34" charset="-122"/>
                <a:cs typeface="Consolas" pitchFamily="34" charset="-120"/>
              </a:rPr>
              <a:t>                               "cause_type":"binary",     "effect_type":"continuous",</a:t>
            </a:r>
            <a:endParaRPr lang="en-US" sz="1000" dirty="0"/>
          </a:p>
          <a:p>
            <a:pPr indent="0" marL="0">
              <a:buNone/>
            </a:pPr>
            <a:r>
              <a:rPr lang="en-US" sz="1000" dirty="0">
                <a:solidFill>
                  <a:srgbClr val="374151"/>
                </a:solidFill>
                <a:latin typeface="Consolas" pitchFamily="34" charset="0"/>
                <a:ea typeface="Consolas" pitchFamily="34" charset="-122"/>
                <a:cs typeface="Consolas" pitchFamily="34" charset="-120"/>
              </a:rPr>
              <a:t>                               "subset":"is_weekend==1"},</a:t>
            </a:r>
            <a:endParaRPr lang="en-US" sz="1000" dirty="0"/>
          </a:p>
          <a:p>
            <a:pPr indent="0" marL="0">
              <a:buNone/>
            </a:pPr>
            <a:r>
              <a:rPr lang="en-US" sz="1000" dirty="0">
                <a:solidFill>
                  <a:srgbClr val="374151"/>
                </a:solidFill>
                <a:latin typeface="Consolas" pitchFamily="34" charset="0"/>
                <a:ea typeface="Consolas" pitchFamily="34" charset="-122"/>
                <a:cs typeface="Consolas" pitchFamily="34" charset="-120"/>
              </a:rPr>
              <a:t>    "h04_weekend_revenue":    {"cause":"is_weekend",     "effect":"revenue",</a:t>
            </a:r>
            <a:endParaRPr lang="en-US" sz="1000" dirty="0"/>
          </a:p>
          <a:p>
            <a:pPr indent="0" marL="0">
              <a:buNone/>
            </a:pPr>
            <a:r>
              <a:rPr lang="en-US" sz="1000" dirty="0">
                <a:solidFill>
                  <a:srgbClr val="374151"/>
                </a:solidFill>
                <a:latin typeface="Consolas" pitchFamily="34" charset="0"/>
                <a:ea typeface="Consolas" pitchFamily="34" charset="-122"/>
                <a:cs typeface="Consolas" pitchFamily="34" charset="-120"/>
              </a:rPr>
              <a:t>                               "cause_type":"binary",     "effect_type":"continuous"},</a:t>
            </a:r>
            <a:endParaRPr lang="en-US" sz="1000" dirty="0"/>
          </a:p>
          <a:p>
            <a:pPr indent="0" marL="0">
              <a:buNone/>
            </a:pPr>
            <a:r>
              <a:rPr lang="en-US" sz="1000" dirty="0">
                <a:solidFill>
                  <a:srgbClr val="374151"/>
                </a:solidFill>
                <a:latin typeface="Consolas" pitchFamily="34" charset="0"/>
                <a:ea typeface="Consolas" pitchFamily="34" charset="-122"/>
                <a:cs typeface="Consolas" pitchFamily="34" charset="-120"/>
              </a:rPr>
              <a:t>    "h07_seats_revenue":      {"cause":"seats",          "effect":"revenue",</a:t>
            </a:r>
            <a:endParaRPr lang="en-US" sz="1000" dirty="0"/>
          </a:p>
          <a:p>
            <a:pPr indent="0" marL="0">
              <a:buNone/>
            </a:pPr>
            <a:r>
              <a:rPr lang="en-US" sz="1000" dirty="0">
                <a:solidFill>
                  <a:srgbClr val="374151"/>
                </a:solidFill>
                <a:latin typeface="Consolas" pitchFamily="34" charset="0"/>
                <a:ea typeface="Consolas" pitchFamily="34" charset="-122"/>
                <a:cs typeface="Consolas" pitchFamily="34" charset="-120"/>
              </a:rPr>
              <a:t>                               "cause_type":"continuous", "effect_type":"continuous"},</a:t>
            </a:r>
            <a:endParaRPr lang="en-US" sz="1000" dirty="0"/>
          </a:p>
          <a:p>
            <a:pPr indent="0" marL="0">
              <a:buNone/>
            </a:pPr>
            <a:r>
              <a:rPr lang="en-US" sz="1000" dirty="0">
                <a:solidFill>
                  <a:srgbClr val="374151"/>
                </a:solidFill>
                <a:latin typeface="Consolas" pitchFamily="34" charset="0"/>
                <a:ea typeface="Consolas" pitchFamily="34" charset="-122"/>
                <a:cs typeface="Consolas" pitchFamily="34" charset="-120"/>
              </a:rPr>
              <a:t>    "h11_district_revenue":   {"cause":"district",       "effect":"revenue",</a:t>
            </a:r>
            <a:endParaRPr lang="en-US" sz="1000" dirty="0"/>
          </a:p>
          <a:p>
            <a:pPr indent="0" marL="0">
              <a:buNone/>
            </a:pPr>
            <a:r>
              <a:rPr lang="en-US" sz="1000" dirty="0">
                <a:solidFill>
                  <a:srgbClr val="374151"/>
                </a:solidFill>
                <a:latin typeface="Consolas" pitchFamily="34" charset="0"/>
                <a:ea typeface="Consolas" pitchFamily="34" charset="-122"/>
                <a:cs typeface="Consolas" pitchFamily="34" charset="-120"/>
              </a:rPr>
              <a:t>                               "cause_type":"categorical","effect_type":"continuous"},</a:t>
            </a:r>
            <a:endParaRPr lang="en-US" sz="1000" dirty="0"/>
          </a:p>
          <a:p>
            <a:pPr indent="0" marL="0">
              <a:buNone/>
            </a:pPr>
            <a:r>
              <a:rPr lang="en-US" sz="1000" dirty="0">
                <a:solidFill>
                  <a:srgbClr val="374151"/>
                </a:solidFill>
                <a:latin typeface="Consolas" pitchFamily="34" charset="0"/>
                <a:ea typeface="Consolas" pitchFamily="34" charset="-122"/>
                <a:cs typeface="Consolas" pitchFamily="34" charset="-120"/>
              </a:rPr>
              <a:t>    # ... 20 hypotheses total, all declared upfront</a:t>
            </a:r>
            <a:endParaRPr lang="en-US" sz="1000" dirty="0"/>
          </a:p>
          <a:p>
            <a:pPr indent="0" marL="0">
              <a:buNone/>
            </a:pPr>
            <a:r>
              <a:rPr lang="en-US" sz="1000" dirty="0">
                <a:solidFill>
                  <a:srgbClr val="374151"/>
                </a:solidFill>
                <a:latin typeface="Consolas" pitchFamily="34" charset="0"/>
                <a:ea typeface="Consolas" pitchFamily="34" charset="-122"/>
                <a:cs typeface="Consolas" pitchFamily="34" charset="-120"/>
              </a:rPr>
              <a:t>}</a:t>
            </a:r>
            <a:endParaRPr lang="en-US" sz="1000" dirty="0"/>
          </a:p>
        </p:txBody>
      </p:sp>
      <p:sp>
        <p:nvSpPr>
          <p:cNvPr id="9" name="Shape 7"/>
          <p:cNvSpPr/>
          <p:nvPr/>
        </p:nvSpPr>
        <p:spPr>
          <a:xfrm>
            <a:off x="640080" y="4069080"/>
            <a:ext cx="7863840" cy="640080"/>
          </a:xfrm>
          <a:prstGeom prst="rect">
            <a:avLst/>
          </a:prstGeom>
          <a:solidFill>
            <a:srgbClr val="E0F7FA"/>
          </a:solidFill>
          <a:ln w="12700">
            <a:solidFill>
              <a:srgbClr val="0891B2"/>
            </a:solidFill>
            <a:prstDash val="solid"/>
          </a:ln>
        </p:spPr>
      </p:sp>
      <p:sp>
        <p:nvSpPr>
          <p:cNvPr id="10" name="Text 8"/>
          <p:cNvSpPr/>
          <p:nvPr/>
        </p:nvSpPr>
        <p:spPr>
          <a:xfrm>
            <a:off x="822960" y="4160520"/>
            <a:ext cx="7498080" cy="457200"/>
          </a:xfrm>
          <a:prstGeom prst="rect">
            <a:avLst/>
          </a:prstGeom>
          <a:noFill/>
          <a:ln/>
        </p:spPr>
        <p:txBody>
          <a:bodyPr wrap="square" lIns="0" tIns="0" rIns="0" bIns="0" rtlCol="0" anchor="ctr"/>
          <a:lstStyle/>
          <a:p>
            <a:pPr indent="0" marL="0">
              <a:buNone/>
            </a:pPr>
            <a:r>
              <a:rPr lang="en-US" sz="1200" i="1" dirty="0">
                <a:solidFill>
                  <a:srgbClr val="1F2937"/>
                </a:solidFill>
                <a:latin typeface="Arial" pitchFamily="34" charset="0"/>
                <a:ea typeface="Arial" pitchFamily="34" charset="-122"/>
                <a:cs typeface="Arial" pitchFamily="34" charset="-120"/>
              </a:rPr>
              <a:t>The dictionary makes hypotheses first-class. You can version them. Diff them. Replay last quarter's analysis when the data changes.</a:t>
            </a:r>
            <a:endParaRPr lang="en-US" sz="12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9144000" cy="45720"/>
          </a:xfrm>
          <a:prstGeom prst="rect">
            <a:avLst/>
          </a:prstGeom>
          <a:solidFill>
            <a:srgbClr val="0891B2"/>
          </a:solidFill>
          <a:ln/>
        </p:spPr>
      </p:sp>
      <p:sp>
        <p:nvSpPr>
          <p:cNvPr id="3" name="Text 1"/>
          <p:cNvSpPr/>
          <p:nvPr/>
        </p:nvSpPr>
        <p:spPr>
          <a:xfrm>
            <a:off x="640080" y="4828032"/>
            <a:ext cx="5486400" cy="228600"/>
          </a:xfrm>
          <a:prstGeom prst="rect">
            <a:avLst/>
          </a:prstGeom>
          <a:noFill/>
          <a:ln/>
        </p:spPr>
        <p:txBody>
          <a:bodyPr wrap="square" lIns="0" tIns="0" rIns="0" bIns="0" rtlCol="0" anchor="ctr"/>
          <a:lstStyle/>
          <a:p>
            <a:pPr indent="0" marL="0">
              <a:buNone/>
            </a:pPr>
            <a:r>
              <a:rPr lang="en-US" sz="900" dirty="0">
                <a:solidFill>
                  <a:srgbClr val="9CA3AF"/>
                </a:solidFill>
                <a:latin typeface="Arial" pitchFamily="34" charset="0"/>
                <a:ea typeface="Arial" pitchFamily="34" charset="-122"/>
                <a:cs typeface="Arial" pitchFamily="34" charset="-120"/>
              </a:rPr>
              <a:t>NIDA  |  MADT6004  |  Module 1 — dispatch</a:t>
            </a:r>
            <a:endParaRPr lang="en-US" sz="900" dirty="0"/>
          </a:p>
        </p:txBody>
      </p:sp>
      <p:sp>
        <p:nvSpPr>
          <p:cNvPr id="4" name="Text 2"/>
          <p:cNvSpPr/>
          <p:nvPr/>
        </p:nvSpPr>
        <p:spPr>
          <a:xfrm>
            <a:off x="7772400" y="4800600"/>
            <a:ext cx="914400" cy="274320"/>
          </a:xfrm>
          <a:prstGeom prst="rect">
            <a:avLst/>
          </a:prstGeom>
          <a:noFill/>
          <a:ln/>
        </p:spPr>
        <p:txBody>
          <a:bodyPr wrap="square" lIns="0" tIns="0" rIns="0" bIns="0" rtlCol="0" anchor="ctr"/>
          <a:lstStyle/>
          <a:p>
            <a:pPr algn="r" indent="0" marL="0">
              <a:buNone/>
            </a:pPr>
            <a:r>
              <a:rPr lang="en-US" sz="1200" b="1" dirty="0">
                <a:solidFill>
                  <a:srgbClr val="0891B2"/>
                </a:solidFill>
                <a:latin typeface="Arial" pitchFamily="34" charset="0"/>
                <a:ea typeface="Arial" pitchFamily="34" charset="-122"/>
                <a:cs typeface="Arial" pitchFamily="34" charset="-120"/>
              </a:rPr>
              <a:t>MADT</a:t>
            </a:r>
            <a:endParaRPr lang="en-US" sz="1200" dirty="0"/>
          </a:p>
        </p:txBody>
      </p:sp>
      <p:sp>
        <p:nvSpPr>
          <p:cNvPr id="5" name="Text 3"/>
          <p:cNvSpPr/>
          <p:nvPr/>
        </p:nvSpPr>
        <p:spPr>
          <a:xfrm>
            <a:off x="640080" y="274320"/>
            <a:ext cx="7863840" cy="502920"/>
          </a:xfrm>
          <a:prstGeom prst="rect">
            <a:avLst/>
          </a:prstGeom>
          <a:noFill/>
          <a:ln/>
        </p:spPr>
        <p:txBody>
          <a:bodyPr wrap="square" lIns="0" tIns="0" rIns="0" bIns="0" rtlCol="0" anchor="ctr"/>
          <a:lstStyle/>
          <a:p>
            <a:pPr indent="0" marL="0">
              <a:buNone/>
            </a:pPr>
            <a:r>
              <a:rPr lang="en-US" sz="2800" b="1" dirty="0">
                <a:solidFill>
                  <a:srgbClr val="1F2937"/>
                </a:solidFill>
                <a:latin typeface="Arial" pitchFamily="34" charset="0"/>
                <a:ea typeface="Arial" pitchFamily="34" charset="-122"/>
                <a:cs typeface="Arial" pitchFamily="34" charset="-120"/>
              </a:rPr>
              <a:t>Pick the test by data type</a:t>
            </a:r>
            <a:endParaRPr lang="en-US" sz="2800" dirty="0"/>
          </a:p>
        </p:txBody>
      </p:sp>
      <p:sp>
        <p:nvSpPr>
          <p:cNvPr id="6" name="Text 4"/>
          <p:cNvSpPr/>
          <p:nvPr/>
        </p:nvSpPr>
        <p:spPr>
          <a:xfrm>
            <a:off x="640080" y="777240"/>
            <a:ext cx="7863840" cy="274320"/>
          </a:xfrm>
          <a:prstGeom prst="rect">
            <a:avLst/>
          </a:prstGeom>
          <a:noFill/>
          <a:ln/>
        </p:spPr>
        <p:txBody>
          <a:bodyPr wrap="square" lIns="0" tIns="0" rIns="0" bIns="0" rtlCol="0" anchor="ctr"/>
          <a:lstStyle/>
          <a:p>
            <a:pPr indent="0" marL="0">
              <a:buNone/>
            </a:pPr>
            <a:r>
              <a:rPr lang="en-US" sz="1300" i="1" dirty="0">
                <a:solidFill>
                  <a:srgbClr val="6B7280"/>
                </a:solidFill>
                <a:latin typeface="Arial" pitchFamily="34" charset="0"/>
                <a:ea typeface="Arial" pitchFamily="34" charset="-122"/>
                <a:cs typeface="Arial" pitchFamily="34" charset="-120"/>
              </a:rPr>
              <a:t>One function. Four type signatures. Uniform output.</a:t>
            </a:r>
            <a:endParaRPr lang="en-US" sz="1300" dirty="0"/>
          </a:p>
        </p:txBody>
      </p:sp>
      <p:sp>
        <p:nvSpPr>
          <p:cNvPr id="7" name="Shape 5"/>
          <p:cNvSpPr/>
          <p:nvPr/>
        </p:nvSpPr>
        <p:spPr>
          <a:xfrm>
            <a:off x="640080" y="1280160"/>
            <a:ext cx="1371600" cy="365760"/>
          </a:xfrm>
          <a:prstGeom prst="rect">
            <a:avLst/>
          </a:prstGeom>
          <a:solidFill>
            <a:srgbClr val="0891B2"/>
          </a:solidFill>
          <a:ln/>
        </p:spPr>
      </p:sp>
      <p:sp>
        <p:nvSpPr>
          <p:cNvPr id="8" name="Text 6"/>
          <p:cNvSpPr/>
          <p:nvPr/>
        </p:nvSpPr>
        <p:spPr>
          <a:xfrm>
            <a:off x="640080" y="1280160"/>
            <a:ext cx="1371600" cy="365760"/>
          </a:xfrm>
          <a:prstGeom prst="rect">
            <a:avLst/>
          </a:prstGeom>
          <a:noFill/>
          <a:ln/>
        </p:spPr>
        <p:txBody>
          <a:bodyPr wrap="square" lIns="0" tIns="0" rIns="0" bIns="0" rtlCol="0" anchor="ctr"/>
          <a:lstStyle/>
          <a:p>
            <a:pPr algn="ctr" indent="0" marL="0">
              <a:buNone/>
            </a:pPr>
            <a:r>
              <a:rPr lang="en-US" sz="1100" b="1" dirty="0">
                <a:solidFill>
                  <a:srgbClr val="FFFFFF"/>
                </a:solidFill>
                <a:latin typeface="Arial" pitchFamily="34" charset="0"/>
                <a:ea typeface="Arial" pitchFamily="34" charset="-122"/>
                <a:cs typeface="Arial" pitchFamily="34" charset="-120"/>
              </a:rPr>
              <a:t>Cause type</a:t>
            </a:r>
            <a:endParaRPr lang="en-US" sz="1100" dirty="0"/>
          </a:p>
        </p:txBody>
      </p:sp>
      <p:sp>
        <p:nvSpPr>
          <p:cNvPr id="9" name="Shape 7"/>
          <p:cNvSpPr/>
          <p:nvPr/>
        </p:nvSpPr>
        <p:spPr>
          <a:xfrm>
            <a:off x="2011680" y="1280160"/>
            <a:ext cx="1371600" cy="365760"/>
          </a:xfrm>
          <a:prstGeom prst="rect">
            <a:avLst/>
          </a:prstGeom>
          <a:solidFill>
            <a:srgbClr val="0891B2"/>
          </a:solidFill>
          <a:ln/>
        </p:spPr>
      </p:sp>
      <p:sp>
        <p:nvSpPr>
          <p:cNvPr id="10" name="Text 8"/>
          <p:cNvSpPr/>
          <p:nvPr/>
        </p:nvSpPr>
        <p:spPr>
          <a:xfrm>
            <a:off x="2011680" y="1280160"/>
            <a:ext cx="1371600" cy="365760"/>
          </a:xfrm>
          <a:prstGeom prst="rect">
            <a:avLst/>
          </a:prstGeom>
          <a:noFill/>
          <a:ln/>
        </p:spPr>
        <p:txBody>
          <a:bodyPr wrap="square" lIns="0" tIns="0" rIns="0" bIns="0" rtlCol="0" anchor="ctr"/>
          <a:lstStyle/>
          <a:p>
            <a:pPr algn="ctr" indent="0" marL="0">
              <a:buNone/>
            </a:pPr>
            <a:r>
              <a:rPr lang="en-US" sz="1100" b="1" dirty="0">
                <a:solidFill>
                  <a:srgbClr val="FFFFFF"/>
                </a:solidFill>
                <a:latin typeface="Arial" pitchFamily="34" charset="0"/>
                <a:ea typeface="Arial" pitchFamily="34" charset="-122"/>
                <a:cs typeface="Arial" pitchFamily="34" charset="-120"/>
              </a:rPr>
              <a:t>Effect type</a:t>
            </a:r>
            <a:endParaRPr lang="en-US" sz="1100" dirty="0"/>
          </a:p>
        </p:txBody>
      </p:sp>
      <p:sp>
        <p:nvSpPr>
          <p:cNvPr id="11" name="Shape 9"/>
          <p:cNvSpPr/>
          <p:nvPr/>
        </p:nvSpPr>
        <p:spPr>
          <a:xfrm>
            <a:off x="3383280" y="1280160"/>
            <a:ext cx="2377440" cy="365760"/>
          </a:xfrm>
          <a:prstGeom prst="rect">
            <a:avLst/>
          </a:prstGeom>
          <a:solidFill>
            <a:srgbClr val="0891B2"/>
          </a:solidFill>
          <a:ln/>
        </p:spPr>
      </p:sp>
      <p:sp>
        <p:nvSpPr>
          <p:cNvPr id="12" name="Text 10"/>
          <p:cNvSpPr/>
          <p:nvPr/>
        </p:nvSpPr>
        <p:spPr>
          <a:xfrm>
            <a:off x="3383280" y="1280160"/>
            <a:ext cx="2377440" cy="365760"/>
          </a:xfrm>
          <a:prstGeom prst="rect">
            <a:avLst/>
          </a:prstGeom>
          <a:noFill/>
          <a:ln/>
        </p:spPr>
        <p:txBody>
          <a:bodyPr wrap="square" lIns="0" tIns="0" rIns="0" bIns="0" rtlCol="0" anchor="ctr"/>
          <a:lstStyle/>
          <a:p>
            <a:pPr algn="ctr" indent="0" marL="0">
              <a:buNone/>
            </a:pPr>
            <a:r>
              <a:rPr lang="en-US" sz="1100" b="1" dirty="0">
                <a:solidFill>
                  <a:srgbClr val="FFFFFF"/>
                </a:solidFill>
                <a:latin typeface="Arial" pitchFamily="34" charset="0"/>
                <a:ea typeface="Arial" pitchFamily="34" charset="-122"/>
                <a:cs typeface="Arial" pitchFamily="34" charset="-120"/>
              </a:rPr>
              <a:t>Test</a:t>
            </a:r>
            <a:endParaRPr lang="en-US" sz="1100" dirty="0"/>
          </a:p>
        </p:txBody>
      </p:sp>
      <p:sp>
        <p:nvSpPr>
          <p:cNvPr id="13" name="Shape 11"/>
          <p:cNvSpPr/>
          <p:nvPr/>
        </p:nvSpPr>
        <p:spPr>
          <a:xfrm>
            <a:off x="5760720" y="1280160"/>
            <a:ext cx="2286000" cy="365760"/>
          </a:xfrm>
          <a:prstGeom prst="rect">
            <a:avLst/>
          </a:prstGeom>
          <a:solidFill>
            <a:srgbClr val="0891B2"/>
          </a:solidFill>
          <a:ln/>
        </p:spPr>
      </p:sp>
      <p:sp>
        <p:nvSpPr>
          <p:cNvPr id="14" name="Text 12"/>
          <p:cNvSpPr/>
          <p:nvPr/>
        </p:nvSpPr>
        <p:spPr>
          <a:xfrm>
            <a:off x="5760720" y="1280160"/>
            <a:ext cx="2286000" cy="365760"/>
          </a:xfrm>
          <a:prstGeom prst="rect">
            <a:avLst/>
          </a:prstGeom>
          <a:noFill/>
          <a:ln/>
        </p:spPr>
        <p:txBody>
          <a:bodyPr wrap="square" lIns="0" tIns="0" rIns="0" bIns="0" rtlCol="0" anchor="ctr"/>
          <a:lstStyle/>
          <a:p>
            <a:pPr algn="ctr" indent="0" marL="0">
              <a:buNone/>
            </a:pPr>
            <a:r>
              <a:rPr lang="en-US" sz="1100" b="1" dirty="0">
                <a:solidFill>
                  <a:srgbClr val="FFFFFF"/>
                </a:solidFill>
                <a:latin typeface="Arial" pitchFamily="34" charset="0"/>
                <a:ea typeface="Arial" pitchFamily="34" charset="-122"/>
                <a:cs typeface="Arial" pitchFamily="34" charset="-120"/>
              </a:rPr>
              <a:t>Effect-size measure</a:t>
            </a:r>
            <a:endParaRPr lang="en-US" sz="1100" dirty="0"/>
          </a:p>
        </p:txBody>
      </p:sp>
      <p:sp>
        <p:nvSpPr>
          <p:cNvPr id="15" name="Shape 13"/>
          <p:cNvSpPr/>
          <p:nvPr/>
        </p:nvSpPr>
        <p:spPr>
          <a:xfrm>
            <a:off x="640080" y="1645920"/>
            <a:ext cx="1371600" cy="365760"/>
          </a:xfrm>
          <a:prstGeom prst="rect">
            <a:avLst/>
          </a:prstGeom>
          <a:solidFill>
            <a:srgbClr val="FFFFFF"/>
          </a:solidFill>
          <a:ln w="6350">
            <a:solidFill>
              <a:srgbClr val="D1D5DB"/>
            </a:solidFill>
            <a:prstDash val="solid"/>
          </a:ln>
        </p:spPr>
      </p:sp>
      <p:sp>
        <p:nvSpPr>
          <p:cNvPr id="16" name="Text 14"/>
          <p:cNvSpPr/>
          <p:nvPr/>
        </p:nvSpPr>
        <p:spPr>
          <a:xfrm>
            <a:off x="685800" y="1645920"/>
            <a:ext cx="1280160" cy="365760"/>
          </a:xfrm>
          <a:prstGeom prst="rect">
            <a:avLst/>
          </a:prstGeom>
          <a:noFill/>
          <a:ln/>
        </p:spPr>
        <p:txBody>
          <a:bodyPr wrap="square" lIns="0" tIns="0" rIns="0" bIns="0" rtlCol="0" anchor="ctr"/>
          <a:lstStyle/>
          <a:p>
            <a:pPr indent="0" marL="0">
              <a:buNone/>
            </a:pPr>
            <a:r>
              <a:rPr lang="en-US" sz="1100" dirty="0">
                <a:solidFill>
                  <a:srgbClr val="374151"/>
                </a:solidFill>
                <a:latin typeface="Arial" pitchFamily="34" charset="0"/>
                <a:ea typeface="Arial" pitchFamily="34" charset="-122"/>
                <a:cs typeface="Arial" pitchFamily="34" charset="-120"/>
              </a:rPr>
              <a:t>binary</a:t>
            </a:r>
            <a:endParaRPr lang="en-US" sz="1100" dirty="0"/>
          </a:p>
        </p:txBody>
      </p:sp>
      <p:sp>
        <p:nvSpPr>
          <p:cNvPr id="17" name="Shape 15"/>
          <p:cNvSpPr/>
          <p:nvPr/>
        </p:nvSpPr>
        <p:spPr>
          <a:xfrm>
            <a:off x="2011680" y="1645920"/>
            <a:ext cx="1371600" cy="365760"/>
          </a:xfrm>
          <a:prstGeom prst="rect">
            <a:avLst/>
          </a:prstGeom>
          <a:solidFill>
            <a:srgbClr val="FFFFFF"/>
          </a:solidFill>
          <a:ln w="6350">
            <a:solidFill>
              <a:srgbClr val="D1D5DB"/>
            </a:solidFill>
            <a:prstDash val="solid"/>
          </a:ln>
        </p:spPr>
      </p:sp>
      <p:sp>
        <p:nvSpPr>
          <p:cNvPr id="18" name="Text 16"/>
          <p:cNvSpPr/>
          <p:nvPr/>
        </p:nvSpPr>
        <p:spPr>
          <a:xfrm>
            <a:off x="2057400" y="1645920"/>
            <a:ext cx="1280160" cy="365760"/>
          </a:xfrm>
          <a:prstGeom prst="rect">
            <a:avLst/>
          </a:prstGeom>
          <a:noFill/>
          <a:ln/>
        </p:spPr>
        <p:txBody>
          <a:bodyPr wrap="square" lIns="0" tIns="0" rIns="0" bIns="0" rtlCol="0" anchor="ctr"/>
          <a:lstStyle/>
          <a:p>
            <a:pPr indent="0" marL="0">
              <a:buNone/>
            </a:pPr>
            <a:r>
              <a:rPr lang="en-US" sz="1100" dirty="0">
                <a:solidFill>
                  <a:srgbClr val="374151"/>
                </a:solidFill>
                <a:latin typeface="Arial" pitchFamily="34" charset="0"/>
                <a:ea typeface="Arial" pitchFamily="34" charset="-122"/>
                <a:cs typeface="Arial" pitchFamily="34" charset="-120"/>
              </a:rPr>
              <a:t>continuous</a:t>
            </a:r>
            <a:endParaRPr lang="en-US" sz="1100" dirty="0"/>
          </a:p>
        </p:txBody>
      </p:sp>
      <p:sp>
        <p:nvSpPr>
          <p:cNvPr id="19" name="Shape 17"/>
          <p:cNvSpPr/>
          <p:nvPr/>
        </p:nvSpPr>
        <p:spPr>
          <a:xfrm>
            <a:off x="3383280" y="1645920"/>
            <a:ext cx="2377440" cy="365760"/>
          </a:xfrm>
          <a:prstGeom prst="rect">
            <a:avLst/>
          </a:prstGeom>
          <a:solidFill>
            <a:srgbClr val="FFFFFF"/>
          </a:solidFill>
          <a:ln w="6350">
            <a:solidFill>
              <a:srgbClr val="D1D5DB"/>
            </a:solidFill>
            <a:prstDash val="solid"/>
          </a:ln>
        </p:spPr>
      </p:sp>
      <p:sp>
        <p:nvSpPr>
          <p:cNvPr id="20" name="Text 18"/>
          <p:cNvSpPr/>
          <p:nvPr/>
        </p:nvSpPr>
        <p:spPr>
          <a:xfrm>
            <a:off x="3429000" y="1645920"/>
            <a:ext cx="2286000" cy="365760"/>
          </a:xfrm>
          <a:prstGeom prst="rect">
            <a:avLst/>
          </a:prstGeom>
          <a:noFill/>
          <a:ln/>
        </p:spPr>
        <p:txBody>
          <a:bodyPr wrap="square" lIns="0" tIns="0" rIns="0" bIns="0" rtlCol="0" anchor="ctr"/>
          <a:lstStyle/>
          <a:p>
            <a:pPr indent="0" marL="0">
              <a:buNone/>
            </a:pPr>
            <a:r>
              <a:rPr lang="en-US" sz="1100" dirty="0">
                <a:solidFill>
                  <a:srgbClr val="374151"/>
                </a:solidFill>
                <a:latin typeface="Arial" pitchFamily="34" charset="0"/>
                <a:ea typeface="Arial" pitchFamily="34" charset="-122"/>
                <a:cs typeface="Arial" pitchFamily="34" charset="-120"/>
              </a:rPr>
              <a:t>Welch's t-test</a:t>
            </a:r>
            <a:endParaRPr lang="en-US" sz="1100" dirty="0"/>
          </a:p>
        </p:txBody>
      </p:sp>
      <p:sp>
        <p:nvSpPr>
          <p:cNvPr id="21" name="Shape 19"/>
          <p:cNvSpPr/>
          <p:nvPr/>
        </p:nvSpPr>
        <p:spPr>
          <a:xfrm>
            <a:off x="5760720" y="1645920"/>
            <a:ext cx="2286000" cy="365760"/>
          </a:xfrm>
          <a:prstGeom prst="rect">
            <a:avLst/>
          </a:prstGeom>
          <a:solidFill>
            <a:srgbClr val="FFFFFF"/>
          </a:solidFill>
          <a:ln w="6350">
            <a:solidFill>
              <a:srgbClr val="D1D5DB"/>
            </a:solidFill>
            <a:prstDash val="solid"/>
          </a:ln>
        </p:spPr>
      </p:sp>
      <p:sp>
        <p:nvSpPr>
          <p:cNvPr id="22" name="Text 20"/>
          <p:cNvSpPr/>
          <p:nvPr/>
        </p:nvSpPr>
        <p:spPr>
          <a:xfrm>
            <a:off x="5806440" y="1645920"/>
            <a:ext cx="2194560" cy="365760"/>
          </a:xfrm>
          <a:prstGeom prst="rect">
            <a:avLst/>
          </a:prstGeom>
          <a:noFill/>
          <a:ln/>
        </p:spPr>
        <p:txBody>
          <a:bodyPr wrap="square" lIns="0" tIns="0" rIns="0" bIns="0" rtlCol="0" anchor="ctr"/>
          <a:lstStyle/>
          <a:p>
            <a:pPr indent="0" marL="0">
              <a:buNone/>
            </a:pPr>
            <a:r>
              <a:rPr lang="en-US" sz="1100" dirty="0">
                <a:solidFill>
                  <a:srgbClr val="374151"/>
                </a:solidFill>
                <a:latin typeface="Arial" pitchFamily="34" charset="0"/>
                <a:ea typeface="Arial" pitchFamily="34" charset="-122"/>
                <a:cs typeface="Arial" pitchFamily="34" charset="-120"/>
              </a:rPr>
              <a:t>Cohen's d</a:t>
            </a:r>
            <a:endParaRPr lang="en-US" sz="1100" dirty="0"/>
          </a:p>
        </p:txBody>
      </p:sp>
      <p:sp>
        <p:nvSpPr>
          <p:cNvPr id="23" name="Shape 21"/>
          <p:cNvSpPr/>
          <p:nvPr/>
        </p:nvSpPr>
        <p:spPr>
          <a:xfrm>
            <a:off x="640080" y="2011680"/>
            <a:ext cx="1371600" cy="365760"/>
          </a:xfrm>
          <a:prstGeom prst="rect">
            <a:avLst/>
          </a:prstGeom>
          <a:solidFill>
            <a:srgbClr val="F3F4F6"/>
          </a:solidFill>
          <a:ln w="6350">
            <a:solidFill>
              <a:srgbClr val="D1D5DB"/>
            </a:solidFill>
            <a:prstDash val="solid"/>
          </a:ln>
        </p:spPr>
      </p:sp>
      <p:sp>
        <p:nvSpPr>
          <p:cNvPr id="24" name="Text 22"/>
          <p:cNvSpPr/>
          <p:nvPr/>
        </p:nvSpPr>
        <p:spPr>
          <a:xfrm>
            <a:off x="685800" y="2011680"/>
            <a:ext cx="1280160" cy="365760"/>
          </a:xfrm>
          <a:prstGeom prst="rect">
            <a:avLst/>
          </a:prstGeom>
          <a:noFill/>
          <a:ln/>
        </p:spPr>
        <p:txBody>
          <a:bodyPr wrap="square" lIns="0" tIns="0" rIns="0" bIns="0" rtlCol="0" anchor="ctr"/>
          <a:lstStyle/>
          <a:p>
            <a:pPr indent="0" marL="0">
              <a:buNone/>
            </a:pPr>
            <a:r>
              <a:rPr lang="en-US" sz="1100" dirty="0">
                <a:solidFill>
                  <a:srgbClr val="374151"/>
                </a:solidFill>
                <a:latin typeface="Arial" pitchFamily="34" charset="0"/>
                <a:ea typeface="Arial" pitchFamily="34" charset="-122"/>
                <a:cs typeface="Arial" pitchFamily="34" charset="-120"/>
              </a:rPr>
              <a:t>categorical</a:t>
            </a:r>
            <a:endParaRPr lang="en-US" sz="1100" dirty="0"/>
          </a:p>
        </p:txBody>
      </p:sp>
      <p:sp>
        <p:nvSpPr>
          <p:cNvPr id="25" name="Shape 23"/>
          <p:cNvSpPr/>
          <p:nvPr/>
        </p:nvSpPr>
        <p:spPr>
          <a:xfrm>
            <a:off x="2011680" y="2011680"/>
            <a:ext cx="1371600" cy="365760"/>
          </a:xfrm>
          <a:prstGeom prst="rect">
            <a:avLst/>
          </a:prstGeom>
          <a:solidFill>
            <a:srgbClr val="F3F4F6"/>
          </a:solidFill>
          <a:ln w="6350">
            <a:solidFill>
              <a:srgbClr val="D1D5DB"/>
            </a:solidFill>
            <a:prstDash val="solid"/>
          </a:ln>
        </p:spPr>
      </p:sp>
      <p:sp>
        <p:nvSpPr>
          <p:cNvPr id="26" name="Text 24"/>
          <p:cNvSpPr/>
          <p:nvPr/>
        </p:nvSpPr>
        <p:spPr>
          <a:xfrm>
            <a:off x="2057400" y="2011680"/>
            <a:ext cx="1280160" cy="365760"/>
          </a:xfrm>
          <a:prstGeom prst="rect">
            <a:avLst/>
          </a:prstGeom>
          <a:noFill/>
          <a:ln/>
        </p:spPr>
        <p:txBody>
          <a:bodyPr wrap="square" lIns="0" tIns="0" rIns="0" bIns="0" rtlCol="0" anchor="ctr"/>
          <a:lstStyle/>
          <a:p>
            <a:pPr indent="0" marL="0">
              <a:buNone/>
            </a:pPr>
            <a:r>
              <a:rPr lang="en-US" sz="1100" dirty="0">
                <a:solidFill>
                  <a:srgbClr val="374151"/>
                </a:solidFill>
                <a:latin typeface="Arial" pitchFamily="34" charset="0"/>
                <a:ea typeface="Arial" pitchFamily="34" charset="-122"/>
                <a:cs typeface="Arial" pitchFamily="34" charset="-120"/>
              </a:rPr>
              <a:t>continuous</a:t>
            </a:r>
            <a:endParaRPr lang="en-US" sz="1100" dirty="0"/>
          </a:p>
        </p:txBody>
      </p:sp>
      <p:sp>
        <p:nvSpPr>
          <p:cNvPr id="27" name="Shape 25"/>
          <p:cNvSpPr/>
          <p:nvPr/>
        </p:nvSpPr>
        <p:spPr>
          <a:xfrm>
            <a:off x="3383280" y="2011680"/>
            <a:ext cx="2377440" cy="365760"/>
          </a:xfrm>
          <a:prstGeom prst="rect">
            <a:avLst/>
          </a:prstGeom>
          <a:solidFill>
            <a:srgbClr val="F3F4F6"/>
          </a:solidFill>
          <a:ln w="6350">
            <a:solidFill>
              <a:srgbClr val="D1D5DB"/>
            </a:solidFill>
            <a:prstDash val="solid"/>
          </a:ln>
        </p:spPr>
      </p:sp>
      <p:sp>
        <p:nvSpPr>
          <p:cNvPr id="28" name="Text 26"/>
          <p:cNvSpPr/>
          <p:nvPr/>
        </p:nvSpPr>
        <p:spPr>
          <a:xfrm>
            <a:off x="3429000" y="2011680"/>
            <a:ext cx="2286000" cy="365760"/>
          </a:xfrm>
          <a:prstGeom prst="rect">
            <a:avLst/>
          </a:prstGeom>
          <a:noFill/>
          <a:ln/>
        </p:spPr>
        <p:txBody>
          <a:bodyPr wrap="square" lIns="0" tIns="0" rIns="0" bIns="0" rtlCol="0" anchor="ctr"/>
          <a:lstStyle/>
          <a:p>
            <a:pPr indent="0" marL="0">
              <a:buNone/>
            </a:pPr>
            <a:r>
              <a:rPr lang="en-US" sz="1100" dirty="0">
                <a:solidFill>
                  <a:srgbClr val="374151"/>
                </a:solidFill>
                <a:latin typeface="Arial" pitchFamily="34" charset="0"/>
                <a:ea typeface="Arial" pitchFamily="34" charset="-122"/>
                <a:cs typeface="Arial" pitchFamily="34" charset="-120"/>
              </a:rPr>
              <a:t>One-way ANOVA</a:t>
            </a:r>
            <a:endParaRPr lang="en-US" sz="1100" dirty="0"/>
          </a:p>
        </p:txBody>
      </p:sp>
      <p:sp>
        <p:nvSpPr>
          <p:cNvPr id="29" name="Shape 27"/>
          <p:cNvSpPr/>
          <p:nvPr/>
        </p:nvSpPr>
        <p:spPr>
          <a:xfrm>
            <a:off x="5760720" y="2011680"/>
            <a:ext cx="2286000" cy="365760"/>
          </a:xfrm>
          <a:prstGeom prst="rect">
            <a:avLst/>
          </a:prstGeom>
          <a:solidFill>
            <a:srgbClr val="F3F4F6"/>
          </a:solidFill>
          <a:ln w="6350">
            <a:solidFill>
              <a:srgbClr val="D1D5DB"/>
            </a:solidFill>
            <a:prstDash val="solid"/>
          </a:ln>
        </p:spPr>
      </p:sp>
      <p:sp>
        <p:nvSpPr>
          <p:cNvPr id="30" name="Text 28"/>
          <p:cNvSpPr/>
          <p:nvPr/>
        </p:nvSpPr>
        <p:spPr>
          <a:xfrm>
            <a:off x="5806440" y="2011680"/>
            <a:ext cx="2194560" cy="365760"/>
          </a:xfrm>
          <a:prstGeom prst="rect">
            <a:avLst/>
          </a:prstGeom>
          <a:noFill/>
          <a:ln/>
        </p:spPr>
        <p:txBody>
          <a:bodyPr wrap="square" lIns="0" tIns="0" rIns="0" bIns="0" rtlCol="0" anchor="ctr"/>
          <a:lstStyle/>
          <a:p>
            <a:pPr indent="0" marL="0">
              <a:buNone/>
            </a:pPr>
            <a:r>
              <a:rPr lang="en-US" sz="1100" dirty="0">
                <a:solidFill>
                  <a:srgbClr val="374151"/>
                </a:solidFill>
                <a:latin typeface="Arial" pitchFamily="34" charset="0"/>
                <a:ea typeface="Arial" pitchFamily="34" charset="-122"/>
                <a:cs typeface="Arial" pitchFamily="34" charset="-120"/>
              </a:rPr>
              <a:t>η² (eta-squared)</a:t>
            </a:r>
            <a:endParaRPr lang="en-US" sz="1100" dirty="0"/>
          </a:p>
        </p:txBody>
      </p:sp>
      <p:sp>
        <p:nvSpPr>
          <p:cNvPr id="31" name="Shape 29"/>
          <p:cNvSpPr/>
          <p:nvPr/>
        </p:nvSpPr>
        <p:spPr>
          <a:xfrm>
            <a:off x="640080" y="2377440"/>
            <a:ext cx="1371600" cy="365760"/>
          </a:xfrm>
          <a:prstGeom prst="rect">
            <a:avLst/>
          </a:prstGeom>
          <a:solidFill>
            <a:srgbClr val="FFFFFF"/>
          </a:solidFill>
          <a:ln w="6350">
            <a:solidFill>
              <a:srgbClr val="D1D5DB"/>
            </a:solidFill>
            <a:prstDash val="solid"/>
          </a:ln>
        </p:spPr>
      </p:sp>
      <p:sp>
        <p:nvSpPr>
          <p:cNvPr id="32" name="Text 30"/>
          <p:cNvSpPr/>
          <p:nvPr/>
        </p:nvSpPr>
        <p:spPr>
          <a:xfrm>
            <a:off x="685800" y="2377440"/>
            <a:ext cx="1280160" cy="365760"/>
          </a:xfrm>
          <a:prstGeom prst="rect">
            <a:avLst/>
          </a:prstGeom>
          <a:noFill/>
          <a:ln/>
        </p:spPr>
        <p:txBody>
          <a:bodyPr wrap="square" lIns="0" tIns="0" rIns="0" bIns="0" rtlCol="0" anchor="ctr"/>
          <a:lstStyle/>
          <a:p>
            <a:pPr indent="0" marL="0">
              <a:buNone/>
            </a:pPr>
            <a:r>
              <a:rPr lang="en-US" sz="1100" dirty="0">
                <a:solidFill>
                  <a:srgbClr val="374151"/>
                </a:solidFill>
                <a:latin typeface="Arial" pitchFamily="34" charset="0"/>
                <a:ea typeface="Arial" pitchFamily="34" charset="-122"/>
                <a:cs typeface="Arial" pitchFamily="34" charset="-120"/>
              </a:rPr>
              <a:t>continuous</a:t>
            </a:r>
            <a:endParaRPr lang="en-US" sz="1100" dirty="0"/>
          </a:p>
        </p:txBody>
      </p:sp>
      <p:sp>
        <p:nvSpPr>
          <p:cNvPr id="33" name="Shape 31"/>
          <p:cNvSpPr/>
          <p:nvPr/>
        </p:nvSpPr>
        <p:spPr>
          <a:xfrm>
            <a:off x="2011680" y="2377440"/>
            <a:ext cx="1371600" cy="365760"/>
          </a:xfrm>
          <a:prstGeom prst="rect">
            <a:avLst/>
          </a:prstGeom>
          <a:solidFill>
            <a:srgbClr val="FFFFFF"/>
          </a:solidFill>
          <a:ln w="6350">
            <a:solidFill>
              <a:srgbClr val="D1D5DB"/>
            </a:solidFill>
            <a:prstDash val="solid"/>
          </a:ln>
        </p:spPr>
      </p:sp>
      <p:sp>
        <p:nvSpPr>
          <p:cNvPr id="34" name="Text 32"/>
          <p:cNvSpPr/>
          <p:nvPr/>
        </p:nvSpPr>
        <p:spPr>
          <a:xfrm>
            <a:off x="2057400" y="2377440"/>
            <a:ext cx="1280160" cy="365760"/>
          </a:xfrm>
          <a:prstGeom prst="rect">
            <a:avLst/>
          </a:prstGeom>
          <a:noFill/>
          <a:ln/>
        </p:spPr>
        <p:txBody>
          <a:bodyPr wrap="square" lIns="0" tIns="0" rIns="0" bIns="0" rtlCol="0" anchor="ctr"/>
          <a:lstStyle/>
          <a:p>
            <a:pPr indent="0" marL="0">
              <a:buNone/>
            </a:pPr>
            <a:r>
              <a:rPr lang="en-US" sz="1100" dirty="0">
                <a:solidFill>
                  <a:srgbClr val="374151"/>
                </a:solidFill>
                <a:latin typeface="Arial" pitchFamily="34" charset="0"/>
                <a:ea typeface="Arial" pitchFamily="34" charset="-122"/>
                <a:cs typeface="Arial" pitchFamily="34" charset="-120"/>
              </a:rPr>
              <a:t>continuous</a:t>
            </a:r>
            <a:endParaRPr lang="en-US" sz="1100" dirty="0"/>
          </a:p>
        </p:txBody>
      </p:sp>
      <p:sp>
        <p:nvSpPr>
          <p:cNvPr id="35" name="Shape 33"/>
          <p:cNvSpPr/>
          <p:nvPr/>
        </p:nvSpPr>
        <p:spPr>
          <a:xfrm>
            <a:off x="3383280" y="2377440"/>
            <a:ext cx="2377440" cy="365760"/>
          </a:xfrm>
          <a:prstGeom prst="rect">
            <a:avLst/>
          </a:prstGeom>
          <a:solidFill>
            <a:srgbClr val="FFFFFF"/>
          </a:solidFill>
          <a:ln w="6350">
            <a:solidFill>
              <a:srgbClr val="D1D5DB"/>
            </a:solidFill>
            <a:prstDash val="solid"/>
          </a:ln>
        </p:spPr>
      </p:sp>
      <p:sp>
        <p:nvSpPr>
          <p:cNvPr id="36" name="Text 34"/>
          <p:cNvSpPr/>
          <p:nvPr/>
        </p:nvSpPr>
        <p:spPr>
          <a:xfrm>
            <a:off x="3429000" y="2377440"/>
            <a:ext cx="2286000" cy="365760"/>
          </a:xfrm>
          <a:prstGeom prst="rect">
            <a:avLst/>
          </a:prstGeom>
          <a:noFill/>
          <a:ln/>
        </p:spPr>
        <p:txBody>
          <a:bodyPr wrap="square" lIns="0" tIns="0" rIns="0" bIns="0" rtlCol="0" anchor="ctr"/>
          <a:lstStyle/>
          <a:p>
            <a:pPr indent="0" marL="0">
              <a:buNone/>
            </a:pPr>
            <a:r>
              <a:rPr lang="en-US" sz="1100" dirty="0">
                <a:solidFill>
                  <a:srgbClr val="374151"/>
                </a:solidFill>
                <a:latin typeface="Arial" pitchFamily="34" charset="0"/>
                <a:ea typeface="Arial" pitchFamily="34" charset="-122"/>
                <a:cs typeface="Arial" pitchFamily="34" charset="-120"/>
              </a:rPr>
              <a:t>Pearson correlation</a:t>
            </a:r>
            <a:endParaRPr lang="en-US" sz="1100" dirty="0"/>
          </a:p>
        </p:txBody>
      </p:sp>
      <p:sp>
        <p:nvSpPr>
          <p:cNvPr id="37" name="Shape 35"/>
          <p:cNvSpPr/>
          <p:nvPr/>
        </p:nvSpPr>
        <p:spPr>
          <a:xfrm>
            <a:off x="5760720" y="2377440"/>
            <a:ext cx="2286000" cy="365760"/>
          </a:xfrm>
          <a:prstGeom prst="rect">
            <a:avLst/>
          </a:prstGeom>
          <a:solidFill>
            <a:srgbClr val="FFFFFF"/>
          </a:solidFill>
          <a:ln w="6350">
            <a:solidFill>
              <a:srgbClr val="D1D5DB"/>
            </a:solidFill>
            <a:prstDash val="solid"/>
          </a:ln>
        </p:spPr>
      </p:sp>
      <p:sp>
        <p:nvSpPr>
          <p:cNvPr id="38" name="Text 36"/>
          <p:cNvSpPr/>
          <p:nvPr/>
        </p:nvSpPr>
        <p:spPr>
          <a:xfrm>
            <a:off x="5806440" y="2377440"/>
            <a:ext cx="2194560" cy="365760"/>
          </a:xfrm>
          <a:prstGeom prst="rect">
            <a:avLst/>
          </a:prstGeom>
          <a:noFill/>
          <a:ln/>
        </p:spPr>
        <p:txBody>
          <a:bodyPr wrap="square" lIns="0" tIns="0" rIns="0" bIns="0" rtlCol="0" anchor="ctr"/>
          <a:lstStyle/>
          <a:p>
            <a:pPr indent="0" marL="0">
              <a:buNone/>
            </a:pPr>
            <a:r>
              <a:rPr lang="en-US" sz="1100" dirty="0">
                <a:solidFill>
                  <a:srgbClr val="374151"/>
                </a:solidFill>
                <a:latin typeface="Arial" pitchFamily="34" charset="0"/>
                <a:ea typeface="Arial" pitchFamily="34" charset="-122"/>
                <a:cs typeface="Arial" pitchFamily="34" charset="-120"/>
              </a:rPr>
              <a:t>r</a:t>
            </a:r>
            <a:endParaRPr lang="en-US" sz="1100" dirty="0"/>
          </a:p>
        </p:txBody>
      </p:sp>
      <p:sp>
        <p:nvSpPr>
          <p:cNvPr id="39" name="Shape 37"/>
          <p:cNvSpPr/>
          <p:nvPr/>
        </p:nvSpPr>
        <p:spPr>
          <a:xfrm>
            <a:off x="640080" y="2743200"/>
            <a:ext cx="1371600" cy="365760"/>
          </a:xfrm>
          <a:prstGeom prst="rect">
            <a:avLst/>
          </a:prstGeom>
          <a:solidFill>
            <a:srgbClr val="F3F4F6"/>
          </a:solidFill>
          <a:ln w="6350">
            <a:solidFill>
              <a:srgbClr val="D1D5DB"/>
            </a:solidFill>
            <a:prstDash val="solid"/>
          </a:ln>
        </p:spPr>
      </p:sp>
      <p:sp>
        <p:nvSpPr>
          <p:cNvPr id="40" name="Text 38"/>
          <p:cNvSpPr/>
          <p:nvPr/>
        </p:nvSpPr>
        <p:spPr>
          <a:xfrm>
            <a:off x="685800" y="2743200"/>
            <a:ext cx="1280160" cy="365760"/>
          </a:xfrm>
          <a:prstGeom prst="rect">
            <a:avLst/>
          </a:prstGeom>
          <a:noFill/>
          <a:ln/>
        </p:spPr>
        <p:txBody>
          <a:bodyPr wrap="square" lIns="0" tIns="0" rIns="0" bIns="0" rtlCol="0" anchor="ctr"/>
          <a:lstStyle/>
          <a:p>
            <a:pPr indent="0" marL="0">
              <a:buNone/>
            </a:pPr>
            <a:r>
              <a:rPr lang="en-US" sz="1100" dirty="0">
                <a:solidFill>
                  <a:srgbClr val="374151"/>
                </a:solidFill>
                <a:latin typeface="Arial" pitchFamily="34" charset="0"/>
                <a:ea typeface="Arial" pitchFamily="34" charset="-122"/>
                <a:cs typeface="Arial" pitchFamily="34" charset="-120"/>
              </a:rPr>
              <a:t>categorical</a:t>
            </a:r>
            <a:endParaRPr lang="en-US" sz="1100" dirty="0"/>
          </a:p>
        </p:txBody>
      </p:sp>
      <p:sp>
        <p:nvSpPr>
          <p:cNvPr id="41" name="Shape 39"/>
          <p:cNvSpPr/>
          <p:nvPr/>
        </p:nvSpPr>
        <p:spPr>
          <a:xfrm>
            <a:off x="2011680" y="2743200"/>
            <a:ext cx="1371600" cy="365760"/>
          </a:xfrm>
          <a:prstGeom prst="rect">
            <a:avLst/>
          </a:prstGeom>
          <a:solidFill>
            <a:srgbClr val="F3F4F6"/>
          </a:solidFill>
          <a:ln w="6350">
            <a:solidFill>
              <a:srgbClr val="D1D5DB"/>
            </a:solidFill>
            <a:prstDash val="solid"/>
          </a:ln>
        </p:spPr>
      </p:sp>
      <p:sp>
        <p:nvSpPr>
          <p:cNvPr id="42" name="Text 40"/>
          <p:cNvSpPr/>
          <p:nvPr/>
        </p:nvSpPr>
        <p:spPr>
          <a:xfrm>
            <a:off x="2057400" y="2743200"/>
            <a:ext cx="1280160" cy="365760"/>
          </a:xfrm>
          <a:prstGeom prst="rect">
            <a:avLst/>
          </a:prstGeom>
          <a:noFill/>
          <a:ln/>
        </p:spPr>
        <p:txBody>
          <a:bodyPr wrap="square" lIns="0" tIns="0" rIns="0" bIns="0" rtlCol="0" anchor="ctr"/>
          <a:lstStyle/>
          <a:p>
            <a:pPr indent="0" marL="0">
              <a:buNone/>
            </a:pPr>
            <a:r>
              <a:rPr lang="en-US" sz="1100" dirty="0">
                <a:solidFill>
                  <a:srgbClr val="374151"/>
                </a:solidFill>
                <a:latin typeface="Arial" pitchFamily="34" charset="0"/>
                <a:ea typeface="Arial" pitchFamily="34" charset="-122"/>
                <a:cs typeface="Arial" pitchFamily="34" charset="-120"/>
              </a:rPr>
              <a:t>categorical</a:t>
            </a:r>
            <a:endParaRPr lang="en-US" sz="1100" dirty="0"/>
          </a:p>
        </p:txBody>
      </p:sp>
      <p:sp>
        <p:nvSpPr>
          <p:cNvPr id="43" name="Shape 41"/>
          <p:cNvSpPr/>
          <p:nvPr/>
        </p:nvSpPr>
        <p:spPr>
          <a:xfrm>
            <a:off x="3383280" y="2743200"/>
            <a:ext cx="2377440" cy="365760"/>
          </a:xfrm>
          <a:prstGeom prst="rect">
            <a:avLst/>
          </a:prstGeom>
          <a:solidFill>
            <a:srgbClr val="F3F4F6"/>
          </a:solidFill>
          <a:ln w="6350">
            <a:solidFill>
              <a:srgbClr val="D1D5DB"/>
            </a:solidFill>
            <a:prstDash val="solid"/>
          </a:ln>
        </p:spPr>
      </p:sp>
      <p:sp>
        <p:nvSpPr>
          <p:cNvPr id="44" name="Text 42"/>
          <p:cNvSpPr/>
          <p:nvPr/>
        </p:nvSpPr>
        <p:spPr>
          <a:xfrm>
            <a:off x="3429000" y="2743200"/>
            <a:ext cx="2286000" cy="365760"/>
          </a:xfrm>
          <a:prstGeom prst="rect">
            <a:avLst/>
          </a:prstGeom>
          <a:noFill/>
          <a:ln/>
        </p:spPr>
        <p:txBody>
          <a:bodyPr wrap="square" lIns="0" tIns="0" rIns="0" bIns="0" rtlCol="0" anchor="ctr"/>
          <a:lstStyle/>
          <a:p>
            <a:pPr indent="0" marL="0">
              <a:buNone/>
            </a:pPr>
            <a:r>
              <a:rPr lang="en-US" sz="1100" dirty="0">
                <a:solidFill>
                  <a:srgbClr val="374151"/>
                </a:solidFill>
                <a:latin typeface="Arial" pitchFamily="34" charset="0"/>
                <a:ea typeface="Arial" pitchFamily="34" charset="-122"/>
                <a:cs typeface="Arial" pitchFamily="34" charset="-120"/>
              </a:rPr>
              <a:t>Chi-square</a:t>
            </a:r>
            <a:endParaRPr lang="en-US" sz="1100" dirty="0"/>
          </a:p>
        </p:txBody>
      </p:sp>
      <p:sp>
        <p:nvSpPr>
          <p:cNvPr id="45" name="Shape 43"/>
          <p:cNvSpPr/>
          <p:nvPr/>
        </p:nvSpPr>
        <p:spPr>
          <a:xfrm>
            <a:off x="5760720" y="2743200"/>
            <a:ext cx="2286000" cy="365760"/>
          </a:xfrm>
          <a:prstGeom prst="rect">
            <a:avLst/>
          </a:prstGeom>
          <a:solidFill>
            <a:srgbClr val="F3F4F6"/>
          </a:solidFill>
          <a:ln w="6350">
            <a:solidFill>
              <a:srgbClr val="D1D5DB"/>
            </a:solidFill>
            <a:prstDash val="solid"/>
          </a:ln>
        </p:spPr>
      </p:sp>
      <p:sp>
        <p:nvSpPr>
          <p:cNvPr id="46" name="Text 44"/>
          <p:cNvSpPr/>
          <p:nvPr/>
        </p:nvSpPr>
        <p:spPr>
          <a:xfrm>
            <a:off x="5806440" y="2743200"/>
            <a:ext cx="2194560" cy="365760"/>
          </a:xfrm>
          <a:prstGeom prst="rect">
            <a:avLst/>
          </a:prstGeom>
          <a:noFill/>
          <a:ln/>
        </p:spPr>
        <p:txBody>
          <a:bodyPr wrap="square" lIns="0" tIns="0" rIns="0" bIns="0" rtlCol="0" anchor="ctr"/>
          <a:lstStyle/>
          <a:p>
            <a:pPr indent="0" marL="0">
              <a:buNone/>
            </a:pPr>
            <a:r>
              <a:rPr lang="en-US" sz="1100" dirty="0">
                <a:solidFill>
                  <a:srgbClr val="374151"/>
                </a:solidFill>
                <a:latin typeface="Arial" pitchFamily="34" charset="0"/>
                <a:ea typeface="Arial" pitchFamily="34" charset="-122"/>
                <a:cs typeface="Arial" pitchFamily="34" charset="-120"/>
              </a:rPr>
              <a:t>Cramer's V</a:t>
            </a:r>
            <a:endParaRPr lang="en-US" sz="1100" dirty="0"/>
          </a:p>
        </p:txBody>
      </p:sp>
      <p:sp>
        <p:nvSpPr>
          <p:cNvPr id="47" name="Text 45"/>
          <p:cNvSpPr/>
          <p:nvPr/>
        </p:nvSpPr>
        <p:spPr>
          <a:xfrm>
            <a:off x="640080" y="3383280"/>
            <a:ext cx="7863840" cy="274320"/>
          </a:xfrm>
          <a:prstGeom prst="rect">
            <a:avLst/>
          </a:prstGeom>
          <a:noFill/>
          <a:ln/>
        </p:spPr>
        <p:txBody>
          <a:bodyPr wrap="square" lIns="0" tIns="0" rIns="0" bIns="0" rtlCol="0" anchor="ctr"/>
          <a:lstStyle/>
          <a:p>
            <a:pPr indent="0" marL="0">
              <a:buNone/>
            </a:pPr>
            <a:r>
              <a:rPr lang="en-US" sz="1300" b="1" dirty="0">
                <a:solidFill>
                  <a:srgbClr val="1F2937"/>
                </a:solidFill>
                <a:latin typeface="Arial" pitchFamily="34" charset="0"/>
                <a:ea typeface="Arial" pitchFamily="34" charset="-122"/>
                <a:cs typeface="Arial" pitchFamily="34" charset="-120"/>
              </a:rPr>
              <a:t>After the sweep:</a:t>
            </a:r>
            <a:endParaRPr lang="en-US" sz="1300" dirty="0"/>
          </a:p>
        </p:txBody>
      </p:sp>
      <p:sp>
        <p:nvSpPr>
          <p:cNvPr id="48" name="Text 46"/>
          <p:cNvSpPr/>
          <p:nvPr/>
        </p:nvSpPr>
        <p:spPr>
          <a:xfrm>
            <a:off x="640080" y="3703320"/>
            <a:ext cx="7863840" cy="914400"/>
          </a:xfrm>
          <a:prstGeom prst="rect">
            <a:avLst/>
          </a:prstGeom>
          <a:noFill/>
          <a:ln/>
        </p:spPr>
        <p:txBody>
          <a:bodyPr wrap="square" lIns="0" tIns="0" rIns="0" bIns="0" rtlCol="0" anchor="t"/>
          <a:lstStyle/>
          <a:p>
            <a:pPr indent="0" marL="0">
              <a:buNone/>
            </a:pPr>
            <a:r>
              <a:rPr lang="en-US" sz="1200" b="1" dirty="0">
                <a:solidFill>
                  <a:srgbClr val="0891B2"/>
                </a:solidFill>
                <a:latin typeface="Arial" pitchFamily="34" charset="0"/>
                <a:ea typeface="Arial" pitchFamily="34" charset="-122"/>
                <a:cs typeface="Arial" pitchFamily="34" charset="-120"/>
              </a:rPr>
              <a:t>1.  </a:t>
            </a:r>
            <a:pPr indent="0" marL="0">
              <a:buNone/>
            </a:pPr>
            <a:r>
              <a:rPr lang="en-US" sz="1200" dirty="0">
                <a:solidFill>
                  <a:srgbClr val="374151"/>
                </a:solidFill>
                <a:latin typeface="Arial" pitchFamily="34" charset="0"/>
                <a:ea typeface="Arial" pitchFamily="34" charset="-122"/>
                <a:cs typeface="Arial" pitchFamily="34" charset="-120"/>
              </a:rPr>
              <a:t>Apply Benjamini-Hochberg FDR correction across all p-values
</a:t>
            </a:r>
            <a:pPr indent="0" marL="0">
              <a:buNone/>
            </a:pPr>
            <a:r>
              <a:rPr lang="en-US" sz="1200" b="1" dirty="0">
                <a:solidFill>
                  <a:srgbClr val="0891B2"/>
                </a:solidFill>
                <a:latin typeface="Arial" pitchFamily="34" charset="0"/>
                <a:ea typeface="Arial" pitchFamily="34" charset="-122"/>
                <a:cs typeface="Arial" pitchFamily="34" charset="-120"/>
              </a:rPr>
              <a:t>2.  </a:t>
            </a:r>
            <a:pPr indent="0" marL="0">
              <a:buNone/>
            </a:pPr>
            <a:r>
              <a:rPr lang="en-US" sz="1200" dirty="0">
                <a:solidFill>
                  <a:srgbClr val="374151"/>
                </a:solidFill>
                <a:latin typeface="Arial" pitchFamily="34" charset="0"/>
                <a:ea typeface="Arial" pitchFamily="34" charset="-122"/>
                <a:cs typeface="Arial" pitchFamily="34" charset="-120"/>
              </a:rPr>
              <a:t>Filter to q &lt; 0.05 — those are your real findings
</a:t>
            </a:r>
            <a:pPr indent="0" marL="0">
              <a:buNone/>
            </a:pPr>
            <a:r>
              <a:rPr lang="en-US" sz="1200" b="1" dirty="0">
                <a:solidFill>
                  <a:srgbClr val="0891B2"/>
                </a:solidFill>
                <a:latin typeface="Arial" pitchFamily="34" charset="0"/>
                <a:ea typeface="Arial" pitchFamily="34" charset="-122"/>
                <a:cs typeface="Arial" pitchFamily="34" charset="-120"/>
              </a:rPr>
              <a:t>3.  </a:t>
            </a:r>
            <a:pPr indent="0" marL="0">
              <a:buNone/>
            </a:pPr>
            <a:r>
              <a:rPr lang="en-US" sz="1200" dirty="0">
                <a:solidFill>
                  <a:srgbClr val="374151"/>
                </a:solidFill>
                <a:latin typeface="Arial" pitchFamily="34" charset="0"/>
                <a:ea typeface="Arial" pitchFamily="34" charset="-122"/>
                <a:cs typeface="Arial" pitchFamily="34" charset="-120"/>
              </a:rPr>
              <a:t>Confirm key effects with a regression that includes interactions
</a:t>
            </a:r>
            <a:endParaRPr lang="en-US" sz="12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9144000" cy="45720"/>
          </a:xfrm>
          <a:prstGeom prst="rect">
            <a:avLst/>
          </a:prstGeom>
          <a:solidFill>
            <a:srgbClr val="0891B2"/>
          </a:solidFill>
          <a:ln/>
        </p:spPr>
      </p:sp>
      <p:sp>
        <p:nvSpPr>
          <p:cNvPr id="3" name="Text 1"/>
          <p:cNvSpPr/>
          <p:nvPr/>
        </p:nvSpPr>
        <p:spPr>
          <a:xfrm>
            <a:off x="640080" y="4828032"/>
            <a:ext cx="5486400" cy="228600"/>
          </a:xfrm>
          <a:prstGeom prst="rect">
            <a:avLst/>
          </a:prstGeom>
          <a:noFill/>
          <a:ln/>
        </p:spPr>
        <p:txBody>
          <a:bodyPr wrap="square" lIns="0" tIns="0" rIns="0" bIns="0" rtlCol="0" anchor="ctr"/>
          <a:lstStyle/>
          <a:p>
            <a:pPr indent="0" marL="0">
              <a:buNone/>
            </a:pPr>
            <a:r>
              <a:rPr lang="en-US" sz="900" dirty="0">
                <a:solidFill>
                  <a:srgbClr val="9CA3AF"/>
                </a:solidFill>
                <a:latin typeface="Arial" pitchFamily="34" charset="0"/>
                <a:ea typeface="Arial" pitchFamily="34" charset="-122"/>
                <a:cs typeface="Arial" pitchFamily="34" charset="-120"/>
              </a:rPr>
              <a:t>NIDA  |  MADT6004  |  Module 1 — the reveal</a:t>
            </a:r>
            <a:endParaRPr lang="en-US" sz="900" dirty="0"/>
          </a:p>
        </p:txBody>
      </p:sp>
      <p:sp>
        <p:nvSpPr>
          <p:cNvPr id="4" name="Text 2"/>
          <p:cNvSpPr/>
          <p:nvPr/>
        </p:nvSpPr>
        <p:spPr>
          <a:xfrm>
            <a:off x="7772400" y="4800600"/>
            <a:ext cx="914400" cy="274320"/>
          </a:xfrm>
          <a:prstGeom prst="rect">
            <a:avLst/>
          </a:prstGeom>
          <a:noFill/>
          <a:ln/>
        </p:spPr>
        <p:txBody>
          <a:bodyPr wrap="square" lIns="0" tIns="0" rIns="0" bIns="0" rtlCol="0" anchor="ctr"/>
          <a:lstStyle/>
          <a:p>
            <a:pPr algn="r" indent="0" marL="0">
              <a:buNone/>
            </a:pPr>
            <a:r>
              <a:rPr lang="en-US" sz="1200" b="1" dirty="0">
                <a:solidFill>
                  <a:srgbClr val="0891B2"/>
                </a:solidFill>
                <a:latin typeface="Arial" pitchFamily="34" charset="0"/>
                <a:ea typeface="Arial" pitchFamily="34" charset="-122"/>
                <a:cs typeface="Arial" pitchFamily="34" charset="-120"/>
              </a:rPr>
              <a:t>MADT</a:t>
            </a:r>
            <a:endParaRPr lang="en-US" sz="1200" dirty="0"/>
          </a:p>
        </p:txBody>
      </p:sp>
      <p:sp>
        <p:nvSpPr>
          <p:cNvPr id="5" name="Text 3"/>
          <p:cNvSpPr/>
          <p:nvPr/>
        </p:nvSpPr>
        <p:spPr>
          <a:xfrm>
            <a:off x="640080" y="274320"/>
            <a:ext cx="7863840" cy="502920"/>
          </a:xfrm>
          <a:prstGeom prst="rect">
            <a:avLst/>
          </a:prstGeom>
          <a:noFill/>
          <a:ln/>
        </p:spPr>
        <p:txBody>
          <a:bodyPr wrap="square" lIns="0" tIns="0" rIns="0" bIns="0" rtlCol="0" anchor="ctr"/>
          <a:lstStyle/>
          <a:p>
            <a:pPr indent="0" marL="0">
              <a:buNone/>
            </a:pPr>
            <a:r>
              <a:rPr lang="en-US" sz="2800" b="1" dirty="0">
                <a:solidFill>
                  <a:srgbClr val="1F2937"/>
                </a:solidFill>
                <a:latin typeface="Arial" pitchFamily="34" charset="0"/>
                <a:ea typeface="Arial" pitchFamily="34" charset="-122"/>
                <a:cs typeface="Arial" pitchFamily="34" charset="-120"/>
              </a:rPr>
              <a:t>The interaction reveal</a:t>
            </a:r>
            <a:endParaRPr lang="en-US" sz="2800" dirty="0"/>
          </a:p>
        </p:txBody>
      </p:sp>
      <p:sp>
        <p:nvSpPr>
          <p:cNvPr id="6" name="Text 4"/>
          <p:cNvSpPr/>
          <p:nvPr/>
        </p:nvSpPr>
        <p:spPr>
          <a:xfrm>
            <a:off x="640080" y="777240"/>
            <a:ext cx="7863840" cy="274320"/>
          </a:xfrm>
          <a:prstGeom prst="rect">
            <a:avLst/>
          </a:prstGeom>
          <a:noFill/>
          <a:ln/>
        </p:spPr>
        <p:txBody>
          <a:bodyPr wrap="square" lIns="0" tIns="0" rIns="0" bIns="0" rtlCol="0" anchor="ctr"/>
          <a:lstStyle/>
          <a:p>
            <a:pPr indent="0" marL="0">
              <a:buNone/>
            </a:pPr>
            <a:r>
              <a:rPr lang="en-US" sz="1300" i="1" dirty="0">
                <a:solidFill>
                  <a:srgbClr val="6B7280"/>
                </a:solidFill>
                <a:latin typeface="Arial" pitchFamily="34" charset="0"/>
                <a:ea typeface="Arial" pitchFamily="34" charset="-122"/>
                <a:cs typeface="Arial" pitchFamily="34" charset="-120"/>
              </a:rPr>
              <a:t>Naive and conditional answers can disagree. The regression is the tiebreaker.</a:t>
            </a:r>
            <a:endParaRPr lang="en-US" sz="1300" dirty="0"/>
          </a:p>
        </p:txBody>
      </p:sp>
      <p:sp>
        <p:nvSpPr>
          <p:cNvPr id="7" name="Shape 5"/>
          <p:cNvSpPr/>
          <p:nvPr/>
        </p:nvSpPr>
        <p:spPr>
          <a:xfrm>
            <a:off x="640080" y="1188720"/>
            <a:ext cx="3749040" cy="1463040"/>
          </a:xfrm>
          <a:prstGeom prst="rect">
            <a:avLst/>
          </a:prstGeom>
          <a:solidFill>
            <a:srgbClr val="FEF3C7"/>
          </a:solidFill>
          <a:ln w="12700">
            <a:solidFill>
              <a:srgbClr val="D97706"/>
            </a:solidFill>
            <a:prstDash val="solid"/>
          </a:ln>
        </p:spPr>
      </p:sp>
      <p:sp>
        <p:nvSpPr>
          <p:cNvPr id="8" name="Text 6"/>
          <p:cNvSpPr/>
          <p:nvPr/>
        </p:nvSpPr>
        <p:spPr>
          <a:xfrm>
            <a:off x="777240" y="1280160"/>
            <a:ext cx="3474720" cy="274320"/>
          </a:xfrm>
          <a:prstGeom prst="rect">
            <a:avLst/>
          </a:prstGeom>
          <a:noFill/>
          <a:ln/>
        </p:spPr>
        <p:txBody>
          <a:bodyPr wrap="square" lIns="0" tIns="0" rIns="0" bIns="0" rtlCol="0" anchor="ctr"/>
          <a:lstStyle/>
          <a:p>
            <a:pPr indent="0" marL="0">
              <a:buNone/>
            </a:pPr>
            <a:r>
              <a:rPr lang="en-US" sz="1300" b="1" dirty="0">
                <a:solidFill>
                  <a:srgbClr val="D97706"/>
                </a:solidFill>
                <a:latin typeface="Arial" pitchFamily="34" charset="0"/>
                <a:ea typeface="Arial" pitchFamily="34" charset="-122"/>
                <a:cs typeface="Arial" pitchFamily="34" charset="-120"/>
              </a:rPr>
              <a:t>Naive t-test</a:t>
            </a:r>
            <a:endParaRPr lang="en-US" sz="1300" dirty="0"/>
          </a:p>
        </p:txBody>
      </p:sp>
      <p:sp>
        <p:nvSpPr>
          <p:cNvPr id="9" name="Text 7"/>
          <p:cNvSpPr/>
          <p:nvPr/>
        </p:nvSpPr>
        <p:spPr>
          <a:xfrm>
            <a:off x="777240" y="1600200"/>
            <a:ext cx="3474720" cy="548640"/>
          </a:xfrm>
          <a:prstGeom prst="rect">
            <a:avLst/>
          </a:prstGeom>
          <a:noFill/>
          <a:ln/>
        </p:spPr>
        <p:txBody>
          <a:bodyPr wrap="square" lIns="0" tIns="0" rIns="0" bIns="0" rtlCol="0" anchor="ctr"/>
          <a:lstStyle/>
          <a:p>
            <a:pPr indent="0" marL="0">
              <a:buNone/>
            </a:pPr>
            <a:r>
              <a:rPr lang="en-US" sz="1100" dirty="0">
                <a:solidFill>
                  <a:srgbClr val="374151"/>
                </a:solidFill>
                <a:latin typeface="Arial" pitchFamily="34" charset="0"/>
                <a:ea typeface="Arial" pitchFamily="34" charset="-122"/>
                <a:cs typeface="Arial" pitchFamily="34" charset="-120"/>
              </a:rPr>
              <a:t>Drive-thru weekend revenue: 9,714 baht</a:t>
            </a:r>
            <a:endParaRPr lang="en-US" sz="1100" dirty="0"/>
          </a:p>
          <a:p>
            <a:pPr indent="0" marL="0">
              <a:buNone/>
            </a:pPr>
            <a:r>
              <a:rPr lang="en-US" sz="1100" dirty="0">
                <a:solidFill>
                  <a:srgbClr val="374151"/>
                </a:solidFill>
                <a:latin typeface="Arial" pitchFamily="34" charset="0"/>
                <a:ea typeface="Arial" pitchFamily="34" charset="-122"/>
                <a:cs typeface="Arial" pitchFamily="34" charset="-120"/>
              </a:rPr>
              <a:t>Non-drive-thru weekend revenue: 11,395 baht</a:t>
            </a:r>
            <a:endParaRPr lang="en-US" sz="1100" dirty="0"/>
          </a:p>
        </p:txBody>
      </p:sp>
      <p:sp>
        <p:nvSpPr>
          <p:cNvPr id="10" name="Text 8"/>
          <p:cNvSpPr/>
          <p:nvPr/>
        </p:nvSpPr>
        <p:spPr>
          <a:xfrm>
            <a:off x="777240" y="2194560"/>
            <a:ext cx="3474720" cy="365760"/>
          </a:xfrm>
          <a:prstGeom prst="rect">
            <a:avLst/>
          </a:prstGeom>
          <a:noFill/>
          <a:ln/>
        </p:spPr>
        <p:txBody>
          <a:bodyPr wrap="square" lIns="0" tIns="0" rIns="0" bIns="0" rtlCol="0" anchor="ctr"/>
          <a:lstStyle/>
          <a:p>
            <a:pPr indent="0" marL="0">
              <a:buNone/>
            </a:pPr>
            <a:r>
              <a:rPr lang="en-US" sz="1200" b="1" i="1" dirty="0">
                <a:solidFill>
                  <a:srgbClr val="D97706"/>
                </a:solidFill>
                <a:latin typeface="Arial" pitchFamily="34" charset="0"/>
                <a:ea typeface="Arial" pitchFamily="34" charset="-122"/>
                <a:cs typeface="Arial" pitchFamily="34" charset="-120"/>
              </a:rPr>
              <a:t>Conclusion: drive-thru is WORSE on weekends.</a:t>
            </a:r>
            <a:endParaRPr lang="en-US" sz="1200" dirty="0"/>
          </a:p>
        </p:txBody>
      </p:sp>
      <p:sp>
        <p:nvSpPr>
          <p:cNvPr id="11" name="Shape 9"/>
          <p:cNvSpPr/>
          <p:nvPr/>
        </p:nvSpPr>
        <p:spPr>
          <a:xfrm>
            <a:off x="4754880" y="1188720"/>
            <a:ext cx="3749040" cy="1463040"/>
          </a:xfrm>
          <a:prstGeom prst="rect">
            <a:avLst/>
          </a:prstGeom>
          <a:solidFill>
            <a:srgbClr val="E0F7FA"/>
          </a:solidFill>
          <a:ln w="12700">
            <a:solidFill>
              <a:srgbClr val="0891B2"/>
            </a:solidFill>
            <a:prstDash val="solid"/>
          </a:ln>
        </p:spPr>
      </p:sp>
      <p:sp>
        <p:nvSpPr>
          <p:cNvPr id="12" name="Text 10"/>
          <p:cNvSpPr/>
          <p:nvPr/>
        </p:nvSpPr>
        <p:spPr>
          <a:xfrm>
            <a:off x="4892040" y="1280160"/>
            <a:ext cx="3474720" cy="274320"/>
          </a:xfrm>
          <a:prstGeom prst="rect">
            <a:avLst/>
          </a:prstGeom>
          <a:noFill/>
          <a:ln/>
        </p:spPr>
        <p:txBody>
          <a:bodyPr wrap="square" lIns="0" tIns="0" rIns="0" bIns="0" rtlCol="0" anchor="ctr"/>
          <a:lstStyle/>
          <a:p>
            <a:pPr indent="0" marL="0">
              <a:buNone/>
            </a:pPr>
            <a:r>
              <a:rPr lang="en-US" sz="1300" b="1" dirty="0">
                <a:solidFill>
                  <a:srgbClr val="0891B2"/>
                </a:solidFill>
                <a:latin typeface="Arial" pitchFamily="34" charset="0"/>
                <a:ea typeface="Arial" pitchFamily="34" charset="-122"/>
                <a:cs typeface="Arial" pitchFamily="34" charset="-120"/>
              </a:rPr>
              <a:t>Regression with interaction</a:t>
            </a:r>
            <a:endParaRPr lang="en-US" sz="1300" dirty="0"/>
          </a:p>
        </p:txBody>
      </p:sp>
      <p:sp>
        <p:nvSpPr>
          <p:cNvPr id="13" name="Text 11"/>
          <p:cNvSpPr/>
          <p:nvPr/>
        </p:nvSpPr>
        <p:spPr>
          <a:xfrm>
            <a:off x="4892040" y="1600200"/>
            <a:ext cx="3474720" cy="548640"/>
          </a:xfrm>
          <a:prstGeom prst="rect">
            <a:avLst/>
          </a:prstGeom>
          <a:noFill/>
          <a:ln/>
        </p:spPr>
        <p:txBody>
          <a:bodyPr wrap="square" lIns="0" tIns="0" rIns="0" bIns="0" rtlCol="0" anchor="ctr"/>
          <a:lstStyle/>
          <a:p>
            <a:pPr indent="0" marL="0">
              <a:buNone/>
            </a:pPr>
            <a:r>
              <a:rPr lang="en-US" sz="1100" dirty="0">
                <a:solidFill>
                  <a:srgbClr val="374151"/>
                </a:solidFill>
                <a:latin typeface="Arial" pitchFamily="34" charset="0"/>
                <a:ea typeface="Arial" pitchFamily="34" charset="-122"/>
                <a:cs typeface="Arial" pitchFamily="34" charset="-120"/>
              </a:rPr>
              <a:t>revenue ~ has_drive_thru * is_weekend</a:t>
            </a:r>
            <a:endParaRPr lang="en-US" sz="1100" dirty="0"/>
          </a:p>
          <a:p>
            <a:pPr indent="0" marL="0">
              <a:buNone/>
            </a:pPr>
            <a:r>
              <a:rPr lang="en-US" sz="1100" dirty="0">
                <a:solidFill>
                  <a:srgbClr val="374151"/>
                </a:solidFill>
                <a:latin typeface="Arial" pitchFamily="34" charset="0"/>
                <a:ea typeface="Arial" pitchFamily="34" charset="-122"/>
                <a:cs typeface="Arial" pitchFamily="34" charset="-120"/>
              </a:rPr>
              <a:t>             + district + seats + size</a:t>
            </a:r>
            <a:endParaRPr lang="en-US" sz="1100" dirty="0"/>
          </a:p>
        </p:txBody>
      </p:sp>
      <p:sp>
        <p:nvSpPr>
          <p:cNvPr id="14" name="Text 12"/>
          <p:cNvSpPr/>
          <p:nvPr/>
        </p:nvSpPr>
        <p:spPr>
          <a:xfrm>
            <a:off x="4892040" y="2148840"/>
            <a:ext cx="3474720" cy="457200"/>
          </a:xfrm>
          <a:prstGeom prst="rect">
            <a:avLst/>
          </a:prstGeom>
          <a:noFill/>
          <a:ln/>
        </p:spPr>
        <p:txBody>
          <a:bodyPr wrap="square" lIns="0" tIns="0" rIns="0" bIns="0" rtlCol="0" anchor="ctr"/>
          <a:lstStyle/>
          <a:p>
            <a:pPr indent="0" marL="0">
              <a:buNone/>
            </a:pPr>
            <a:r>
              <a:rPr lang="en-US" sz="1200" b="1" i="1" dirty="0">
                <a:solidFill>
                  <a:srgbClr val="0891B2"/>
                </a:solidFill>
                <a:latin typeface="Arial" pitchFamily="34" charset="0"/>
                <a:ea typeface="Arial" pitchFamily="34" charset="-122"/>
                <a:cs typeface="Arial" pitchFamily="34" charset="-120"/>
              </a:rPr>
              <a:t>The interaction is positive and significant.</a:t>
            </a:r>
            <a:endParaRPr lang="en-US" sz="1200" dirty="0"/>
          </a:p>
          <a:p>
            <a:pPr indent="0" marL="0">
              <a:buNone/>
            </a:pPr>
            <a:r>
              <a:rPr lang="en-US" sz="1200" b="1" i="1" dirty="0">
                <a:solidFill>
                  <a:srgbClr val="0891B2"/>
                </a:solidFill>
                <a:latin typeface="Arial" pitchFamily="34" charset="0"/>
                <a:ea typeface="Arial" pitchFamily="34" charset="-122"/>
                <a:cs typeface="Arial" pitchFamily="34" charset="-120"/>
              </a:rPr>
              <a:t>Drive-thru weekend lift is LARGER, not smaller.</a:t>
            </a:r>
            <a:endParaRPr lang="en-US" sz="1200" dirty="0"/>
          </a:p>
        </p:txBody>
      </p:sp>
      <p:sp>
        <p:nvSpPr>
          <p:cNvPr id="15" name="Text 13"/>
          <p:cNvSpPr/>
          <p:nvPr/>
        </p:nvSpPr>
        <p:spPr>
          <a:xfrm>
            <a:off x="640080" y="2834640"/>
            <a:ext cx="7863840" cy="274320"/>
          </a:xfrm>
          <a:prstGeom prst="rect">
            <a:avLst/>
          </a:prstGeom>
          <a:noFill/>
          <a:ln/>
        </p:spPr>
        <p:txBody>
          <a:bodyPr wrap="square" lIns="0" tIns="0" rIns="0" bIns="0" rtlCol="0" anchor="ctr"/>
          <a:lstStyle/>
          <a:p>
            <a:pPr indent="0" marL="0">
              <a:buNone/>
            </a:pPr>
            <a:r>
              <a:rPr lang="en-US" sz="1400" b="1" dirty="0">
                <a:solidFill>
                  <a:srgbClr val="1F2937"/>
                </a:solidFill>
                <a:latin typeface="Arial" pitchFamily="34" charset="0"/>
                <a:ea typeface="Arial" pitchFamily="34" charset="-122"/>
                <a:cs typeface="Arial" pitchFamily="34" charset="-120"/>
              </a:rPr>
              <a:t>Why the disagreement?</a:t>
            </a:r>
            <a:endParaRPr lang="en-US" sz="1400" dirty="0"/>
          </a:p>
        </p:txBody>
      </p:sp>
      <p:sp>
        <p:nvSpPr>
          <p:cNvPr id="16" name="Text 14"/>
          <p:cNvSpPr/>
          <p:nvPr/>
        </p:nvSpPr>
        <p:spPr>
          <a:xfrm>
            <a:off x="640080" y="3154680"/>
            <a:ext cx="7863840" cy="914400"/>
          </a:xfrm>
          <a:prstGeom prst="rect">
            <a:avLst/>
          </a:prstGeom>
          <a:noFill/>
          <a:ln/>
        </p:spPr>
        <p:txBody>
          <a:bodyPr wrap="square" lIns="0" tIns="0" rIns="0" bIns="0" rtlCol="0" anchor="t"/>
          <a:lstStyle/>
          <a:p>
            <a:pPr indent="0" marL="0">
              <a:buNone/>
            </a:pPr>
            <a:r>
              <a:rPr lang="en-US" sz="1200" dirty="0">
                <a:solidFill>
                  <a:srgbClr val="374151"/>
                </a:solidFill>
                <a:latin typeface="Arial" pitchFamily="34" charset="0"/>
                <a:ea typeface="Arial" pitchFamily="34" charset="-122"/>
                <a:cs typeface="Arial" pitchFamily="34" charset="-120"/>
              </a:rPr>
              <a:t>Drive-thru branches sit in lower-prestige districts (Ratchada, Ramkhamhaeng, Bangna). Their absolute revenue is lower because of district, not because of weekend dynamics. Once you control for district, the drive-thru weekend lift emerges.</a:t>
            </a:r>
            <a:endParaRPr lang="en-US" sz="1200" dirty="0"/>
          </a:p>
        </p:txBody>
      </p:sp>
      <p:sp>
        <p:nvSpPr>
          <p:cNvPr id="17" name="Shape 15"/>
          <p:cNvSpPr/>
          <p:nvPr/>
        </p:nvSpPr>
        <p:spPr>
          <a:xfrm>
            <a:off x="640080" y="4160520"/>
            <a:ext cx="7863840" cy="502920"/>
          </a:xfrm>
          <a:prstGeom prst="rect">
            <a:avLst/>
          </a:prstGeom>
          <a:solidFill>
            <a:srgbClr val="FEF3C7"/>
          </a:solidFill>
          <a:ln w="12700">
            <a:solidFill>
              <a:srgbClr val="D97706"/>
            </a:solidFill>
            <a:prstDash val="solid"/>
          </a:ln>
        </p:spPr>
      </p:sp>
      <p:sp>
        <p:nvSpPr>
          <p:cNvPr id="18" name="Text 16"/>
          <p:cNvSpPr/>
          <p:nvPr/>
        </p:nvSpPr>
        <p:spPr>
          <a:xfrm>
            <a:off x="822960" y="4251960"/>
            <a:ext cx="7498080" cy="320040"/>
          </a:xfrm>
          <a:prstGeom prst="rect">
            <a:avLst/>
          </a:prstGeom>
          <a:noFill/>
          <a:ln/>
        </p:spPr>
        <p:txBody>
          <a:bodyPr wrap="square" lIns="0" tIns="0" rIns="0" bIns="0" rtlCol="0" anchor="ctr"/>
          <a:lstStyle/>
          <a:p>
            <a:pPr indent="0" marL="0">
              <a:buNone/>
            </a:pPr>
            <a:r>
              <a:rPr lang="en-US" sz="1200" i="1" dirty="0">
                <a:solidFill>
                  <a:srgbClr val="1F2937"/>
                </a:solidFill>
                <a:latin typeface="Arial" pitchFamily="34" charset="0"/>
                <a:ea typeface="Arial" pitchFamily="34" charset="-122"/>
                <a:cs typeface="Arial" pitchFamily="34" charset="-120"/>
              </a:rPr>
              <a:t>Lesson: a pairwise sweep tells you what's correlated. A regression with the right interactions tells you what's actually causal — given your controls.</a:t>
            </a:r>
            <a:endParaRPr lang="en-US" sz="12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1F2937"/>
        </a:solidFill>
      </p:bgPr>
    </p:bg>
    <p:spTree>
      <p:nvGrpSpPr>
        <p:cNvPr id="1" name=""/>
        <p:cNvGrpSpPr/>
        <p:nvPr/>
      </p:nvGrpSpPr>
      <p:grpSpPr>
        <a:xfrm>
          <a:off x="0" y="0"/>
          <a:ext cx="0" cy="0"/>
          <a:chOff x="0" y="0"/>
          <a:chExt cx="0" cy="0"/>
        </a:xfrm>
      </p:grpSpPr>
      <p:sp>
        <p:nvSpPr>
          <p:cNvPr id="2" name="Shape 0"/>
          <p:cNvSpPr/>
          <p:nvPr/>
        </p:nvSpPr>
        <p:spPr>
          <a:xfrm>
            <a:off x="0" y="0"/>
            <a:ext cx="9144000" cy="45720"/>
          </a:xfrm>
          <a:prstGeom prst="rect">
            <a:avLst/>
          </a:prstGeom>
          <a:solidFill>
            <a:srgbClr val="0891B2"/>
          </a:solidFill>
          <a:ln/>
        </p:spPr>
      </p:sp>
      <p:sp>
        <p:nvSpPr>
          <p:cNvPr id="3" name="Text 1"/>
          <p:cNvSpPr/>
          <p:nvPr/>
        </p:nvSpPr>
        <p:spPr>
          <a:xfrm>
            <a:off x="640080" y="1188720"/>
            <a:ext cx="2286000" cy="1280160"/>
          </a:xfrm>
          <a:prstGeom prst="rect">
            <a:avLst/>
          </a:prstGeom>
          <a:noFill/>
          <a:ln/>
        </p:spPr>
        <p:txBody>
          <a:bodyPr wrap="square" lIns="0" tIns="0" rIns="0" bIns="0" rtlCol="0" anchor="ctr"/>
          <a:lstStyle/>
          <a:p>
            <a:pPr indent="0" marL="0">
              <a:buNone/>
            </a:pPr>
            <a:r>
              <a:rPr lang="en-US" sz="8000" b="1" dirty="0">
                <a:solidFill>
                  <a:srgbClr val="0891B2"/>
                </a:solidFill>
                <a:latin typeface="Arial" pitchFamily="34" charset="0"/>
                <a:ea typeface="Arial" pitchFamily="34" charset="-122"/>
                <a:cs typeface="Arial" pitchFamily="34" charset="-120"/>
              </a:rPr>
              <a:t>02</a:t>
            </a:r>
            <a:endParaRPr lang="en-US" sz="8000" dirty="0"/>
          </a:p>
        </p:txBody>
      </p:sp>
      <p:sp>
        <p:nvSpPr>
          <p:cNvPr id="4" name="Shape 2"/>
          <p:cNvSpPr/>
          <p:nvPr/>
        </p:nvSpPr>
        <p:spPr>
          <a:xfrm>
            <a:off x="640080" y="2606040"/>
            <a:ext cx="3200400" cy="0"/>
          </a:xfrm>
          <a:prstGeom prst="line">
            <a:avLst/>
          </a:prstGeom>
          <a:noFill/>
          <a:ln w="31750">
            <a:solidFill>
              <a:srgbClr val="0891B2"/>
            </a:solidFill>
            <a:prstDash val="solid"/>
          </a:ln>
        </p:spPr>
      </p:sp>
      <p:sp>
        <p:nvSpPr>
          <p:cNvPr id="5" name="Text 3"/>
          <p:cNvSpPr/>
          <p:nvPr/>
        </p:nvSpPr>
        <p:spPr>
          <a:xfrm>
            <a:off x="640080" y="2788920"/>
            <a:ext cx="7863840" cy="640080"/>
          </a:xfrm>
          <a:prstGeom prst="rect">
            <a:avLst/>
          </a:prstGeom>
          <a:noFill/>
          <a:ln/>
        </p:spPr>
        <p:txBody>
          <a:bodyPr wrap="square" lIns="0" tIns="0" rIns="0" bIns="0" rtlCol="0" anchor="ctr"/>
          <a:lstStyle/>
          <a:p>
            <a:pPr indent="0" marL="0">
              <a:buNone/>
            </a:pPr>
            <a:r>
              <a:rPr lang="en-US" sz="3600" b="1" dirty="0">
                <a:solidFill>
                  <a:srgbClr val="FFFFFF"/>
                </a:solidFill>
                <a:latin typeface="Arial" pitchFamily="34" charset="0"/>
                <a:ea typeface="Arial" pitchFamily="34" charset="-122"/>
                <a:cs typeface="Arial" pitchFamily="34" charset="-120"/>
              </a:rPr>
              <a:t>Forecast</a:t>
            </a:r>
            <a:endParaRPr lang="en-US" sz="3600" dirty="0"/>
          </a:p>
        </p:txBody>
      </p:sp>
      <p:sp>
        <p:nvSpPr>
          <p:cNvPr id="6" name="Text 4"/>
          <p:cNvSpPr/>
          <p:nvPr/>
        </p:nvSpPr>
        <p:spPr>
          <a:xfrm>
            <a:off x="640080" y="3520440"/>
            <a:ext cx="7863840" cy="457200"/>
          </a:xfrm>
          <a:prstGeom prst="rect">
            <a:avLst/>
          </a:prstGeom>
          <a:noFill/>
          <a:ln/>
        </p:spPr>
        <p:txBody>
          <a:bodyPr wrap="square" lIns="0" tIns="0" rIns="0" bIns="0" rtlCol="0" anchor="ctr"/>
          <a:lstStyle/>
          <a:p>
            <a:pPr indent="0" marL="0">
              <a:buNone/>
            </a:pPr>
            <a:r>
              <a:rPr lang="en-US" sz="1600" i="1" dirty="0">
                <a:solidFill>
                  <a:srgbClr val="9CA3AF"/>
                </a:solidFill>
                <a:latin typeface="Arial" pitchFamily="34" charset="0"/>
                <a:ea typeface="Arial" pitchFamily="34" charset="-122"/>
                <a:cs typeface="Arial" pitchFamily="34" charset="-120"/>
              </a:rPr>
              <a:t>How much will each SKU sell at each branch?</a:t>
            </a:r>
            <a:endParaRPr lang="en-US" sz="1600" dirty="0"/>
          </a:p>
        </p:txBody>
      </p:sp>
      <p:sp>
        <p:nvSpPr>
          <p:cNvPr id="7" name="Text 5"/>
          <p:cNvSpPr/>
          <p:nvPr/>
        </p:nvSpPr>
        <p:spPr>
          <a:xfrm>
            <a:off x="7680960" y="228600"/>
            <a:ext cx="1097280" cy="365760"/>
          </a:xfrm>
          <a:prstGeom prst="rect">
            <a:avLst/>
          </a:prstGeom>
          <a:noFill/>
          <a:ln/>
        </p:spPr>
        <p:txBody>
          <a:bodyPr wrap="square" rtlCol="0" anchor="ctr"/>
          <a:lstStyle/>
          <a:p>
            <a:pPr algn="r" indent="0" marL="0">
              <a:buNone/>
            </a:pPr>
            <a:r>
              <a:rPr lang="en-US" sz="1300" b="1" dirty="0">
                <a:solidFill>
                  <a:srgbClr val="0891B2"/>
                </a:solidFill>
                <a:latin typeface="Arial" pitchFamily="34" charset="0"/>
                <a:ea typeface="Arial" pitchFamily="34" charset="-122"/>
                <a:cs typeface="Arial" pitchFamily="34" charset="-120"/>
              </a:rPr>
              <a:t>MADT</a:t>
            </a:r>
            <a:endParaRPr lang="en-US" sz="13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9144000" cy="45720"/>
          </a:xfrm>
          <a:prstGeom prst="rect">
            <a:avLst/>
          </a:prstGeom>
          <a:solidFill>
            <a:srgbClr val="0891B2"/>
          </a:solidFill>
          <a:ln/>
        </p:spPr>
      </p:sp>
      <p:sp>
        <p:nvSpPr>
          <p:cNvPr id="3" name="Text 1"/>
          <p:cNvSpPr/>
          <p:nvPr/>
        </p:nvSpPr>
        <p:spPr>
          <a:xfrm>
            <a:off x="640080" y="4828032"/>
            <a:ext cx="5486400" cy="228600"/>
          </a:xfrm>
          <a:prstGeom prst="rect">
            <a:avLst/>
          </a:prstGeom>
          <a:noFill/>
          <a:ln/>
        </p:spPr>
        <p:txBody>
          <a:bodyPr wrap="square" lIns="0" tIns="0" rIns="0" bIns="0" rtlCol="0" anchor="ctr"/>
          <a:lstStyle/>
          <a:p>
            <a:pPr indent="0" marL="0">
              <a:buNone/>
            </a:pPr>
            <a:r>
              <a:rPr lang="en-US" sz="900" dirty="0">
                <a:solidFill>
                  <a:srgbClr val="9CA3AF"/>
                </a:solidFill>
                <a:latin typeface="Arial" pitchFamily="34" charset="0"/>
                <a:ea typeface="Arial" pitchFamily="34" charset="-122"/>
                <a:cs typeface="Arial" pitchFamily="34" charset="-120"/>
              </a:rPr>
              <a:t>NIDA  |  MADT6004  |  Module 2 — the shape</a:t>
            </a:r>
            <a:endParaRPr lang="en-US" sz="900" dirty="0"/>
          </a:p>
        </p:txBody>
      </p:sp>
      <p:sp>
        <p:nvSpPr>
          <p:cNvPr id="4" name="Text 2"/>
          <p:cNvSpPr/>
          <p:nvPr/>
        </p:nvSpPr>
        <p:spPr>
          <a:xfrm>
            <a:off x="7772400" y="4800600"/>
            <a:ext cx="914400" cy="274320"/>
          </a:xfrm>
          <a:prstGeom prst="rect">
            <a:avLst/>
          </a:prstGeom>
          <a:noFill/>
          <a:ln/>
        </p:spPr>
        <p:txBody>
          <a:bodyPr wrap="square" lIns="0" tIns="0" rIns="0" bIns="0" rtlCol="0" anchor="ctr"/>
          <a:lstStyle/>
          <a:p>
            <a:pPr algn="r" indent="0" marL="0">
              <a:buNone/>
            </a:pPr>
            <a:r>
              <a:rPr lang="en-US" sz="1200" b="1" dirty="0">
                <a:solidFill>
                  <a:srgbClr val="0891B2"/>
                </a:solidFill>
                <a:latin typeface="Arial" pitchFamily="34" charset="0"/>
                <a:ea typeface="Arial" pitchFamily="34" charset="-122"/>
                <a:cs typeface="Arial" pitchFamily="34" charset="-120"/>
              </a:rPr>
              <a:t>MADT</a:t>
            </a:r>
            <a:endParaRPr lang="en-US" sz="1200" dirty="0"/>
          </a:p>
        </p:txBody>
      </p:sp>
      <p:sp>
        <p:nvSpPr>
          <p:cNvPr id="5" name="Text 3"/>
          <p:cNvSpPr/>
          <p:nvPr/>
        </p:nvSpPr>
        <p:spPr>
          <a:xfrm>
            <a:off x="640080" y="274320"/>
            <a:ext cx="7863840" cy="502920"/>
          </a:xfrm>
          <a:prstGeom prst="rect">
            <a:avLst/>
          </a:prstGeom>
          <a:noFill/>
          <a:ln/>
        </p:spPr>
        <p:txBody>
          <a:bodyPr wrap="square" lIns="0" tIns="0" rIns="0" bIns="0" rtlCol="0" anchor="ctr"/>
          <a:lstStyle/>
          <a:p>
            <a:pPr indent="0" marL="0">
              <a:buNone/>
            </a:pPr>
            <a:r>
              <a:rPr lang="en-US" sz="2800" b="1" dirty="0">
                <a:solidFill>
                  <a:srgbClr val="1F2937"/>
                </a:solidFill>
                <a:latin typeface="Arial" pitchFamily="34" charset="0"/>
                <a:ea typeface="Arial" pitchFamily="34" charset="-122"/>
                <a:cs typeface="Arial" pitchFamily="34" charset="-120"/>
              </a:rPr>
              <a:t>The forecasting panel</a:t>
            </a:r>
            <a:endParaRPr lang="en-US" sz="2800" dirty="0"/>
          </a:p>
        </p:txBody>
      </p:sp>
      <p:sp>
        <p:nvSpPr>
          <p:cNvPr id="6" name="Text 4"/>
          <p:cNvSpPr/>
          <p:nvPr/>
        </p:nvSpPr>
        <p:spPr>
          <a:xfrm>
            <a:off x="640080" y="777240"/>
            <a:ext cx="7863840" cy="274320"/>
          </a:xfrm>
          <a:prstGeom prst="rect">
            <a:avLst/>
          </a:prstGeom>
          <a:noFill/>
          <a:ln/>
        </p:spPr>
        <p:txBody>
          <a:bodyPr wrap="square" lIns="0" tIns="0" rIns="0" bIns="0" rtlCol="0" anchor="ctr"/>
          <a:lstStyle/>
          <a:p>
            <a:pPr indent="0" marL="0">
              <a:buNone/>
            </a:pPr>
            <a:r>
              <a:rPr lang="en-US" sz="1300" i="1" dirty="0">
                <a:solidFill>
                  <a:srgbClr val="6B7280"/>
                </a:solidFill>
                <a:latin typeface="Arial" pitchFamily="34" charset="0"/>
                <a:ea typeface="Arial" pitchFamily="34" charset="-122"/>
                <a:cs typeface="Arial" pitchFamily="34" charset="-120"/>
              </a:rPr>
              <a:t>Top 5 SKUs × 12 branches = 60 daily series</a:t>
            </a:r>
            <a:endParaRPr lang="en-US" sz="1300" dirty="0"/>
          </a:p>
        </p:txBody>
      </p:sp>
      <p:sp>
        <p:nvSpPr>
          <p:cNvPr id="7" name="Shape 5"/>
          <p:cNvSpPr/>
          <p:nvPr/>
        </p:nvSpPr>
        <p:spPr>
          <a:xfrm>
            <a:off x="640080" y="1280160"/>
            <a:ext cx="1874520" cy="1005840"/>
          </a:xfrm>
          <a:prstGeom prst="rect">
            <a:avLst/>
          </a:prstGeom>
          <a:solidFill>
            <a:srgbClr val="F3F4F6"/>
          </a:solidFill>
          <a:ln w="6350">
            <a:solidFill>
              <a:srgbClr val="D1D5DB"/>
            </a:solidFill>
            <a:prstDash val="solid"/>
          </a:ln>
        </p:spPr>
      </p:sp>
      <p:sp>
        <p:nvSpPr>
          <p:cNvPr id="8" name="Shape 6"/>
          <p:cNvSpPr/>
          <p:nvPr/>
        </p:nvSpPr>
        <p:spPr>
          <a:xfrm>
            <a:off x="640080" y="1280160"/>
            <a:ext cx="64008" cy="1005840"/>
          </a:xfrm>
          <a:prstGeom prst="rect">
            <a:avLst/>
          </a:prstGeom>
          <a:solidFill>
            <a:srgbClr val="0891B2"/>
          </a:solidFill>
          <a:ln/>
        </p:spPr>
      </p:sp>
      <p:sp>
        <p:nvSpPr>
          <p:cNvPr id="9" name="Text 7"/>
          <p:cNvSpPr/>
          <p:nvPr/>
        </p:nvSpPr>
        <p:spPr>
          <a:xfrm>
            <a:off x="731520" y="1371600"/>
            <a:ext cx="1737360" cy="502920"/>
          </a:xfrm>
          <a:prstGeom prst="rect">
            <a:avLst/>
          </a:prstGeom>
          <a:noFill/>
          <a:ln/>
        </p:spPr>
        <p:txBody>
          <a:bodyPr wrap="square" lIns="0" tIns="0" rIns="0" bIns="0" rtlCol="0" anchor="ctr"/>
          <a:lstStyle/>
          <a:p>
            <a:pPr algn="ctr" indent="0" marL="0">
              <a:buNone/>
            </a:pPr>
            <a:r>
              <a:rPr lang="en-US" sz="3200" b="1" dirty="0">
                <a:solidFill>
                  <a:srgbClr val="0891B2"/>
                </a:solidFill>
                <a:latin typeface="Arial" pitchFamily="34" charset="0"/>
                <a:ea typeface="Arial" pitchFamily="34" charset="-122"/>
                <a:cs typeface="Arial" pitchFamily="34" charset="-120"/>
              </a:rPr>
              <a:t>60</a:t>
            </a:r>
            <a:endParaRPr lang="en-US" sz="3200" dirty="0"/>
          </a:p>
        </p:txBody>
      </p:sp>
      <p:sp>
        <p:nvSpPr>
          <p:cNvPr id="10" name="Text 8"/>
          <p:cNvSpPr/>
          <p:nvPr/>
        </p:nvSpPr>
        <p:spPr>
          <a:xfrm>
            <a:off x="731520" y="1874520"/>
            <a:ext cx="1737360" cy="365760"/>
          </a:xfrm>
          <a:prstGeom prst="rect">
            <a:avLst/>
          </a:prstGeom>
          <a:noFill/>
          <a:ln/>
        </p:spPr>
        <p:txBody>
          <a:bodyPr wrap="square" lIns="0" tIns="0" rIns="0" bIns="0" rtlCol="0" anchor="ctr"/>
          <a:lstStyle/>
          <a:p>
            <a:pPr algn="ctr" indent="0" marL="0">
              <a:buNone/>
            </a:pPr>
            <a:r>
              <a:rPr lang="en-US" sz="1000" dirty="0">
                <a:solidFill>
                  <a:srgbClr val="6B7280"/>
                </a:solidFill>
                <a:latin typeface="Arial" pitchFamily="34" charset="0"/>
                <a:ea typeface="Arial" pitchFamily="34" charset="-122"/>
                <a:cs typeface="Arial" pitchFamily="34" charset="-120"/>
              </a:rPr>
              <a:t>series to forecast</a:t>
            </a:r>
            <a:endParaRPr lang="en-US" sz="1000" dirty="0"/>
          </a:p>
        </p:txBody>
      </p:sp>
      <p:sp>
        <p:nvSpPr>
          <p:cNvPr id="11" name="Shape 9"/>
          <p:cNvSpPr/>
          <p:nvPr/>
        </p:nvSpPr>
        <p:spPr>
          <a:xfrm>
            <a:off x="2670048" y="1280160"/>
            <a:ext cx="1874520" cy="1005840"/>
          </a:xfrm>
          <a:prstGeom prst="rect">
            <a:avLst/>
          </a:prstGeom>
          <a:solidFill>
            <a:srgbClr val="F3F4F6"/>
          </a:solidFill>
          <a:ln w="6350">
            <a:solidFill>
              <a:srgbClr val="D1D5DB"/>
            </a:solidFill>
            <a:prstDash val="solid"/>
          </a:ln>
        </p:spPr>
      </p:sp>
      <p:sp>
        <p:nvSpPr>
          <p:cNvPr id="12" name="Shape 10"/>
          <p:cNvSpPr/>
          <p:nvPr/>
        </p:nvSpPr>
        <p:spPr>
          <a:xfrm>
            <a:off x="2670048" y="1280160"/>
            <a:ext cx="64008" cy="1005840"/>
          </a:xfrm>
          <a:prstGeom prst="rect">
            <a:avLst/>
          </a:prstGeom>
          <a:solidFill>
            <a:srgbClr val="0891B2"/>
          </a:solidFill>
          <a:ln/>
        </p:spPr>
      </p:sp>
      <p:sp>
        <p:nvSpPr>
          <p:cNvPr id="13" name="Text 11"/>
          <p:cNvSpPr/>
          <p:nvPr/>
        </p:nvSpPr>
        <p:spPr>
          <a:xfrm>
            <a:off x="2761488" y="1371600"/>
            <a:ext cx="1737360" cy="502920"/>
          </a:xfrm>
          <a:prstGeom prst="rect">
            <a:avLst/>
          </a:prstGeom>
          <a:noFill/>
          <a:ln/>
        </p:spPr>
        <p:txBody>
          <a:bodyPr wrap="square" lIns="0" tIns="0" rIns="0" bIns="0" rtlCol="0" anchor="ctr"/>
          <a:lstStyle/>
          <a:p>
            <a:pPr algn="ctr" indent="0" marL="0">
              <a:buNone/>
            </a:pPr>
            <a:r>
              <a:rPr lang="en-US" sz="3200" b="1" dirty="0">
                <a:solidFill>
                  <a:srgbClr val="0891B2"/>
                </a:solidFill>
                <a:latin typeface="Arial" pitchFamily="34" charset="0"/>
                <a:ea typeface="Arial" pitchFamily="34" charset="-122"/>
                <a:cs typeface="Arial" pitchFamily="34" charset="-120"/>
              </a:rPr>
              <a:t>365</a:t>
            </a:r>
            <a:endParaRPr lang="en-US" sz="3200" dirty="0"/>
          </a:p>
        </p:txBody>
      </p:sp>
      <p:sp>
        <p:nvSpPr>
          <p:cNvPr id="14" name="Text 12"/>
          <p:cNvSpPr/>
          <p:nvPr/>
        </p:nvSpPr>
        <p:spPr>
          <a:xfrm>
            <a:off x="2761488" y="1874520"/>
            <a:ext cx="1737360" cy="365760"/>
          </a:xfrm>
          <a:prstGeom prst="rect">
            <a:avLst/>
          </a:prstGeom>
          <a:noFill/>
          <a:ln/>
        </p:spPr>
        <p:txBody>
          <a:bodyPr wrap="square" lIns="0" tIns="0" rIns="0" bIns="0" rtlCol="0" anchor="ctr"/>
          <a:lstStyle/>
          <a:p>
            <a:pPr algn="ctr" indent="0" marL="0">
              <a:buNone/>
            </a:pPr>
            <a:r>
              <a:rPr lang="en-US" sz="1000" dirty="0">
                <a:solidFill>
                  <a:srgbClr val="6B7280"/>
                </a:solidFill>
                <a:latin typeface="Arial" pitchFamily="34" charset="0"/>
                <a:ea typeface="Arial" pitchFamily="34" charset="-122"/>
                <a:cs typeface="Arial" pitchFamily="34" charset="-120"/>
              </a:rPr>
              <a:t>days of history (max)</a:t>
            </a:r>
            <a:endParaRPr lang="en-US" sz="1000" dirty="0"/>
          </a:p>
        </p:txBody>
      </p:sp>
      <p:sp>
        <p:nvSpPr>
          <p:cNvPr id="15" name="Shape 13"/>
          <p:cNvSpPr/>
          <p:nvPr/>
        </p:nvSpPr>
        <p:spPr>
          <a:xfrm>
            <a:off x="4700016" y="1280160"/>
            <a:ext cx="1874520" cy="1005840"/>
          </a:xfrm>
          <a:prstGeom prst="rect">
            <a:avLst/>
          </a:prstGeom>
          <a:solidFill>
            <a:srgbClr val="F3F4F6"/>
          </a:solidFill>
          <a:ln w="6350">
            <a:solidFill>
              <a:srgbClr val="D1D5DB"/>
            </a:solidFill>
            <a:prstDash val="solid"/>
          </a:ln>
        </p:spPr>
      </p:sp>
      <p:sp>
        <p:nvSpPr>
          <p:cNvPr id="16" name="Shape 14"/>
          <p:cNvSpPr/>
          <p:nvPr/>
        </p:nvSpPr>
        <p:spPr>
          <a:xfrm>
            <a:off x="4700016" y="1280160"/>
            <a:ext cx="64008" cy="1005840"/>
          </a:xfrm>
          <a:prstGeom prst="rect">
            <a:avLst/>
          </a:prstGeom>
          <a:solidFill>
            <a:srgbClr val="0891B2"/>
          </a:solidFill>
          <a:ln/>
        </p:spPr>
      </p:sp>
      <p:sp>
        <p:nvSpPr>
          <p:cNvPr id="17" name="Text 15"/>
          <p:cNvSpPr/>
          <p:nvPr/>
        </p:nvSpPr>
        <p:spPr>
          <a:xfrm>
            <a:off x="4791456" y="1371600"/>
            <a:ext cx="1737360" cy="502920"/>
          </a:xfrm>
          <a:prstGeom prst="rect">
            <a:avLst/>
          </a:prstGeom>
          <a:noFill/>
          <a:ln/>
        </p:spPr>
        <p:txBody>
          <a:bodyPr wrap="square" lIns="0" tIns="0" rIns="0" bIns="0" rtlCol="0" anchor="ctr"/>
          <a:lstStyle/>
          <a:p>
            <a:pPr algn="ctr" indent="0" marL="0">
              <a:buNone/>
            </a:pPr>
            <a:r>
              <a:rPr lang="en-US" sz="3200" b="1" dirty="0">
                <a:solidFill>
                  <a:srgbClr val="0891B2"/>
                </a:solidFill>
                <a:latin typeface="Arial" pitchFamily="34" charset="0"/>
                <a:ea typeface="Arial" pitchFamily="34" charset="-122"/>
                <a:cs typeface="Arial" pitchFamily="34" charset="-120"/>
              </a:rPr>
              <a:t>30</a:t>
            </a:r>
            <a:endParaRPr lang="en-US" sz="3200" dirty="0"/>
          </a:p>
        </p:txBody>
      </p:sp>
      <p:sp>
        <p:nvSpPr>
          <p:cNvPr id="18" name="Text 16"/>
          <p:cNvSpPr/>
          <p:nvPr/>
        </p:nvSpPr>
        <p:spPr>
          <a:xfrm>
            <a:off x="4791456" y="1874520"/>
            <a:ext cx="1737360" cy="365760"/>
          </a:xfrm>
          <a:prstGeom prst="rect">
            <a:avLst/>
          </a:prstGeom>
          <a:noFill/>
          <a:ln/>
        </p:spPr>
        <p:txBody>
          <a:bodyPr wrap="square" lIns="0" tIns="0" rIns="0" bIns="0" rtlCol="0" anchor="ctr"/>
          <a:lstStyle/>
          <a:p>
            <a:pPr algn="ctr" indent="0" marL="0">
              <a:buNone/>
            </a:pPr>
            <a:r>
              <a:rPr lang="en-US" sz="1000" dirty="0">
                <a:solidFill>
                  <a:srgbClr val="6B7280"/>
                </a:solidFill>
                <a:latin typeface="Arial" pitchFamily="34" charset="0"/>
                <a:ea typeface="Arial" pitchFamily="34" charset="-122"/>
                <a:cs typeface="Arial" pitchFamily="34" charset="-120"/>
              </a:rPr>
              <a:t>days ahead horizon</a:t>
            </a:r>
            <a:endParaRPr lang="en-US" sz="1000" dirty="0"/>
          </a:p>
        </p:txBody>
      </p:sp>
      <p:sp>
        <p:nvSpPr>
          <p:cNvPr id="19" name="Shape 17"/>
          <p:cNvSpPr/>
          <p:nvPr/>
        </p:nvSpPr>
        <p:spPr>
          <a:xfrm>
            <a:off x="6729984" y="1280160"/>
            <a:ext cx="1874520" cy="1005840"/>
          </a:xfrm>
          <a:prstGeom prst="rect">
            <a:avLst/>
          </a:prstGeom>
          <a:solidFill>
            <a:srgbClr val="F3F4F6"/>
          </a:solidFill>
          <a:ln w="6350">
            <a:solidFill>
              <a:srgbClr val="D1D5DB"/>
            </a:solidFill>
            <a:prstDash val="solid"/>
          </a:ln>
        </p:spPr>
      </p:sp>
      <p:sp>
        <p:nvSpPr>
          <p:cNvPr id="20" name="Shape 18"/>
          <p:cNvSpPr/>
          <p:nvPr/>
        </p:nvSpPr>
        <p:spPr>
          <a:xfrm>
            <a:off x="6729984" y="1280160"/>
            <a:ext cx="64008" cy="1005840"/>
          </a:xfrm>
          <a:prstGeom prst="rect">
            <a:avLst/>
          </a:prstGeom>
          <a:solidFill>
            <a:srgbClr val="0891B2"/>
          </a:solidFill>
          <a:ln/>
        </p:spPr>
      </p:sp>
      <p:sp>
        <p:nvSpPr>
          <p:cNvPr id="21" name="Text 19"/>
          <p:cNvSpPr/>
          <p:nvPr/>
        </p:nvSpPr>
        <p:spPr>
          <a:xfrm>
            <a:off x="6821424" y="1371600"/>
            <a:ext cx="1737360" cy="502920"/>
          </a:xfrm>
          <a:prstGeom prst="rect">
            <a:avLst/>
          </a:prstGeom>
          <a:noFill/>
          <a:ln/>
        </p:spPr>
        <p:txBody>
          <a:bodyPr wrap="square" lIns="0" tIns="0" rIns="0" bIns="0" rtlCol="0" anchor="ctr"/>
          <a:lstStyle/>
          <a:p>
            <a:pPr algn="ctr" indent="0" marL="0">
              <a:buNone/>
            </a:pPr>
            <a:r>
              <a:rPr lang="en-US" sz="3200" b="1" dirty="0">
                <a:solidFill>
                  <a:srgbClr val="0891B2"/>
                </a:solidFill>
                <a:latin typeface="Arial" pitchFamily="34" charset="0"/>
                <a:ea typeface="Arial" pitchFamily="34" charset="-122"/>
                <a:cs typeface="Arial" pitchFamily="34" charset="-120"/>
              </a:rPr>
              <a:t>14</a:t>
            </a:r>
            <a:endParaRPr lang="en-US" sz="3200" dirty="0"/>
          </a:p>
        </p:txBody>
      </p:sp>
      <p:sp>
        <p:nvSpPr>
          <p:cNvPr id="22" name="Text 20"/>
          <p:cNvSpPr/>
          <p:nvPr/>
        </p:nvSpPr>
        <p:spPr>
          <a:xfrm>
            <a:off x="6821424" y="1874520"/>
            <a:ext cx="1737360" cy="365760"/>
          </a:xfrm>
          <a:prstGeom prst="rect">
            <a:avLst/>
          </a:prstGeom>
          <a:noFill/>
          <a:ln/>
        </p:spPr>
        <p:txBody>
          <a:bodyPr wrap="square" lIns="0" tIns="0" rIns="0" bIns="0" rtlCol="0" anchor="ctr"/>
          <a:lstStyle/>
          <a:p>
            <a:pPr algn="ctr" indent="0" marL="0">
              <a:buNone/>
            </a:pPr>
            <a:r>
              <a:rPr lang="en-US" sz="1000" dirty="0">
                <a:solidFill>
                  <a:srgbClr val="6B7280"/>
                </a:solidFill>
                <a:latin typeface="Arial" pitchFamily="34" charset="0"/>
                <a:ea typeface="Arial" pitchFamily="34" charset="-122"/>
                <a:cs typeface="Arial" pitchFamily="34" charset="-120"/>
              </a:rPr>
              <a:t>days holdout for evaluation</a:t>
            </a:r>
            <a:endParaRPr lang="en-US" sz="1000" dirty="0"/>
          </a:p>
        </p:txBody>
      </p:sp>
      <p:sp>
        <p:nvSpPr>
          <p:cNvPr id="23" name="Text 21"/>
          <p:cNvSpPr/>
          <p:nvPr/>
        </p:nvSpPr>
        <p:spPr>
          <a:xfrm>
            <a:off x="640080" y="2514600"/>
            <a:ext cx="7863840" cy="274320"/>
          </a:xfrm>
          <a:prstGeom prst="rect">
            <a:avLst/>
          </a:prstGeom>
          <a:noFill/>
          <a:ln/>
        </p:spPr>
        <p:txBody>
          <a:bodyPr wrap="square" lIns="0" tIns="0" rIns="0" bIns="0" rtlCol="0" anchor="ctr"/>
          <a:lstStyle/>
          <a:p>
            <a:pPr indent="0" marL="0">
              <a:buNone/>
            </a:pPr>
            <a:r>
              <a:rPr lang="en-US" sz="1200" dirty="0">
                <a:solidFill>
                  <a:srgbClr val="374151"/>
                </a:solidFill>
                <a:latin typeface="Arial" pitchFamily="34" charset="0"/>
                <a:ea typeface="Arial" pitchFamily="34" charset="-122"/>
                <a:cs typeface="Arial" pitchFamily="34" charset="-120"/>
              </a:rPr>
              <a:t>Each series gets reindexed to a complete daily date range, zero-filled for missing days.</a:t>
            </a:r>
            <a:endParaRPr lang="en-US" sz="1200" dirty="0"/>
          </a:p>
        </p:txBody>
      </p:sp>
      <p:sp>
        <p:nvSpPr>
          <p:cNvPr id="24" name="Shape 22"/>
          <p:cNvSpPr/>
          <p:nvPr/>
        </p:nvSpPr>
        <p:spPr>
          <a:xfrm>
            <a:off x="640080" y="2880360"/>
            <a:ext cx="7863840" cy="1554480"/>
          </a:xfrm>
          <a:prstGeom prst="rect">
            <a:avLst/>
          </a:prstGeom>
          <a:solidFill>
            <a:srgbClr val="F3F4F6"/>
          </a:solidFill>
          <a:ln w="6350">
            <a:solidFill>
              <a:srgbClr val="D1D5DB"/>
            </a:solidFill>
            <a:prstDash val="solid"/>
          </a:ln>
        </p:spPr>
      </p:sp>
      <p:sp>
        <p:nvSpPr>
          <p:cNvPr id="25" name="Text 23"/>
          <p:cNvSpPr/>
          <p:nvPr/>
        </p:nvSpPr>
        <p:spPr>
          <a:xfrm>
            <a:off x="777240" y="2971800"/>
            <a:ext cx="7589520" cy="1371600"/>
          </a:xfrm>
          <a:prstGeom prst="rect">
            <a:avLst/>
          </a:prstGeom>
          <a:noFill/>
          <a:ln/>
        </p:spPr>
        <p:txBody>
          <a:bodyPr wrap="square" lIns="0" tIns="0" rIns="0" bIns="0" rtlCol="0" anchor="t"/>
          <a:lstStyle/>
          <a:p>
            <a:pPr indent="0" marL="0">
              <a:buNone/>
            </a:pPr>
            <a:r>
              <a:rPr lang="en-US" sz="1100" dirty="0">
                <a:solidFill>
                  <a:srgbClr val="374151"/>
                </a:solidFill>
                <a:latin typeface="Consolas" pitchFamily="34" charset="0"/>
                <a:ea typeface="Consolas" pitchFamily="34" charset="-122"/>
                <a:cs typeface="Consolas" pitchFamily="34" charset="-120"/>
              </a:rPr>
              <a:t>def make_series(daily, sku, branch):</a:t>
            </a:r>
            <a:endParaRPr lang="en-US" sz="1100" dirty="0"/>
          </a:p>
          <a:p>
            <a:pPr indent="0" marL="0">
              <a:buNone/>
            </a:pPr>
            <a:r>
              <a:rPr lang="en-US" sz="1100" dirty="0">
                <a:solidFill>
                  <a:srgbClr val="374151"/>
                </a:solidFill>
                <a:latin typeface="Consolas" pitchFamily="34" charset="0"/>
                <a:ea typeface="Consolas" pitchFamily="34" charset="-122"/>
                <a:cs typeface="Consolas" pitchFamily="34" charset="-120"/>
              </a:rPr>
              <a:t>    sub = daily[(daily.product_id == sku) &amp; (daily.branch_id == branch)][['d', 'units']]</a:t>
            </a:r>
            <a:endParaRPr lang="en-US" sz="1100" dirty="0"/>
          </a:p>
          <a:p>
            <a:pPr indent="0" marL="0">
              <a:buNone/>
            </a:pPr>
            <a:r>
              <a:rPr lang="en-US" sz="1100" dirty="0">
                <a:solidFill>
                  <a:srgbClr val="374151"/>
                </a:solidFill>
                <a:latin typeface="Consolas" pitchFamily="34" charset="0"/>
                <a:ea typeface="Consolas" pitchFamily="34" charset="-122"/>
                <a:cs typeface="Consolas" pitchFamily="34" charset="-120"/>
              </a:rPr>
              <a:t>    sub = sub.set_index('d').sort_index()</a:t>
            </a:r>
            <a:endParaRPr lang="en-US" sz="1100" dirty="0"/>
          </a:p>
          <a:p>
            <a:pPr indent="0" marL="0">
              <a:buNone/>
            </a:pPr>
            <a:r>
              <a:rPr lang="en-US" sz="1100" dirty="0">
                <a:solidFill>
                  <a:srgbClr val="374151"/>
                </a:solidFill>
                <a:latin typeface="Consolas" pitchFamily="34" charset="0"/>
                <a:ea typeface="Consolas" pitchFamily="34" charset="-122"/>
                <a:cs typeface="Consolas" pitchFamily="34" charset="-120"/>
              </a:rPr>
              <a:t>    full_idx = pd.date_range(sub.index.min(), sub.index.max(), freq='D')</a:t>
            </a:r>
            <a:endParaRPr lang="en-US" sz="1100" dirty="0"/>
          </a:p>
          <a:p>
            <a:pPr indent="0" marL="0">
              <a:buNone/>
            </a:pPr>
            <a:r>
              <a:rPr lang="en-US" sz="1100" dirty="0">
                <a:solidFill>
                  <a:srgbClr val="374151"/>
                </a:solidFill>
                <a:latin typeface="Consolas" pitchFamily="34" charset="0"/>
                <a:ea typeface="Consolas" pitchFamily="34" charset="-122"/>
                <a:cs typeface="Consolas" pitchFamily="34" charset="-120"/>
              </a:rPr>
              <a:t>    return sub.reindex(full_idx, fill_value=0)['units']</a:t>
            </a:r>
            <a:endParaRPr lang="en-US" sz="11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9144000" cy="45720"/>
          </a:xfrm>
          <a:prstGeom prst="rect">
            <a:avLst/>
          </a:prstGeom>
          <a:solidFill>
            <a:srgbClr val="0891B2"/>
          </a:solidFill>
          <a:ln/>
        </p:spPr>
      </p:sp>
      <p:sp>
        <p:nvSpPr>
          <p:cNvPr id="3" name="Text 1"/>
          <p:cNvSpPr/>
          <p:nvPr/>
        </p:nvSpPr>
        <p:spPr>
          <a:xfrm>
            <a:off x="640080" y="4828032"/>
            <a:ext cx="5486400" cy="228600"/>
          </a:xfrm>
          <a:prstGeom prst="rect">
            <a:avLst/>
          </a:prstGeom>
          <a:noFill/>
          <a:ln/>
        </p:spPr>
        <p:txBody>
          <a:bodyPr wrap="square" lIns="0" tIns="0" rIns="0" bIns="0" rtlCol="0" anchor="ctr"/>
          <a:lstStyle/>
          <a:p>
            <a:pPr indent="0" marL="0">
              <a:buNone/>
            </a:pPr>
            <a:r>
              <a:rPr lang="en-US" sz="900" dirty="0">
                <a:solidFill>
                  <a:srgbClr val="9CA3AF"/>
                </a:solidFill>
                <a:latin typeface="Arial" pitchFamily="34" charset="0"/>
                <a:ea typeface="Arial" pitchFamily="34" charset="-122"/>
                <a:cs typeface="Arial" pitchFamily="34" charset="-120"/>
              </a:rPr>
              <a:t>NIDA  |  MADT6004  |  Module 2 — methods</a:t>
            </a:r>
            <a:endParaRPr lang="en-US" sz="900" dirty="0"/>
          </a:p>
        </p:txBody>
      </p:sp>
      <p:sp>
        <p:nvSpPr>
          <p:cNvPr id="4" name="Text 2"/>
          <p:cNvSpPr/>
          <p:nvPr/>
        </p:nvSpPr>
        <p:spPr>
          <a:xfrm>
            <a:off x="7772400" y="4800600"/>
            <a:ext cx="914400" cy="274320"/>
          </a:xfrm>
          <a:prstGeom prst="rect">
            <a:avLst/>
          </a:prstGeom>
          <a:noFill/>
          <a:ln/>
        </p:spPr>
        <p:txBody>
          <a:bodyPr wrap="square" lIns="0" tIns="0" rIns="0" bIns="0" rtlCol="0" anchor="ctr"/>
          <a:lstStyle/>
          <a:p>
            <a:pPr algn="r" indent="0" marL="0">
              <a:buNone/>
            </a:pPr>
            <a:r>
              <a:rPr lang="en-US" sz="1200" b="1" dirty="0">
                <a:solidFill>
                  <a:srgbClr val="0891B2"/>
                </a:solidFill>
                <a:latin typeface="Arial" pitchFamily="34" charset="0"/>
                <a:ea typeface="Arial" pitchFamily="34" charset="-122"/>
                <a:cs typeface="Arial" pitchFamily="34" charset="-120"/>
              </a:rPr>
              <a:t>MADT</a:t>
            </a:r>
            <a:endParaRPr lang="en-US" sz="1200" dirty="0"/>
          </a:p>
        </p:txBody>
      </p:sp>
      <p:sp>
        <p:nvSpPr>
          <p:cNvPr id="5" name="Text 3"/>
          <p:cNvSpPr/>
          <p:nvPr/>
        </p:nvSpPr>
        <p:spPr>
          <a:xfrm>
            <a:off x="640080" y="274320"/>
            <a:ext cx="7863840" cy="502920"/>
          </a:xfrm>
          <a:prstGeom prst="rect">
            <a:avLst/>
          </a:prstGeom>
          <a:noFill/>
          <a:ln/>
        </p:spPr>
        <p:txBody>
          <a:bodyPr wrap="square" lIns="0" tIns="0" rIns="0" bIns="0" rtlCol="0" anchor="ctr"/>
          <a:lstStyle/>
          <a:p>
            <a:pPr indent="0" marL="0">
              <a:buNone/>
            </a:pPr>
            <a:r>
              <a:rPr lang="en-US" sz="2800" b="1" dirty="0">
                <a:solidFill>
                  <a:srgbClr val="1F2937"/>
                </a:solidFill>
                <a:latin typeface="Arial" pitchFamily="34" charset="0"/>
                <a:ea typeface="Arial" pitchFamily="34" charset="-122"/>
                <a:cs typeface="Arial" pitchFamily="34" charset="-120"/>
              </a:rPr>
              <a:t>Three baselines worth knowing</a:t>
            </a:r>
            <a:endParaRPr lang="en-US" sz="2800" dirty="0"/>
          </a:p>
        </p:txBody>
      </p:sp>
      <p:sp>
        <p:nvSpPr>
          <p:cNvPr id="6" name="Text 4"/>
          <p:cNvSpPr/>
          <p:nvPr/>
        </p:nvSpPr>
        <p:spPr>
          <a:xfrm>
            <a:off x="640080" y="777240"/>
            <a:ext cx="7863840" cy="274320"/>
          </a:xfrm>
          <a:prstGeom prst="rect">
            <a:avLst/>
          </a:prstGeom>
          <a:noFill/>
          <a:ln/>
        </p:spPr>
        <p:txBody>
          <a:bodyPr wrap="square" lIns="0" tIns="0" rIns="0" bIns="0" rtlCol="0" anchor="ctr"/>
          <a:lstStyle/>
          <a:p>
            <a:pPr indent="0" marL="0">
              <a:buNone/>
            </a:pPr>
            <a:r>
              <a:rPr lang="en-US" sz="1300" i="1" dirty="0">
                <a:solidFill>
                  <a:srgbClr val="6B7280"/>
                </a:solidFill>
                <a:latin typeface="Arial" pitchFamily="34" charset="0"/>
                <a:ea typeface="Arial" pitchFamily="34" charset="-122"/>
                <a:cs typeface="Arial" pitchFamily="34" charset="-120"/>
              </a:rPr>
              <a:t>Always try the simple methods first.</a:t>
            </a:r>
            <a:endParaRPr lang="en-US" sz="1300" dirty="0"/>
          </a:p>
        </p:txBody>
      </p:sp>
      <p:sp>
        <p:nvSpPr>
          <p:cNvPr id="7" name="Shape 5"/>
          <p:cNvSpPr/>
          <p:nvPr/>
        </p:nvSpPr>
        <p:spPr>
          <a:xfrm>
            <a:off x="640080" y="1280160"/>
            <a:ext cx="2468880" cy="2926080"/>
          </a:xfrm>
          <a:prstGeom prst="rect">
            <a:avLst/>
          </a:prstGeom>
          <a:solidFill>
            <a:srgbClr val="F3F4F6"/>
          </a:solidFill>
          <a:ln w="6350">
            <a:solidFill>
              <a:srgbClr val="D1D5DB"/>
            </a:solidFill>
            <a:prstDash val="solid"/>
          </a:ln>
        </p:spPr>
      </p:sp>
      <p:sp>
        <p:nvSpPr>
          <p:cNvPr id="8" name="Shape 6"/>
          <p:cNvSpPr/>
          <p:nvPr/>
        </p:nvSpPr>
        <p:spPr>
          <a:xfrm>
            <a:off x="640080" y="1280160"/>
            <a:ext cx="2468880" cy="73152"/>
          </a:xfrm>
          <a:prstGeom prst="rect">
            <a:avLst/>
          </a:prstGeom>
          <a:solidFill>
            <a:srgbClr val="D97706"/>
          </a:solidFill>
          <a:ln/>
        </p:spPr>
      </p:sp>
      <p:sp>
        <p:nvSpPr>
          <p:cNvPr id="9" name="Text 7"/>
          <p:cNvSpPr/>
          <p:nvPr/>
        </p:nvSpPr>
        <p:spPr>
          <a:xfrm>
            <a:off x="777240" y="1417320"/>
            <a:ext cx="2194560" cy="365760"/>
          </a:xfrm>
          <a:prstGeom prst="rect">
            <a:avLst/>
          </a:prstGeom>
          <a:noFill/>
          <a:ln/>
        </p:spPr>
        <p:txBody>
          <a:bodyPr wrap="square" lIns="0" tIns="0" rIns="0" bIns="0" rtlCol="0" anchor="ctr"/>
          <a:lstStyle/>
          <a:p>
            <a:pPr indent="0" marL="0">
              <a:buNone/>
            </a:pPr>
            <a:r>
              <a:rPr lang="en-US" sz="1800" b="1" dirty="0">
                <a:solidFill>
                  <a:srgbClr val="1F2937"/>
                </a:solidFill>
                <a:latin typeface="Arial" pitchFamily="34" charset="0"/>
                <a:ea typeface="Arial" pitchFamily="34" charset="-122"/>
                <a:cs typeface="Arial" pitchFamily="34" charset="-120"/>
              </a:rPr>
              <a:t>Naive</a:t>
            </a:r>
            <a:endParaRPr lang="en-US" sz="1800" dirty="0"/>
          </a:p>
        </p:txBody>
      </p:sp>
      <p:sp>
        <p:nvSpPr>
          <p:cNvPr id="10" name="Text 8"/>
          <p:cNvSpPr/>
          <p:nvPr/>
        </p:nvSpPr>
        <p:spPr>
          <a:xfrm>
            <a:off x="777240" y="1783080"/>
            <a:ext cx="2194560" cy="365760"/>
          </a:xfrm>
          <a:prstGeom prst="rect">
            <a:avLst/>
          </a:prstGeom>
          <a:noFill/>
          <a:ln/>
        </p:spPr>
        <p:txBody>
          <a:bodyPr wrap="square" lIns="0" tIns="0" rIns="0" bIns="0" rtlCol="0" anchor="ctr"/>
          <a:lstStyle/>
          <a:p>
            <a:pPr indent="0" marL="0">
              <a:buNone/>
            </a:pPr>
            <a:r>
              <a:rPr lang="en-US" sz="1100" dirty="0">
                <a:solidFill>
                  <a:srgbClr val="D97706"/>
                </a:solidFill>
                <a:latin typeface="Consolas" pitchFamily="34" charset="0"/>
                <a:ea typeface="Consolas" pitchFamily="34" charset="-122"/>
                <a:cs typeface="Consolas" pitchFamily="34" charset="-120"/>
              </a:rPr>
              <a:t>y_hat = last value</a:t>
            </a:r>
            <a:endParaRPr lang="en-US" sz="1100" dirty="0"/>
          </a:p>
        </p:txBody>
      </p:sp>
      <p:sp>
        <p:nvSpPr>
          <p:cNvPr id="11" name="Text 9"/>
          <p:cNvSpPr/>
          <p:nvPr/>
        </p:nvSpPr>
        <p:spPr>
          <a:xfrm>
            <a:off x="777240" y="2194560"/>
            <a:ext cx="2194560" cy="1828800"/>
          </a:xfrm>
          <a:prstGeom prst="rect">
            <a:avLst/>
          </a:prstGeom>
          <a:noFill/>
          <a:ln/>
        </p:spPr>
        <p:txBody>
          <a:bodyPr wrap="square" lIns="0" tIns="0" rIns="0" bIns="0" rtlCol="0" anchor="t"/>
          <a:lstStyle/>
          <a:p>
            <a:pPr indent="0" marL="0">
              <a:buNone/>
            </a:pPr>
            <a:r>
              <a:rPr lang="en-US" sz="1100" dirty="0">
                <a:solidFill>
                  <a:srgbClr val="374151"/>
                </a:solidFill>
                <a:latin typeface="Arial" pitchFamily="34" charset="0"/>
                <a:ea typeface="Arial" pitchFamily="34" charset="-122"/>
                <a:cs typeface="Arial" pitchFamily="34" charset="-120"/>
              </a:rPr>
              <a:t>Predict tomorrow = today, forever. Useless? Almost. But it's the floor your fancy models must beat.</a:t>
            </a:r>
            <a:endParaRPr lang="en-US" sz="1100" dirty="0"/>
          </a:p>
        </p:txBody>
      </p:sp>
      <p:sp>
        <p:nvSpPr>
          <p:cNvPr id="12" name="Shape 10"/>
          <p:cNvSpPr/>
          <p:nvPr/>
        </p:nvSpPr>
        <p:spPr>
          <a:xfrm>
            <a:off x="3337560" y="1280160"/>
            <a:ext cx="2468880" cy="2926080"/>
          </a:xfrm>
          <a:prstGeom prst="rect">
            <a:avLst/>
          </a:prstGeom>
          <a:solidFill>
            <a:srgbClr val="F3F4F6"/>
          </a:solidFill>
          <a:ln w="6350">
            <a:solidFill>
              <a:srgbClr val="D1D5DB"/>
            </a:solidFill>
            <a:prstDash val="solid"/>
          </a:ln>
        </p:spPr>
      </p:sp>
      <p:sp>
        <p:nvSpPr>
          <p:cNvPr id="13" name="Shape 11"/>
          <p:cNvSpPr/>
          <p:nvPr/>
        </p:nvSpPr>
        <p:spPr>
          <a:xfrm>
            <a:off x="3337560" y="1280160"/>
            <a:ext cx="2468880" cy="73152"/>
          </a:xfrm>
          <a:prstGeom prst="rect">
            <a:avLst/>
          </a:prstGeom>
          <a:solidFill>
            <a:srgbClr val="0891B2"/>
          </a:solidFill>
          <a:ln/>
        </p:spPr>
      </p:sp>
      <p:sp>
        <p:nvSpPr>
          <p:cNvPr id="14" name="Text 12"/>
          <p:cNvSpPr/>
          <p:nvPr/>
        </p:nvSpPr>
        <p:spPr>
          <a:xfrm>
            <a:off x="3474720" y="1417320"/>
            <a:ext cx="2194560" cy="365760"/>
          </a:xfrm>
          <a:prstGeom prst="rect">
            <a:avLst/>
          </a:prstGeom>
          <a:noFill/>
          <a:ln/>
        </p:spPr>
        <p:txBody>
          <a:bodyPr wrap="square" lIns="0" tIns="0" rIns="0" bIns="0" rtlCol="0" anchor="ctr"/>
          <a:lstStyle/>
          <a:p>
            <a:pPr indent="0" marL="0">
              <a:buNone/>
            </a:pPr>
            <a:r>
              <a:rPr lang="en-US" sz="1800" b="1" dirty="0">
                <a:solidFill>
                  <a:srgbClr val="1F2937"/>
                </a:solidFill>
                <a:latin typeface="Arial" pitchFamily="34" charset="0"/>
                <a:ea typeface="Arial" pitchFamily="34" charset="-122"/>
                <a:cs typeface="Arial" pitchFamily="34" charset="-120"/>
              </a:rPr>
              <a:t>Seasonal Naive</a:t>
            </a:r>
            <a:endParaRPr lang="en-US" sz="1800" dirty="0"/>
          </a:p>
        </p:txBody>
      </p:sp>
      <p:sp>
        <p:nvSpPr>
          <p:cNvPr id="15" name="Text 13"/>
          <p:cNvSpPr/>
          <p:nvPr/>
        </p:nvSpPr>
        <p:spPr>
          <a:xfrm>
            <a:off x="3474720" y="1783080"/>
            <a:ext cx="2194560" cy="365760"/>
          </a:xfrm>
          <a:prstGeom prst="rect">
            <a:avLst/>
          </a:prstGeom>
          <a:noFill/>
          <a:ln/>
        </p:spPr>
        <p:txBody>
          <a:bodyPr wrap="square" lIns="0" tIns="0" rIns="0" bIns="0" rtlCol="0" anchor="ctr"/>
          <a:lstStyle/>
          <a:p>
            <a:pPr indent="0" marL="0">
              <a:buNone/>
            </a:pPr>
            <a:r>
              <a:rPr lang="en-US" sz="1100" dirty="0">
                <a:solidFill>
                  <a:srgbClr val="0891B2"/>
                </a:solidFill>
                <a:latin typeface="Consolas" pitchFamily="34" charset="0"/>
                <a:ea typeface="Consolas" pitchFamily="34" charset="-122"/>
                <a:cs typeface="Consolas" pitchFamily="34" charset="-120"/>
              </a:rPr>
              <a:t>y_hat[t+h] = y[t+h-7]</a:t>
            </a:r>
            <a:endParaRPr lang="en-US" sz="1100" dirty="0"/>
          </a:p>
        </p:txBody>
      </p:sp>
      <p:sp>
        <p:nvSpPr>
          <p:cNvPr id="16" name="Text 14"/>
          <p:cNvSpPr/>
          <p:nvPr/>
        </p:nvSpPr>
        <p:spPr>
          <a:xfrm>
            <a:off x="3474720" y="2194560"/>
            <a:ext cx="2194560" cy="1828800"/>
          </a:xfrm>
          <a:prstGeom prst="rect">
            <a:avLst/>
          </a:prstGeom>
          <a:noFill/>
          <a:ln/>
        </p:spPr>
        <p:txBody>
          <a:bodyPr wrap="square" lIns="0" tIns="0" rIns="0" bIns="0" rtlCol="0" anchor="t"/>
          <a:lstStyle/>
          <a:p>
            <a:pPr indent="0" marL="0">
              <a:buNone/>
            </a:pPr>
            <a:r>
              <a:rPr lang="en-US" sz="1100" dirty="0">
                <a:solidFill>
                  <a:srgbClr val="374151"/>
                </a:solidFill>
                <a:latin typeface="Arial" pitchFamily="34" charset="0"/>
                <a:ea typeface="Arial" pitchFamily="34" charset="-122"/>
                <a:cs typeface="Arial" pitchFamily="34" charset="-120"/>
              </a:rPr>
              <a:t>Predict same day-of-week from last week. Captures weekly seasonality — and surprisingly often wins.</a:t>
            </a:r>
            <a:endParaRPr lang="en-US" sz="1100" dirty="0"/>
          </a:p>
        </p:txBody>
      </p:sp>
      <p:sp>
        <p:nvSpPr>
          <p:cNvPr id="17" name="Shape 15"/>
          <p:cNvSpPr/>
          <p:nvPr/>
        </p:nvSpPr>
        <p:spPr>
          <a:xfrm>
            <a:off x="6035040" y="1280160"/>
            <a:ext cx="2468880" cy="2926080"/>
          </a:xfrm>
          <a:prstGeom prst="rect">
            <a:avLst/>
          </a:prstGeom>
          <a:solidFill>
            <a:srgbClr val="F3F4F6"/>
          </a:solidFill>
          <a:ln w="6350">
            <a:solidFill>
              <a:srgbClr val="D1D5DB"/>
            </a:solidFill>
            <a:prstDash val="solid"/>
          </a:ln>
        </p:spPr>
      </p:sp>
      <p:sp>
        <p:nvSpPr>
          <p:cNvPr id="18" name="Shape 16"/>
          <p:cNvSpPr/>
          <p:nvPr/>
        </p:nvSpPr>
        <p:spPr>
          <a:xfrm>
            <a:off x="6035040" y="1280160"/>
            <a:ext cx="2468880" cy="73152"/>
          </a:xfrm>
          <a:prstGeom prst="rect">
            <a:avLst/>
          </a:prstGeom>
          <a:solidFill>
            <a:srgbClr val="059669"/>
          </a:solidFill>
          <a:ln/>
        </p:spPr>
      </p:sp>
      <p:sp>
        <p:nvSpPr>
          <p:cNvPr id="19" name="Text 17"/>
          <p:cNvSpPr/>
          <p:nvPr/>
        </p:nvSpPr>
        <p:spPr>
          <a:xfrm>
            <a:off x="6172200" y="1417320"/>
            <a:ext cx="2194560" cy="365760"/>
          </a:xfrm>
          <a:prstGeom prst="rect">
            <a:avLst/>
          </a:prstGeom>
          <a:noFill/>
          <a:ln/>
        </p:spPr>
        <p:txBody>
          <a:bodyPr wrap="square" lIns="0" tIns="0" rIns="0" bIns="0" rtlCol="0" anchor="ctr"/>
          <a:lstStyle/>
          <a:p>
            <a:pPr indent="0" marL="0">
              <a:buNone/>
            </a:pPr>
            <a:r>
              <a:rPr lang="en-US" sz="1800" b="1" dirty="0">
                <a:solidFill>
                  <a:srgbClr val="1F2937"/>
                </a:solidFill>
                <a:latin typeface="Arial" pitchFamily="34" charset="0"/>
                <a:ea typeface="Arial" pitchFamily="34" charset="-122"/>
                <a:cs typeface="Arial" pitchFamily="34" charset="-120"/>
              </a:rPr>
              <a:t>Holt-Winters</a:t>
            </a:r>
            <a:endParaRPr lang="en-US" sz="1800" dirty="0"/>
          </a:p>
        </p:txBody>
      </p:sp>
      <p:sp>
        <p:nvSpPr>
          <p:cNvPr id="20" name="Text 18"/>
          <p:cNvSpPr/>
          <p:nvPr/>
        </p:nvSpPr>
        <p:spPr>
          <a:xfrm>
            <a:off x="6172200" y="1783080"/>
            <a:ext cx="2194560" cy="365760"/>
          </a:xfrm>
          <a:prstGeom prst="rect">
            <a:avLst/>
          </a:prstGeom>
          <a:noFill/>
          <a:ln/>
        </p:spPr>
        <p:txBody>
          <a:bodyPr wrap="square" lIns="0" tIns="0" rIns="0" bIns="0" rtlCol="0" anchor="ctr"/>
          <a:lstStyle/>
          <a:p>
            <a:pPr indent="0" marL="0">
              <a:buNone/>
            </a:pPr>
            <a:r>
              <a:rPr lang="en-US" sz="1100" dirty="0">
                <a:solidFill>
                  <a:srgbClr val="059669"/>
                </a:solidFill>
                <a:latin typeface="Consolas" pitchFamily="34" charset="0"/>
                <a:ea typeface="Consolas" pitchFamily="34" charset="-122"/>
                <a:cs typeface="Consolas" pitchFamily="34" charset="-120"/>
              </a:rPr>
              <a:t>trend + weekly seasonality, exponentially smoothed</a:t>
            </a:r>
            <a:endParaRPr lang="en-US" sz="1100" dirty="0"/>
          </a:p>
        </p:txBody>
      </p:sp>
      <p:sp>
        <p:nvSpPr>
          <p:cNvPr id="21" name="Text 19"/>
          <p:cNvSpPr/>
          <p:nvPr/>
        </p:nvSpPr>
        <p:spPr>
          <a:xfrm>
            <a:off x="6172200" y="2194560"/>
            <a:ext cx="2194560" cy="1828800"/>
          </a:xfrm>
          <a:prstGeom prst="rect">
            <a:avLst/>
          </a:prstGeom>
          <a:noFill/>
          <a:ln/>
        </p:spPr>
        <p:txBody>
          <a:bodyPr wrap="square" lIns="0" tIns="0" rIns="0" bIns="0" rtlCol="0" anchor="t"/>
          <a:lstStyle/>
          <a:p>
            <a:pPr indent="0" marL="0">
              <a:buNone/>
            </a:pPr>
            <a:r>
              <a:rPr lang="en-US" sz="1100" dirty="0">
                <a:solidFill>
                  <a:srgbClr val="374151"/>
                </a:solidFill>
                <a:latin typeface="Arial" pitchFamily="34" charset="0"/>
                <a:ea typeface="Arial" pitchFamily="34" charset="-122"/>
                <a:cs typeface="Arial" pitchFamily="34" charset="-120"/>
              </a:rPr>
              <a:t>Adds level + trend + seasonal components. Earns its keep when SKUs have real upward/downward trends.</a:t>
            </a:r>
            <a:endParaRPr lang="en-US" sz="1100" dirty="0"/>
          </a:p>
        </p:txBody>
      </p:sp>
      <p:sp>
        <p:nvSpPr>
          <p:cNvPr id="22" name="Shape 20"/>
          <p:cNvSpPr/>
          <p:nvPr/>
        </p:nvSpPr>
        <p:spPr>
          <a:xfrm>
            <a:off x="640080" y="4343400"/>
            <a:ext cx="7863840" cy="365760"/>
          </a:xfrm>
          <a:prstGeom prst="rect">
            <a:avLst/>
          </a:prstGeom>
          <a:solidFill>
            <a:srgbClr val="E0F7FA"/>
          </a:solidFill>
          <a:ln w="12700">
            <a:solidFill>
              <a:srgbClr val="0891B2"/>
            </a:solidFill>
            <a:prstDash val="solid"/>
          </a:ln>
        </p:spPr>
      </p:sp>
      <p:sp>
        <p:nvSpPr>
          <p:cNvPr id="23" name="Text 21"/>
          <p:cNvSpPr/>
          <p:nvPr/>
        </p:nvSpPr>
        <p:spPr>
          <a:xfrm>
            <a:off x="822960" y="4434840"/>
            <a:ext cx="7498080" cy="182880"/>
          </a:xfrm>
          <a:prstGeom prst="rect">
            <a:avLst/>
          </a:prstGeom>
          <a:noFill/>
          <a:ln/>
        </p:spPr>
        <p:txBody>
          <a:bodyPr wrap="square" lIns="0" tIns="0" rIns="0" bIns="0" rtlCol="0" anchor="ctr"/>
          <a:lstStyle/>
          <a:p>
            <a:pPr indent="0" marL="0">
              <a:buNone/>
            </a:pPr>
            <a:r>
              <a:rPr lang="en-US" sz="1200" i="1" dirty="0">
                <a:solidFill>
                  <a:srgbClr val="1F2937"/>
                </a:solidFill>
                <a:latin typeface="Arial" pitchFamily="34" charset="0"/>
                <a:ea typeface="Arial" pitchFamily="34" charset="-122"/>
                <a:cs typeface="Arial" pitchFamily="34" charset="-120"/>
              </a:rPr>
              <a:t>RMSE is sensitive to large errors. If your business cares about steady misses, switch to MAE. The metric is a business choice, not a default.</a:t>
            </a:r>
            <a:endParaRPr lang="en-US" sz="12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9144000" cy="45720"/>
          </a:xfrm>
          <a:prstGeom prst="rect">
            <a:avLst/>
          </a:prstGeom>
          <a:solidFill>
            <a:srgbClr val="0891B2"/>
          </a:solidFill>
          <a:ln/>
        </p:spPr>
      </p:sp>
      <p:sp>
        <p:nvSpPr>
          <p:cNvPr id="3" name="Text 1"/>
          <p:cNvSpPr/>
          <p:nvPr/>
        </p:nvSpPr>
        <p:spPr>
          <a:xfrm>
            <a:off x="640080" y="4828032"/>
            <a:ext cx="5486400" cy="228600"/>
          </a:xfrm>
          <a:prstGeom prst="rect">
            <a:avLst/>
          </a:prstGeom>
          <a:noFill/>
          <a:ln/>
        </p:spPr>
        <p:txBody>
          <a:bodyPr wrap="square" lIns="0" tIns="0" rIns="0" bIns="0" rtlCol="0" anchor="ctr"/>
          <a:lstStyle/>
          <a:p>
            <a:pPr indent="0" marL="0">
              <a:buNone/>
            </a:pPr>
            <a:r>
              <a:rPr lang="en-US" sz="900" dirty="0">
                <a:solidFill>
                  <a:srgbClr val="9CA3AF"/>
                </a:solidFill>
                <a:latin typeface="Arial" pitchFamily="34" charset="0"/>
                <a:ea typeface="Arial" pitchFamily="34" charset="-122"/>
                <a:cs typeface="Arial" pitchFamily="34" charset="-120"/>
              </a:rPr>
              <a:t>NIDA  |  MADT6004  |  Module 2 — evaluation</a:t>
            </a:r>
            <a:endParaRPr lang="en-US" sz="900" dirty="0"/>
          </a:p>
        </p:txBody>
      </p:sp>
      <p:sp>
        <p:nvSpPr>
          <p:cNvPr id="4" name="Text 2"/>
          <p:cNvSpPr/>
          <p:nvPr/>
        </p:nvSpPr>
        <p:spPr>
          <a:xfrm>
            <a:off x="7772400" y="4800600"/>
            <a:ext cx="914400" cy="274320"/>
          </a:xfrm>
          <a:prstGeom prst="rect">
            <a:avLst/>
          </a:prstGeom>
          <a:noFill/>
          <a:ln/>
        </p:spPr>
        <p:txBody>
          <a:bodyPr wrap="square" lIns="0" tIns="0" rIns="0" bIns="0" rtlCol="0" anchor="ctr"/>
          <a:lstStyle/>
          <a:p>
            <a:pPr algn="r" indent="0" marL="0">
              <a:buNone/>
            </a:pPr>
            <a:r>
              <a:rPr lang="en-US" sz="1200" b="1" dirty="0">
                <a:solidFill>
                  <a:srgbClr val="0891B2"/>
                </a:solidFill>
                <a:latin typeface="Arial" pitchFamily="34" charset="0"/>
                <a:ea typeface="Arial" pitchFamily="34" charset="-122"/>
                <a:cs typeface="Arial" pitchFamily="34" charset="-120"/>
              </a:rPr>
              <a:t>MADT</a:t>
            </a:r>
            <a:endParaRPr lang="en-US" sz="1200" dirty="0"/>
          </a:p>
        </p:txBody>
      </p:sp>
      <p:sp>
        <p:nvSpPr>
          <p:cNvPr id="5" name="Text 3"/>
          <p:cNvSpPr/>
          <p:nvPr/>
        </p:nvSpPr>
        <p:spPr>
          <a:xfrm>
            <a:off x="640080" y="274320"/>
            <a:ext cx="7863840" cy="502920"/>
          </a:xfrm>
          <a:prstGeom prst="rect">
            <a:avLst/>
          </a:prstGeom>
          <a:noFill/>
          <a:ln/>
        </p:spPr>
        <p:txBody>
          <a:bodyPr wrap="square" lIns="0" tIns="0" rIns="0" bIns="0" rtlCol="0" anchor="ctr"/>
          <a:lstStyle/>
          <a:p>
            <a:pPr indent="0" marL="0">
              <a:buNone/>
            </a:pPr>
            <a:r>
              <a:rPr lang="en-US" sz="2800" b="1" dirty="0">
                <a:solidFill>
                  <a:srgbClr val="1F2937"/>
                </a:solidFill>
                <a:latin typeface="Arial" pitchFamily="34" charset="0"/>
                <a:ea typeface="Arial" pitchFamily="34" charset="-122"/>
                <a:cs typeface="Arial" pitchFamily="34" charset="-120"/>
              </a:rPr>
              <a:t>Loop, evaluate, pick the winner per series</a:t>
            </a:r>
            <a:endParaRPr lang="en-US" sz="2800" dirty="0"/>
          </a:p>
        </p:txBody>
      </p:sp>
      <p:sp>
        <p:nvSpPr>
          <p:cNvPr id="6" name="Text 4"/>
          <p:cNvSpPr/>
          <p:nvPr/>
        </p:nvSpPr>
        <p:spPr>
          <a:xfrm>
            <a:off x="640080" y="777240"/>
            <a:ext cx="7863840" cy="274320"/>
          </a:xfrm>
          <a:prstGeom prst="rect">
            <a:avLst/>
          </a:prstGeom>
          <a:noFill/>
          <a:ln/>
        </p:spPr>
        <p:txBody>
          <a:bodyPr wrap="square" lIns="0" tIns="0" rIns="0" bIns="0" rtlCol="0" anchor="ctr"/>
          <a:lstStyle/>
          <a:p>
            <a:pPr indent="0" marL="0">
              <a:buNone/>
            </a:pPr>
            <a:r>
              <a:rPr lang="en-US" sz="1300" i="1" dirty="0">
                <a:solidFill>
                  <a:srgbClr val="6B7280"/>
                </a:solidFill>
                <a:latin typeface="Arial" pitchFamily="34" charset="0"/>
                <a:ea typeface="Arial" pitchFamily="34" charset="-122"/>
                <a:cs typeface="Arial" pitchFamily="34" charset="-120"/>
              </a:rPr>
              <a:t>60 series × 3 methods = 180 evaluations. Best method varies by SKU.</a:t>
            </a:r>
            <a:endParaRPr lang="en-US" sz="1300" dirty="0"/>
          </a:p>
        </p:txBody>
      </p:sp>
      <p:sp>
        <p:nvSpPr>
          <p:cNvPr id="7" name="Shape 5"/>
          <p:cNvSpPr/>
          <p:nvPr/>
        </p:nvSpPr>
        <p:spPr>
          <a:xfrm>
            <a:off x="640080" y="1188720"/>
            <a:ext cx="7863840" cy="2377440"/>
          </a:xfrm>
          <a:prstGeom prst="rect">
            <a:avLst/>
          </a:prstGeom>
          <a:solidFill>
            <a:srgbClr val="F3F4F6"/>
          </a:solidFill>
          <a:ln w="6350">
            <a:solidFill>
              <a:srgbClr val="D1D5DB"/>
            </a:solidFill>
            <a:prstDash val="solid"/>
          </a:ln>
        </p:spPr>
      </p:sp>
      <p:sp>
        <p:nvSpPr>
          <p:cNvPr id="8" name="Text 6"/>
          <p:cNvSpPr/>
          <p:nvPr/>
        </p:nvSpPr>
        <p:spPr>
          <a:xfrm>
            <a:off x="777240" y="1280160"/>
            <a:ext cx="7589520" cy="2194560"/>
          </a:xfrm>
          <a:prstGeom prst="rect">
            <a:avLst/>
          </a:prstGeom>
          <a:noFill/>
          <a:ln/>
        </p:spPr>
        <p:txBody>
          <a:bodyPr wrap="square" lIns="0" tIns="0" rIns="0" bIns="0" rtlCol="0" anchor="t"/>
          <a:lstStyle/>
          <a:p>
            <a:pPr indent="0" marL="0">
              <a:buNone/>
            </a:pPr>
            <a:r>
              <a:rPr lang="en-US" sz="1100" dirty="0">
                <a:solidFill>
                  <a:srgbClr val="374151"/>
                </a:solidFill>
                <a:latin typeface="Consolas" pitchFamily="34" charset="0"/>
                <a:ea typeface="Consolas" pitchFamily="34" charset="-122"/>
                <a:cs typeface="Consolas" pitchFamily="34" charset="-120"/>
              </a:rPr>
              <a:t>for sku in target_skus:</a:t>
            </a:r>
            <a:endParaRPr lang="en-US" sz="1100" dirty="0"/>
          </a:p>
          <a:p>
            <a:pPr indent="0" marL="0">
              <a:buNone/>
            </a:pPr>
            <a:r>
              <a:rPr lang="en-US" sz="1100" dirty="0">
                <a:solidFill>
                  <a:srgbClr val="374151"/>
                </a:solidFill>
                <a:latin typeface="Consolas" pitchFamily="34" charset="0"/>
                <a:ea typeface="Consolas" pitchFamily="34" charset="-122"/>
                <a:cs typeface="Consolas" pitchFamily="34" charset="-120"/>
              </a:rPr>
              <a:t>    for br in target_branches:</a:t>
            </a:r>
            <a:endParaRPr lang="en-US" sz="1100" dirty="0"/>
          </a:p>
          <a:p>
            <a:pPr indent="0" marL="0">
              <a:buNone/>
            </a:pPr>
            <a:r>
              <a:rPr lang="en-US" sz="1100" dirty="0">
                <a:solidFill>
                  <a:srgbClr val="374151"/>
                </a:solidFill>
                <a:latin typeface="Consolas" pitchFamily="34" charset="0"/>
                <a:ea typeface="Consolas" pitchFamily="34" charset="-122"/>
                <a:cs typeface="Consolas" pitchFamily="34" charset="-120"/>
              </a:rPr>
              <a:t>        s = make_series(daily, sku, br)</a:t>
            </a:r>
            <a:endParaRPr lang="en-US" sz="1100" dirty="0"/>
          </a:p>
          <a:p>
            <a:pPr indent="0" marL="0">
              <a:buNone/>
            </a:pPr>
            <a:r>
              <a:rPr lang="en-US" sz="1100" dirty="0">
                <a:solidFill>
                  <a:srgbClr val="374151"/>
                </a:solidFill>
                <a:latin typeface="Consolas" pitchFamily="34" charset="0"/>
                <a:ea typeface="Consolas" pitchFamily="34" charset="-122"/>
                <a:cs typeface="Consolas" pitchFamily="34" charset="-120"/>
              </a:rPr>
              <a:t>        train, test = s[:-14], s[-14:]</a:t>
            </a:r>
            <a:endParaRPr lang="en-US" sz="1100" dirty="0"/>
          </a:p>
          <a:p>
            <a:pPr indent="0" marL="0">
              <a:buNone/>
            </a:pPr>
            <a:r>
              <a:rPr lang="en-US" sz="1100" dirty="0">
                <a:solidFill>
                  <a:srgbClr val="374151"/>
                </a:solidFill>
                <a:latin typeface="Consolas" pitchFamily="34" charset="0"/>
                <a:ea typeface="Consolas" pitchFamily="34" charset="-122"/>
                <a:cs typeface="Consolas" pitchFamily="34" charset="-120"/>
              </a:rPr>
              <a:t>        for method, fn in {"naive": forecast_naive,</a:t>
            </a:r>
            <a:endParaRPr lang="en-US" sz="1100" dirty="0"/>
          </a:p>
          <a:p>
            <a:pPr indent="0" marL="0">
              <a:buNone/>
            </a:pPr>
            <a:r>
              <a:rPr lang="en-US" sz="1100" dirty="0">
                <a:solidFill>
                  <a:srgbClr val="374151"/>
                </a:solidFill>
                <a:latin typeface="Consolas" pitchFamily="34" charset="0"/>
                <a:ea typeface="Consolas" pitchFamily="34" charset="-122"/>
                <a:cs typeface="Consolas" pitchFamily="34" charset="-120"/>
              </a:rPr>
              <a:t>                           "seasonal_naive": forecast_seasonal_naive,</a:t>
            </a:r>
            <a:endParaRPr lang="en-US" sz="1100" dirty="0"/>
          </a:p>
          <a:p>
            <a:pPr indent="0" marL="0">
              <a:buNone/>
            </a:pPr>
            <a:r>
              <a:rPr lang="en-US" sz="1100" dirty="0">
                <a:solidFill>
                  <a:srgbClr val="374151"/>
                </a:solidFill>
                <a:latin typeface="Consolas" pitchFamily="34" charset="0"/>
                <a:ea typeface="Consolas" pitchFamily="34" charset="-122"/>
                <a:cs typeface="Consolas" pitchFamily="34" charset="-120"/>
              </a:rPr>
              <a:t>                           "holt_winters": forecast_holt_winters}.items():</a:t>
            </a:r>
            <a:endParaRPr lang="en-US" sz="1100" dirty="0"/>
          </a:p>
          <a:p>
            <a:pPr indent="0" marL="0">
              <a:buNone/>
            </a:pPr>
            <a:r>
              <a:rPr lang="en-US" sz="1100" dirty="0">
                <a:solidFill>
                  <a:srgbClr val="374151"/>
                </a:solidFill>
                <a:latin typeface="Consolas" pitchFamily="34" charset="0"/>
                <a:ea typeface="Consolas" pitchFamily="34" charset="-122"/>
                <a:cs typeface="Consolas" pitchFamily="34" charset="-120"/>
              </a:rPr>
              <a:t>            pred = fn(train, 14)</a:t>
            </a:r>
            <a:endParaRPr lang="en-US" sz="1100" dirty="0"/>
          </a:p>
          <a:p>
            <a:pPr indent="0" marL="0">
              <a:buNone/>
            </a:pPr>
            <a:r>
              <a:rPr lang="en-US" sz="1100" dirty="0">
                <a:solidFill>
                  <a:srgbClr val="374151"/>
                </a:solidFill>
                <a:latin typeface="Consolas" pitchFamily="34" charset="0"/>
                <a:ea typeface="Consolas" pitchFamily="34" charset="-122"/>
                <a:cs typeface="Consolas" pitchFamily="34" charset="-120"/>
              </a:rPr>
              <a:t>            records.append({"sku": sku, "branch": br, "method": method,</a:t>
            </a:r>
            <a:endParaRPr lang="en-US" sz="1100" dirty="0"/>
          </a:p>
          <a:p>
            <a:pPr indent="0" marL="0">
              <a:buNone/>
            </a:pPr>
            <a:r>
              <a:rPr lang="en-US" sz="1100" dirty="0">
                <a:solidFill>
                  <a:srgbClr val="374151"/>
                </a:solidFill>
                <a:latin typeface="Consolas" pitchFamily="34" charset="0"/>
                <a:ea typeface="Consolas" pitchFamily="34" charset="-122"/>
                <a:cs typeface="Consolas" pitchFamily="34" charset="-120"/>
              </a:rPr>
              <a:t>                            "rmse": rmse(test, pred)})</a:t>
            </a:r>
            <a:endParaRPr lang="en-US" sz="1100" dirty="0"/>
          </a:p>
        </p:txBody>
      </p:sp>
      <p:sp>
        <p:nvSpPr>
          <p:cNvPr id="9" name="Text 7"/>
          <p:cNvSpPr/>
          <p:nvPr/>
        </p:nvSpPr>
        <p:spPr>
          <a:xfrm>
            <a:off x="640080" y="3703320"/>
            <a:ext cx="7863840" cy="274320"/>
          </a:xfrm>
          <a:prstGeom prst="rect">
            <a:avLst/>
          </a:prstGeom>
          <a:noFill/>
          <a:ln/>
        </p:spPr>
        <p:txBody>
          <a:bodyPr wrap="square" lIns="0" tIns="0" rIns="0" bIns="0" rtlCol="0" anchor="ctr"/>
          <a:lstStyle/>
          <a:p>
            <a:pPr indent="0" marL="0">
              <a:buNone/>
            </a:pPr>
            <a:r>
              <a:rPr lang="en-US" sz="1300" b="1" dirty="0">
                <a:solidFill>
                  <a:srgbClr val="1F2937"/>
                </a:solidFill>
                <a:latin typeface="Arial" pitchFamily="34" charset="0"/>
                <a:ea typeface="Arial" pitchFamily="34" charset="-122"/>
                <a:cs typeface="Arial" pitchFamily="34" charset="-120"/>
              </a:rPr>
              <a:t>What to look for in the results:</a:t>
            </a:r>
            <a:endParaRPr lang="en-US" sz="1300" dirty="0"/>
          </a:p>
        </p:txBody>
      </p:sp>
      <p:sp>
        <p:nvSpPr>
          <p:cNvPr id="10" name="Text 8"/>
          <p:cNvSpPr/>
          <p:nvPr/>
        </p:nvSpPr>
        <p:spPr>
          <a:xfrm>
            <a:off x="640080" y="4023360"/>
            <a:ext cx="7863840" cy="822960"/>
          </a:xfrm>
          <a:prstGeom prst="rect">
            <a:avLst/>
          </a:prstGeom>
          <a:noFill/>
          <a:ln/>
        </p:spPr>
        <p:txBody>
          <a:bodyPr wrap="square" lIns="0" tIns="0" rIns="0" bIns="0" rtlCol="0" anchor="t"/>
          <a:lstStyle/>
          <a:p>
            <a:pPr indent="0" marL="0">
              <a:buNone/>
            </a:pPr>
            <a:r>
              <a:rPr lang="en-US" sz="1100" b="1" dirty="0">
                <a:solidFill>
                  <a:srgbClr val="0891B2"/>
                </a:solidFill>
                <a:latin typeface="Arial" pitchFamily="34" charset="0"/>
                <a:ea typeface="Arial" pitchFamily="34" charset="-122"/>
                <a:cs typeface="Arial" pitchFamily="34" charset="-120"/>
              </a:rPr>
              <a:t>•  </a:t>
            </a:r>
            <a:pPr indent="0" marL="0">
              <a:buNone/>
            </a:pPr>
            <a:r>
              <a:rPr lang="en-US" sz="1100" dirty="0">
                <a:solidFill>
                  <a:srgbClr val="374151"/>
                </a:solidFill>
                <a:latin typeface="Arial" pitchFamily="34" charset="0"/>
                <a:ea typeface="Arial" pitchFamily="34" charset="-122"/>
                <a:cs typeface="Arial" pitchFamily="34" charset="-120"/>
              </a:rPr>
              <a:t>Seasonal naive often wins on small SKUs (low volume = noise dominates).
</a:t>
            </a:r>
            <a:pPr indent="0" marL="0">
              <a:buNone/>
            </a:pPr>
            <a:r>
              <a:rPr lang="en-US" sz="1100" b="1" dirty="0">
                <a:solidFill>
                  <a:srgbClr val="0891B2"/>
                </a:solidFill>
                <a:latin typeface="Arial" pitchFamily="34" charset="0"/>
                <a:ea typeface="Arial" pitchFamily="34" charset="-122"/>
                <a:cs typeface="Arial" pitchFamily="34" charset="-120"/>
              </a:rPr>
              <a:t>•  </a:t>
            </a:r>
            <a:pPr indent="0" marL="0">
              <a:buNone/>
            </a:pPr>
            <a:r>
              <a:rPr lang="en-US" sz="1100" dirty="0">
                <a:solidFill>
                  <a:srgbClr val="374151"/>
                </a:solidFill>
                <a:latin typeface="Arial" pitchFamily="34" charset="0"/>
                <a:ea typeface="Arial" pitchFamily="34" charset="-122"/>
                <a:cs typeface="Arial" pitchFamily="34" charset="-120"/>
              </a:rPr>
              <a:t>Holt-Winters wins on high-volume SKUs with clear trend (e.g., Latte at Asoke).
</a:t>
            </a:r>
            <a:pPr indent="0" marL="0">
              <a:buNone/>
            </a:pPr>
            <a:r>
              <a:rPr lang="en-US" sz="1100" b="1" dirty="0">
                <a:solidFill>
                  <a:srgbClr val="0891B2"/>
                </a:solidFill>
                <a:latin typeface="Arial" pitchFamily="34" charset="0"/>
                <a:ea typeface="Arial" pitchFamily="34" charset="-122"/>
                <a:cs typeface="Arial" pitchFamily="34" charset="-120"/>
              </a:rPr>
              <a:t>•  </a:t>
            </a:r>
            <a:pPr indent="0" marL="0">
              <a:buNone/>
            </a:pPr>
            <a:r>
              <a:rPr lang="en-US" sz="1100" dirty="0">
                <a:solidFill>
                  <a:srgbClr val="374151"/>
                </a:solidFill>
                <a:latin typeface="Arial" pitchFamily="34" charset="0"/>
                <a:ea typeface="Arial" pitchFamily="34" charset="-122"/>
                <a:cs typeface="Arial" pitchFamily="34" charset="-120"/>
              </a:rPr>
              <a:t>The heatmap of best-method RMSE is the operational artifact.
</a:t>
            </a:r>
            <a:endParaRPr lang="en-US" sz="11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1F2937"/>
        </a:solidFill>
      </p:bgPr>
    </p:bg>
    <p:spTree>
      <p:nvGrpSpPr>
        <p:cNvPr id="1" name=""/>
        <p:cNvGrpSpPr/>
        <p:nvPr/>
      </p:nvGrpSpPr>
      <p:grpSpPr>
        <a:xfrm>
          <a:off x="0" y="0"/>
          <a:ext cx="0" cy="0"/>
          <a:chOff x="0" y="0"/>
          <a:chExt cx="0" cy="0"/>
        </a:xfrm>
      </p:grpSpPr>
      <p:sp>
        <p:nvSpPr>
          <p:cNvPr id="2" name="Shape 0"/>
          <p:cNvSpPr/>
          <p:nvPr/>
        </p:nvSpPr>
        <p:spPr>
          <a:xfrm>
            <a:off x="0" y="0"/>
            <a:ext cx="9144000" cy="45720"/>
          </a:xfrm>
          <a:prstGeom prst="rect">
            <a:avLst/>
          </a:prstGeom>
          <a:solidFill>
            <a:srgbClr val="0891B2"/>
          </a:solidFill>
          <a:ln/>
        </p:spPr>
      </p:sp>
      <p:sp>
        <p:nvSpPr>
          <p:cNvPr id="3" name="Text 1"/>
          <p:cNvSpPr/>
          <p:nvPr/>
        </p:nvSpPr>
        <p:spPr>
          <a:xfrm>
            <a:off x="640080" y="1188720"/>
            <a:ext cx="2286000" cy="1280160"/>
          </a:xfrm>
          <a:prstGeom prst="rect">
            <a:avLst/>
          </a:prstGeom>
          <a:noFill/>
          <a:ln/>
        </p:spPr>
        <p:txBody>
          <a:bodyPr wrap="square" lIns="0" tIns="0" rIns="0" bIns="0" rtlCol="0" anchor="ctr"/>
          <a:lstStyle/>
          <a:p>
            <a:pPr indent="0" marL="0">
              <a:buNone/>
            </a:pPr>
            <a:r>
              <a:rPr lang="en-US" sz="8000" b="1" dirty="0">
                <a:solidFill>
                  <a:srgbClr val="0891B2"/>
                </a:solidFill>
                <a:latin typeface="Arial" pitchFamily="34" charset="0"/>
                <a:ea typeface="Arial" pitchFamily="34" charset="-122"/>
                <a:cs typeface="Arial" pitchFamily="34" charset="-120"/>
              </a:rPr>
              <a:t>03</a:t>
            </a:r>
            <a:endParaRPr lang="en-US" sz="8000" dirty="0"/>
          </a:p>
        </p:txBody>
      </p:sp>
      <p:sp>
        <p:nvSpPr>
          <p:cNvPr id="4" name="Shape 2"/>
          <p:cNvSpPr/>
          <p:nvPr/>
        </p:nvSpPr>
        <p:spPr>
          <a:xfrm>
            <a:off x="640080" y="2606040"/>
            <a:ext cx="3200400" cy="0"/>
          </a:xfrm>
          <a:prstGeom prst="line">
            <a:avLst/>
          </a:prstGeom>
          <a:noFill/>
          <a:ln w="31750">
            <a:solidFill>
              <a:srgbClr val="0891B2"/>
            </a:solidFill>
            <a:prstDash val="solid"/>
          </a:ln>
        </p:spPr>
      </p:sp>
      <p:sp>
        <p:nvSpPr>
          <p:cNvPr id="5" name="Text 3"/>
          <p:cNvSpPr/>
          <p:nvPr/>
        </p:nvSpPr>
        <p:spPr>
          <a:xfrm>
            <a:off x="640080" y="2788920"/>
            <a:ext cx="7863840" cy="640080"/>
          </a:xfrm>
          <a:prstGeom prst="rect">
            <a:avLst/>
          </a:prstGeom>
          <a:noFill/>
          <a:ln/>
        </p:spPr>
        <p:txBody>
          <a:bodyPr wrap="square" lIns="0" tIns="0" rIns="0" bIns="0" rtlCol="0" anchor="ctr"/>
          <a:lstStyle/>
          <a:p>
            <a:pPr indent="0" marL="0">
              <a:buNone/>
            </a:pPr>
            <a:r>
              <a:rPr lang="en-US" sz="3600" b="1" dirty="0">
                <a:solidFill>
                  <a:srgbClr val="FFFFFF"/>
                </a:solidFill>
                <a:latin typeface="Arial" pitchFamily="34" charset="0"/>
                <a:ea typeface="Arial" pitchFamily="34" charset="-122"/>
                <a:cs typeface="Arial" pitchFamily="34" charset="-120"/>
              </a:rPr>
              <a:t>Predict</a:t>
            </a:r>
            <a:endParaRPr lang="en-US" sz="3600" dirty="0"/>
          </a:p>
        </p:txBody>
      </p:sp>
      <p:sp>
        <p:nvSpPr>
          <p:cNvPr id="6" name="Text 4"/>
          <p:cNvSpPr/>
          <p:nvPr/>
        </p:nvSpPr>
        <p:spPr>
          <a:xfrm>
            <a:off x="640080" y="3520440"/>
            <a:ext cx="7863840" cy="457200"/>
          </a:xfrm>
          <a:prstGeom prst="rect">
            <a:avLst/>
          </a:prstGeom>
          <a:noFill/>
          <a:ln/>
        </p:spPr>
        <p:txBody>
          <a:bodyPr wrap="square" lIns="0" tIns="0" rIns="0" bIns="0" rtlCol="0" anchor="ctr"/>
          <a:lstStyle/>
          <a:p>
            <a:pPr indent="0" marL="0">
              <a:buNone/>
            </a:pPr>
            <a:r>
              <a:rPr lang="en-US" sz="1600" i="1" dirty="0">
                <a:solidFill>
                  <a:srgbClr val="9CA3AF"/>
                </a:solidFill>
                <a:latin typeface="Arial" pitchFamily="34" charset="0"/>
                <a:ea typeface="Arial" pitchFamily="34" charset="-122"/>
                <a:cs typeface="Arial" pitchFamily="34" charset="-120"/>
              </a:rPr>
              <a:t>Who will respond to the comeback voucher?</a:t>
            </a:r>
            <a:endParaRPr lang="en-US" sz="1600" dirty="0"/>
          </a:p>
        </p:txBody>
      </p:sp>
      <p:sp>
        <p:nvSpPr>
          <p:cNvPr id="7" name="Text 5"/>
          <p:cNvSpPr/>
          <p:nvPr/>
        </p:nvSpPr>
        <p:spPr>
          <a:xfrm>
            <a:off x="7680960" y="228600"/>
            <a:ext cx="1097280" cy="365760"/>
          </a:xfrm>
          <a:prstGeom prst="rect">
            <a:avLst/>
          </a:prstGeom>
          <a:noFill/>
          <a:ln/>
        </p:spPr>
        <p:txBody>
          <a:bodyPr wrap="square" rtlCol="0" anchor="ctr"/>
          <a:lstStyle/>
          <a:p>
            <a:pPr algn="r" indent="0" marL="0">
              <a:buNone/>
            </a:pPr>
            <a:r>
              <a:rPr lang="en-US" sz="1300" b="1" dirty="0">
                <a:solidFill>
                  <a:srgbClr val="0891B2"/>
                </a:solidFill>
                <a:latin typeface="Arial" pitchFamily="34" charset="0"/>
                <a:ea typeface="Arial" pitchFamily="34" charset="-122"/>
                <a:cs typeface="Arial" pitchFamily="34" charset="-120"/>
              </a:rPr>
              <a:t>MADT</a:t>
            </a:r>
            <a:endParaRPr lang="en-US" sz="13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9144000" cy="45720"/>
          </a:xfrm>
          <a:prstGeom prst="rect">
            <a:avLst/>
          </a:prstGeom>
          <a:solidFill>
            <a:srgbClr val="0891B2"/>
          </a:solidFill>
          <a:ln/>
        </p:spPr>
      </p:sp>
      <p:sp>
        <p:nvSpPr>
          <p:cNvPr id="3" name="Text 1"/>
          <p:cNvSpPr/>
          <p:nvPr/>
        </p:nvSpPr>
        <p:spPr>
          <a:xfrm>
            <a:off x="640080" y="4828032"/>
            <a:ext cx="5486400" cy="228600"/>
          </a:xfrm>
          <a:prstGeom prst="rect">
            <a:avLst/>
          </a:prstGeom>
          <a:noFill/>
          <a:ln/>
        </p:spPr>
        <p:txBody>
          <a:bodyPr wrap="square" lIns="0" tIns="0" rIns="0" bIns="0" rtlCol="0" anchor="ctr"/>
          <a:lstStyle/>
          <a:p>
            <a:pPr indent="0" marL="0">
              <a:buNone/>
            </a:pPr>
            <a:r>
              <a:rPr lang="en-US" sz="900" dirty="0">
                <a:solidFill>
                  <a:srgbClr val="9CA3AF"/>
                </a:solidFill>
                <a:latin typeface="Arial" pitchFamily="34" charset="0"/>
                <a:ea typeface="Arial" pitchFamily="34" charset="-122"/>
                <a:cs typeface="Arial" pitchFamily="34" charset="-120"/>
              </a:rPr>
              <a:t>NIDA  |  MADT6004  |  Module 3 — imbalance</a:t>
            </a:r>
            <a:endParaRPr lang="en-US" sz="900" dirty="0"/>
          </a:p>
        </p:txBody>
      </p:sp>
      <p:sp>
        <p:nvSpPr>
          <p:cNvPr id="4" name="Text 2"/>
          <p:cNvSpPr/>
          <p:nvPr/>
        </p:nvSpPr>
        <p:spPr>
          <a:xfrm>
            <a:off x="7772400" y="4800600"/>
            <a:ext cx="914400" cy="274320"/>
          </a:xfrm>
          <a:prstGeom prst="rect">
            <a:avLst/>
          </a:prstGeom>
          <a:noFill/>
          <a:ln/>
        </p:spPr>
        <p:txBody>
          <a:bodyPr wrap="square" lIns="0" tIns="0" rIns="0" bIns="0" rtlCol="0" anchor="ctr"/>
          <a:lstStyle/>
          <a:p>
            <a:pPr algn="r" indent="0" marL="0">
              <a:buNone/>
            </a:pPr>
            <a:r>
              <a:rPr lang="en-US" sz="1200" b="1" dirty="0">
                <a:solidFill>
                  <a:srgbClr val="0891B2"/>
                </a:solidFill>
                <a:latin typeface="Arial" pitchFamily="34" charset="0"/>
                <a:ea typeface="Arial" pitchFamily="34" charset="-122"/>
                <a:cs typeface="Arial" pitchFamily="34" charset="-120"/>
              </a:rPr>
              <a:t>MADT</a:t>
            </a:r>
            <a:endParaRPr lang="en-US" sz="1200" dirty="0"/>
          </a:p>
        </p:txBody>
      </p:sp>
      <p:sp>
        <p:nvSpPr>
          <p:cNvPr id="5" name="Text 3"/>
          <p:cNvSpPr/>
          <p:nvPr/>
        </p:nvSpPr>
        <p:spPr>
          <a:xfrm>
            <a:off x="640080" y="274320"/>
            <a:ext cx="7863840" cy="502920"/>
          </a:xfrm>
          <a:prstGeom prst="rect">
            <a:avLst/>
          </a:prstGeom>
          <a:noFill/>
          <a:ln/>
        </p:spPr>
        <p:txBody>
          <a:bodyPr wrap="square" lIns="0" tIns="0" rIns="0" bIns="0" rtlCol="0" anchor="ctr"/>
          <a:lstStyle/>
          <a:p>
            <a:pPr indent="0" marL="0">
              <a:buNone/>
            </a:pPr>
            <a:r>
              <a:rPr lang="en-US" sz="2800" b="1" dirty="0">
                <a:solidFill>
                  <a:srgbClr val="1F2937"/>
                </a:solidFill>
                <a:latin typeface="Arial" pitchFamily="34" charset="0"/>
                <a:ea typeface="Arial" pitchFamily="34" charset="-122"/>
                <a:cs typeface="Arial" pitchFamily="34" charset="-120"/>
              </a:rPr>
              <a:t>11% positive class</a:t>
            </a:r>
            <a:endParaRPr lang="en-US" sz="2800" dirty="0"/>
          </a:p>
        </p:txBody>
      </p:sp>
      <p:sp>
        <p:nvSpPr>
          <p:cNvPr id="6" name="Text 4"/>
          <p:cNvSpPr/>
          <p:nvPr/>
        </p:nvSpPr>
        <p:spPr>
          <a:xfrm>
            <a:off x="640080" y="777240"/>
            <a:ext cx="7863840" cy="274320"/>
          </a:xfrm>
          <a:prstGeom prst="rect">
            <a:avLst/>
          </a:prstGeom>
          <a:noFill/>
          <a:ln/>
        </p:spPr>
        <p:txBody>
          <a:bodyPr wrap="square" lIns="0" tIns="0" rIns="0" bIns="0" rtlCol="0" anchor="ctr"/>
          <a:lstStyle/>
          <a:p>
            <a:pPr indent="0" marL="0">
              <a:buNone/>
            </a:pPr>
            <a:r>
              <a:rPr lang="en-US" sz="1300" i="1" dirty="0">
                <a:solidFill>
                  <a:srgbClr val="6B7280"/>
                </a:solidFill>
                <a:latin typeface="Arial" pitchFamily="34" charset="0"/>
                <a:ea typeface="Arial" pitchFamily="34" charset="-122"/>
                <a:cs typeface="Arial" pitchFamily="34" charset="-120"/>
              </a:rPr>
              <a:t>Imbalanced enough to matter. Not so imbalanced that nothing trains.</a:t>
            </a:r>
            <a:endParaRPr lang="en-US" sz="1300" dirty="0"/>
          </a:p>
        </p:txBody>
      </p:sp>
      <p:sp>
        <p:nvSpPr>
          <p:cNvPr id="7" name="Text 5"/>
          <p:cNvSpPr/>
          <p:nvPr/>
        </p:nvSpPr>
        <p:spPr>
          <a:xfrm>
            <a:off x="640080" y="1188720"/>
            <a:ext cx="3657600" cy="1371600"/>
          </a:xfrm>
          <a:prstGeom prst="rect">
            <a:avLst/>
          </a:prstGeom>
          <a:noFill/>
          <a:ln/>
        </p:spPr>
        <p:txBody>
          <a:bodyPr wrap="square" lIns="0" tIns="0" rIns="0" bIns="0" rtlCol="0" anchor="ctr"/>
          <a:lstStyle/>
          <a:p>
            <a:pPr algn="ctr" indent="0" marL="0">
              <a:buNone/>
            </a:pPr>
            <a:r>
              <a:rPr lang="en-US" sz="10000" b="1" dirty="0">
                <a:solidFill>
                  <a:srgbClr val="0891B2"/>
                </a:solidFill>
                <a:latin typeface="Arial" pitchFamily="34" charset="0"/>
                <a:ea typeface="Arial" pitchFamily="34" charset="-122"/>
                <a:cs typeface="Arial" pitchFamily="34" charset="-120"/>
              </a:rPr>
              <a:t>11%</a:t>
            </a:r>
            <a:endParaRPr lang="en-US" sz="10000" dirty="0"/>
          </a:p>
        </p:txBody>
      </p:sp>
      <p:sp>
        <p:nvSpPr>
          <p:cNvPr id="8" name="Text 6"/>
          <p:cNvSpPr/>
          <p:nvPr/>
        </p:nvSpPr>
        <p:spPr>
          <a:xfrm>
            <a:off x="640080" y="2606040"/>
            <a:ext cx="3657600" cy="365760"/>
          </a:xfrm>
          <a:prstGeom prst="rect">
            <a:avLst/>
          </a:prstGeom>
          <a:noFill/>
          <a:ln/>
        </p:spPr>
        <p:txBody>
          <a:bodyPr wrap="square" lIns="0" tIns="0" rIns="0" bIns="0" rtlCol="0" anchor="ctr"/>
          <a:lstStyle/>
          <a:p>
            <a:pPr algn="ctr" indent="0" marL="0">
              <a:buNone/>
            </a:pPr>
            <a:r>
              <a:rPr lang="en-US" sz="1400" dirty="0">
                <a:solidFill>
                  <a:srgbClr val="6B7280"/>
                </a:solidFill>
                <a:latin typeface="Arial" pitchFamily="34" charset="0"/>
                <a:ea typeface="Arial" pitchFamily="34" charset="-122"/>
                <a:cs typeface="Arial" pitchFamily="34" charset="-120"/>
              </a:rPr>
              <a:t>of lapsed members responded</a:t>
            </a:r>
            <a:endParaRPr lang="en-US" sz="1400" dirty="0"/>
          </a:p>
        </p:txBody>
      </p:sp>
      <p:sp>
        <p:nvSpPr>
          <p:cNvPr id="9" name="Text 7"/>
          <p:cNvSpPr/>
          <p:nvPr/>
        </p:nvSpPr>
        <p:spPr>
          <a:xfrm>
            <a:off x="4572000" y="1188720"/>
            <a:ext cx="3931920" cy="365760"/>
          </a:xfrm>
          <a:prstGeom prst="rect">
            <a:avLst/>
          </a:prstGeom>
          <a:noFill/>
          <a:ln/>
        </p:spPr>
        <p:txBody>
          <a:bodyPr wrap="square" lIns="0" tIns="0" rIns="0" bIns="0" rtlCol="0" anchor="ctr"/>
          <a:lstStyle/>
          <a:p>
            <a:pPr indent="0" marL="0">
              <a:buNone/>
            </a:pPr>
            <a:r>
              <a:rPr lang="en-US" sz="1600" b="1" dirty="0">
                <a:solidFill>
                  <a:srgbClr val="1F2937"/>
                </a:solidFill>
                <a:latin typeface="Arial" pitchFamily="34" charset="0"/>
                <a:ea typeface="Arial" pitchFamily="34" charset="-122"/>
                <a:cs typeface="Arial" pitchFamily="34" charset="-120"/>
              </a:rPr>
              <a:t>Why the imbalance matters</a:t>
            </a:r>
            <a:endParaRPr lang="en-US" sz="1600" dirty="0"/>
          </a:p>
        </p:txBody>
      </p:sp>
      <p:sp>
        <p:nvSpPr>
          <p:cNvPr id="10" name="Text 8"/>
          <p:cNvSpPr/>
          <p:nvPr/>
        </p:nvSpPr>
        <p:spPr>
          <a:xfrm>
            <a:off x="4572000" y="1554480"/>
            <a:ext cx="3931920" cy="2468880"/>
          </a:xfrm>
          <a:prstGeom prst="rect">
            <a:avLst/>
          </a:prstGeom>
          <a:noFill/>
          <a:ln/>
        </p:spPr>
        <p:txBody>
          <a:bodyPr wrap="square" lIns="0" tIns="0" rIns="0" bIns="0" rtlCol="0" anchor="t"/>
          <a:lstStyle/>
          <a:p>
            <a:pPr indent="0" marL="0">
              <a:buNone/>
            </a:pPr>
            <a:r>
              <a:rPr lang="en-US" sz="1200" dirty="0">
                <a:solidFill>
                  <a:srgbClr val="374151"/>
                </a:solidFill>
                <a:latin typeface="Arial" pitchFamily="34" charset="0"/>
                <a:ea typeface="Arial" pitchFamily="34" charset="-122"/>
                <a:cs typeface="Arial" pitchFamily="34" charset="-120"/>
              </a:rPr>
              <a:t>Accuracy is useless: predict 'no' always = 89% accurate.
</a:t>
            </a:r>
            <a:pPr indent="0" marL="0">
              <a:buNone/>
            </a:pPr>
            <a:r>
              <a:rPr lang="en-US" sz="1200" dirty="0">
                <a:solidFill>
                  <a:srgbClr val="000000"/>
                </a:solidFill>
                <a:latin typeface="Arial" pitchFamily="34" charset="0"/>
                <a:ea typeface="Arial" pitchFamily="34" charset="-122"/>
                <a:cs typeface="Arial" pitchFamily="34" charset="-120"/>
              </a:rPr>
              <a:t>
</a:t>
            </a:r>
            <a:pPr indent="0" marL="0">
              <a:buNone/>
            </a:pPr>
            <a:r>
              <a:rPr lang="en-US" sz="1200" dirty="0">
                <a:solidFill>
                  <a:srgbClr val="374151"/>
                </a:solidFill>
                <a:latin typeface="Arial" pitchFamily="34" charset="0"/>
                <a:ea typeface="Arial" pitchFamily="34" charset="-122"/>
                <a:cs typeface="Arial" pitchFamily="34" charset="-120"/>
              </a:rPr>
              <a:t>We need to maximize </a:t>
            </a:r>
            <a:pPr indent="0" marL="0">
              <a:buNone/>
            </a:pPr>
            <a:r>
              <a:rPr lang="en-US" sz="1200" b="1" dirty="0">
                <a:solidFill>
                  <a:srgbClr val="374151"/>
                </a:solidFill>
                <a:latin typeface="Arial" pitchFamily="34" charset="0"/>
                <a:ea typeface="Arial" pitchFamily="34" charset="-122"/>
                <a:cs typeface="Arial" pitchFamily="34" charset="-120"/>
              </a:rPr>
              <a:t>recall on the positive class</a:t>
            </a:r>
            <a:pPr indent="0" marL="0">
              <a:buNone/>
            </a:pPr>
            <a:r>
              <a:rPr lang="en-US" sz="1200" dirty="0">
                <a:solidFill>
                  <a:srgbClr val="374151"/>
                </a:solidFill>
                <a:latin typeface="Arial" pitchFamily="34" charset="0"/>
                <a:ea typeface="Arial" pitchFamily="34" charset="-122"/>
                <a:cs typeface="Arial" pitchFamily="34" charset="-120"/>
              </a:rPr>
              <a:t> without losing too much precision.
</a:t>
            </a:r>
            <a:pPr indent="0" marL="0">
              <a:buNone/>
            </a:pPr>
            <a:r>
              <a:rPr lang="en-US" sz="1200" dirty="0">
                <a:solidFill>
                  <a:srgbClr val="000000"/>
                </a:solidFill>
                <a:latin typeface="Arial" pitchFamily="34" charset="0"/>
                <a:ea typeface="Arial" pitchFamily="34" charset="-122"/>
                <a:cs typeface="Arial" pitchFamily="34" charset="-120"/>
              </a:rPr>
              <a:t>
</a:t>
            </a:r>
            <a:pPr indent="0" marL="0">
              <a:buNone/>
            </a:pPr>
            <a:r>
              <a:rPr lang="en-US" sz="1200" b="1" dirty="0">
                <a:solidFill>
                  <a:srgbClr val="374151"/>
                </a:solidFill>
                <a:latin typeface="Arial" pitchFamily="34" charset="0"/>
                <a:ea typeface="Arial" pitchFamily="34" charset="-122"/>
                <a:cs typeface="Arial" pitchFamily="34" charset="-120"/>
              </a:rPr>
              <a:t>Two paths:
</a:t>
            </a:r>
            <a:pPr indent="0" marL="0">
              <a:buNone/>
            </a:pPr>
            <a:r>
              <a:rPr lang="en-US" sz="1100" dirty="0">
                <a:solidFill>
                  <a:srgbClr val="374151"/>
                </a:solidFill>
                <a:latin typeface="Arial" pitchFamily="34" charset="0"/>
                <a:ea typeface="Arial" pitchFamily="34" charset="-122"/>
                <a:cs typeface="Arial" pitchFamily="34" charset="-120"/>
              </a:rPr>
              <a:t>  •  Resample the training data (under, over, SMOTE)
</a:t>
            </a:r>
            <a:pPr indent="0" marL="0">
              <a:buNone/>
            </a:pPr>
            <a:r>
              <a:rPr lang="en-US" sz="1100" dirty="0">
                <a:solidFill>
                  <a:srgbClr val="374151"/>
                </a:solidFill>
                <a:latin typeface="Arial" pitchFamily="34" charset="0"/>
                <a:ea typeface="Arial" pitchFamily="34" charset="-122"/>
                <a:cs typeface="Arial" pitchFamily="34" charset="-120"/>
              </a:rPr>
              <a:t>  •  Use class-aware models that handle imbalance internally
</a:t>
            </a:r>
            <a:endParaRPr lang="en-US" sz="1200" dirty="0"/>
          </a:p>
        </p:txBody>
      </p:sp>
      <p:sp>
        <p:nvSpPr>
          <p:cNvPr id="11" name="Shape 9"/>
          <p:cNvSpPr/>
          <p:nvPr/>
        </p:nvSpPr>
        <p:spPr>
          <a:xfrm>
            <a:off x="640080" y="4297680"/>
            <a:ext cx="7863840" cy="411480"/>
          </a:xfrm>
          <a:prstGeom prst="rect">
            <a:avLst/>
          </a:prstGeom>
          <a:solidFill>
            <a:srgbClr val="FEF3C7"/>
          </a:solidFill>
          <a:ln w="12700">
            <a:solidFill>
              <a:srgbClr val="D97706"/>
            </a:solidFill>
            <a:prstDash val="solid"/>
          </a:ln>
        </p:spPr>
      </p:sp>
      <p:sp>
        <p:nvSpPr>
          <p:cNvPr id="12" name="Text 10"/>
          <p:cNvSpPr/>
          <p:nvPr/>
        </p:nvSpPr>
        <p:spPr>
          <a:xfrm>
            <a:off x="822960" y="4389120"/>
            <a:ext cx="7498080" cy="228600"/>
          </a:xfrm>
          <a:prstGeom prst="rect">
            <a:avLst/>
          </a:prstGeom>
          <a:noFill/>
          <a:ln/>
        </p:spPr>
        <p:txBody>
          <a:bodyPr wrap="square" lIns="0" tIns="0" rIns="0" bIns="0" rtlCol="0" anchor="ctr"/>
          <a:lstStyle/>
          <a:p>
            <a:pPr indent="0" marL="0">
              <a:buNone/>
            </a:pPr>
            <a:r>
              <a:rPr lang="en-US" sz="1200" i="1" dirty="0">
                <a:solidFill>
                  <a:srgbClr val="1F2937"/>
                </a:solidFill>
                <a:latin typeface="Arial" pitchFamily="34" charset="0"/>
                <a:ea typeface="Arial" pitchFamily="34" charset="-122"/>
                <a:cs typeface="Arial" pitchFamily="34" charset="-120"/>
              </a:rPr>
              <a:t>Sampling is applied to TRAINING data only. Validation and test sets keep the original class balance — that's the population we'll deploy against.</a:t>
            </a:r>
            <a:endParaRPr lang="en-US" sz="12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9144000" cy="45720"/>
          </a:xfrm>
          <a:prstGeom prst="rect">
            <a:avLst/>
          </a:prstGeom>
          <a:solidFill>
            <a:srgbClr val="0891B2"/>
          </a:solidFill>
          <a:ln/>
        </p:spPr>
      </p:sp>
      <p:sp>
        <p:nvSpPr>
          <p:cNvPr id="3" name="Text 1"/>
          <p:cNvSpPr/>
          <p:nvPr/>
        </p:nvSpPr>
        <p:spPr>
          <a:xfrm>
            <a:off x="640080" y="4828032"/>
            <a:ext cx="5486400" cy="228600"/>
          </a:xfrm>
          <a:prstGeom prst="rect">
            <a:avLst/>
          </a:prstGeom>
          <a:noFill/>
          <a:ln/>
        </p:spPr>
        <p:txBody>
          <a:bodyPr wrap="square" lIns="0" tIns="0" rIns="0" bIns="0" rtlCol="0" anchor="ctr"/>
          <a:lstStyle/>
          <a:p>
            <a:pPr indent="0" marL="0">
              <a:buNone/>
            </a:pPr>
            <a:r>
              <a:rPr lang="en-US" sz="900" dirty="0">
                <a:solidFill>
                  <a:srgbClr val="9CA3AF"/>
                </a:solidFill>
                <a:latin typeface="Arial" pitchFamily="34" charset="0"/>
                <a:ea typeface="Arial" pitchFamily="34" charset="-122"/>
                <a:cs typeface="Arial" pitchFamily="34" charset="-120"/>
              </a:rPr>
              <a:t>NIDA  |  MADT6004  |  Module 3 — the grid</a:t>
            </a:r>
            <a:endParaRPr lang="en-US" sz="900" dirty="0"/>
          </a:p>
        </p:txBody>
      </p:sp>
      <p:sp>
        <p:nvSpPr>
          <p:cNvPr id="4" name="Text 2"/>
          <p:cNvSpPr/>
          <p:nvPr/>
        </p:nvSpPr>
        <p:spPr>
          <a:xfrm>
            <a:off x="7772400" y="4800600"/>
            <a:ext cx="914400" cy="274320"/>
          </a:xfrm>
          <a:prstGeom prst="rect">
            <a:avLst/>
          </a:prstGeom>
          <a:noFill/>
          <a:ln/>
        </p:spPr>
        <p:txBody>
          <a:bodyPr wrap="square" lIns="0" tIns="0" rIns="0" bIns="0" rtlCol="0" anchor="ctr"/>
          <a:lstStyle/>
          <a:p>
            <a:pPr algn="r" indent="0" marL="0">
              <a:buNone/>
            </a:pPr>
            <a:r>
              <a:rPr lang="en-US" sz="1200" b="1" dirty="0">
                <a:solidFill>
                  <a:srgbClr val="0891B2"/>
                </a:solidFill>
                <a:latin typeface="Arial" pitchFamily="34" charset="0"/>
                <a:ea typeface="Arial" pitchFamily="34" charset="-122"/>
                <a:cs typeface="Arial" pitchFamily="34" charset="-120"/>
              </a:rPr>
              <a:t>MADT</a:t>
            </a:r>
            <a:endParaRPr lang="en-US" sz="1200" dirty="0"/>
          </a:p>
        </p:txBody>
      </p:sp>
      <p:sp>
        <p:nvSpPr>
          <p:cNvPr id="5" name="Text 3"/>
          <p:cNvSpPr/>
          <p:nvPr/>
        </p:nvSpPr>
        <p:spPr>
          <a:xfrm>
            <a:off x="640080" y="274320"/>
            <a:ext cx="7863840" cy="502920"/>
          </a:xfrm>
          <a:prstGeom prst="rect">
            <a:avLst/>
          </a:prstGeom>
          <a:noFill/>
          <a:ln/>
        </p:spPr>
        <p:txBody>
          <a:bodyPr wrap="square" lIns="0" tIns="0" rIns="0" bIns="0" rtlCol="0" anchor="ctr"/>
          <a:lstStyle/>
          <a:p>
            <a:pPr indent="0" marL="0">
              <a:buNone/>
            </a:pPr>
            <a:r>
              <a:rPr lang="en-US" sz="2800" b="1" dirty="0">
                <a:solidFill>
                  <a:srgbClr val="1F2937"/>
                </a:solidFill>
                <a:latin typeface="Arial" pitchFamily="34" charset="0"/>
                <a:ea typeface="Arial" pitchFamily="34" charset="-122"/>
                <a:cs typeface="Arial" pitchFamily="34" charset="-120"/>
              </a:rPr>
              <a:t>4 sampling × 5 algorithms = 20 combinations</a:t>
            </a:r>
            <a:endParaRPr lang="en-US" sz="2800" dirty="0"/>
          </a:p>
        </p:txBody>
      </p:sp>
      <p:sp>
        <p:nvSpPr>
          <p:cNvPr id="6" name="Text 4"/>
          <p:cNvSpPr/>
          <p:nvPr/>
        </p:nvSpPr>
        <p:spPr>
          <a:xfrm>
            <a:off x="640080" y="777240"/>
            <a:ext cx="7863840" cy="274320"/>
          </a:xfrm>
          <a:prstGeom prst="rect">
            <a:avLst/>
          </a:prstGeom>
          <a:noFill/>
          <a:ln/>
        </p:spPr>
        <p:txBody>
          <a:bodyPr wrap="square" lIns="0" tIns="0" rIns="0" bIns="0" rtlCol="0" anchor="ctr"/>
          <a:lstStyle/>
          <a:p>
            <a:pPr indent="0" marL="0">
              <a:buNone/>
            </a:pPr>
            <a:r>
              <a:rPr lang="en-US" sz="1300" i="1" dirty="0">
                <a:solidFill>
                  <a:srgbClr val="6B7280"/>
                </a:solidFill>
                <a:latin typeface="Arial" pitchFamily="34" charset="0"/>
                <a:ea typeface="Arial" pitchFamily="34" charset="-122"/>
                <a:cs typeface="Arial" pitchFamily="34" charset="-120"/>
              </a:rPr>
              <a:t>One loop function. One uniform metric table.</a:t>
            </a:r>
            <a:endParaRPr lang="en-US" sz="1300" dirty="0"/>
          </a:p>
        </p:txBody>
      </p:sp>
      <p:sp>
        <p:nvSpPr>
          <p:cNvPr id="7" name="Text 5"/>
          <p:cNvSpPr/>
          <p:nvPr/>
        </p:nvSpPr>
        <p:spPr>
          <a:xfrm>
            <a:off x="640080" y="1280160"/>
            <a:ext cx="3200400" cy="320040"/>
          </a:xfrm>
          <a:prstGeom prst="rect">
            <a:avLst/>
          </a:prstGeom>
          <a:noFill/>
          <a:ln/>
        </p:spPr>
        <p:txBody>
          <a:bodyPr wrap="square" lIns="0" tIns="0" rIns="0" bIns="0" rtlCol="0" anchor="ctr"/>
          <a:lstStyle/>
          <a:p>
            <a:pPr indent="0" marL="0">
              <a:buNone/>
            </a:pPr>
            <a:r>
              <a:rPr lang="en-US" sz="1400" b="1" dirty="0">
                <a:solidFill>
                  <a:srgbClr val="0891B2"/>
                </a:solidFill>
                <a:latin typeface="Arial" pitchFamily="34" charset="0"/>
                <a:ea typeface="Arial" pitchFamily="34" charset="-122"/>
                <a:cs typeface="Arial" pitchFamily="34" charset="-120"/>
              </a:rPr>
              <a:t>Samplers</a:t>
            </a:r>
            <a:endParaRPr lang="en-US" sz="1400" dirty="0"/>
          </a:p>
        </p:txBody>
      </p:sp>
      <p:sp>
        <p:nvSpPr>
          <p:cNvPr id="8" name="Text 6"/>
          <p:cNvSpPr/>
          <p:nvPr/>
        </p:nvSpPr>
        <p:spPr>
          <a:xfrm>
            <a:off x="777240" y="1645920"/>
            <a:ext cx="3108960" cy="274320"/>
          </a:xfrm>
          <a:prstGeom prst="rect">
            <a:avLst/>
          </a:prstGeom>
          <a:noFill/>
          <a:ln/>
        </p:spPr>
        <p:txBody>
          <a:bodyPr wrap="square" lIns="0" tIns="0" rIns="0" bIns="0" rtlCol="0" anchor="ctr"/>
          <a:lstStyle/>
          <a:p>
            <a:pPr indent="0" marL="0">
              <a:buNone/>
            </a:pPr>
            <a:r>
              <a:rPr lang="en-US" sz="1200" dirty="0">
                <a:solidFill>
                  <a:srgbClr val="374151"/>
                </a:solidFill>
                <a:latin typeface="Arial" pitchFamily="34" charset="0"/>
                <a:ea typeface="Arial" pitchFamily="34" charset="-122"/>
                <a:cs typeface="Arial" pitchFamily="34" charset="-120"/>
              </a:rPr>
              <a:t>•  none  (baseline)</a:t>
            </a:r>
            <a:endParaRPr lang="en-US" sz="1200" dirty="0"/>
          </a:p>
        </p:txBody>
      </p:sp>
      <p:sp>
        <p:nvSpPr>
          <p:cNvPr id="9" name="Text 7"/>
          <p:cNvSpPr/>
          <p:nvPr/>
        </p:nvSpPr>
        <p:spPr>
          <a:xfrm>
            <a:off x="777240" y="1938528"/>
            <a:ext cx="3108960" cy="274320"/>
          </a:xfrm>
          <a:prstGeom prst="rect">
            <a:avLst/>
          </a:prstGeom>
          <a:noFill/>
          <a:ln/>
        </p:spPr>
        <p:txBody>
          <a:bodyPr wrap="square" lIns="0" tIns="0" rIns="0" bIns="0" rtlCol="0" anchor="ctr"/>
          <a:lstStyle/>
          <a:p>
            <a:pPr indent="0" marL="0">
              <a:buNone/>
            </a:pPr>
            <a:r>
              <a:rPr lang="en-US" sz="1200" dirty="0">
                <a:solidFill>
                  <a:srgbClr val="374151"/>
                </a:solidFill>
                <a:latin typeface="Arial" pitchFamily="34" charset="0"/>
                <a:ea typeface="Arial" pitchFamily="34" charset="-122"/>
                <a:cs typeface="Arial" pitchFamily="34" charset="-120"/>
              </a:rPr>
              <a:t>•  RandomUnderSampler</a:t>
            </a:r>
            <a:endParaRPr lang="en-US" sz="1200" dirty="0"/>
          </a:p>
        </p:txBody>
      </p:sp>
      <p:sp>
        <p:nvSpPr>
          <p:cNvPr id="10" name="Text 8"/>
          <p:cNvSpPr/>
          <p:nvPr/>
        </p:nvSpPr>
        <p:spPr>
          <a:xfrm>
            <a:off x="777240" y="2231136"/>
            <a:ext cx="3108960" cy="274320"/>
          </a:xfrm>
          <a:prstGeom prst="rect">
            <a:avLst/>
          </a:prstGeom>
          <a:noFill/>
          <a:ln/>
        </p:spPr>
        <p:txBody>
          <a:bodyPr wrap="square" lIns="0" tIns="0" rIns="0" bIns="0" rtlCol="0" anchor="ctr"/>
          <a:lstStyle/>
          <a:p>
            <a:pPr indent="0" marL="0">
              <a:buNone/>
            </a:pPr>
            <a:r>
              <a:rPr lang="en-US" sz="1200" dirty="0">
                <a:solidFill>
                  <a:srgbClr val="374151"/>
                </a:solidFill>
                <a:latin typeface="Arial" pitchFamily="34" charset="0"/>
                <a:ea typeface="Arial" pitchFamily="34" charset="-122"/>
                <a:cs typeface="Arial" pitchFamily="34" charset="-120"/>
              </a:rPr>
              <a:t>•  RandomOverSampler</a:t>
            </a:r>
            <a:endParaRPr lang="en-US" sz="1200" dirty="0"/>
          </a:p>
        </p:txBody>
      </p:sp>
      <p:sp>
        <p:nvSpPr>
          <p:cNvPr id="11" name="Text 9"/>
          <p:cNvSpPr/>
          <p:nvPr/>
        </p:nvSpPr>
        <p:spPr>
          <a:xfrm>
            <a:off x="777240" y="2523744"/>
            <a:ext cx="3108960" cy="274320"/>
          </a:xfrm>
          <a:prstGeom prst="rect">
            <a:avLst/>
          </a:prstGeom>
          <a:noFill/>
          <a:ln/>
        </p:spPr>
        <p:txBody>
          <a:bodyPr wrap="square" lIns="0" tIns="0" rIns="0" bIns="0" rtlCol="0" anchor="ctr"/>
          <a:lstStyle/>
          <a:p>
            <a:pPr indent="0" marL="0">
              <a:buNone/>
            </a:pPr>
            <a:r>
              <a:rPr lang="en-US" sz="1200" dirty="0">
                <a:solidFill>
                  <a:srgbClr val="374151"/>
                </a:solidFill>
                <a:latin typeface="Arial" pitchFamily="34" charset="0"/>
                <a:ea typeface="Arial" pitchFamily="34" charset="-122"/>
                <a:cs typeface="Arial" pitchFamily="34" charset="-120"/>
              </a:rPr>
              <a:t>•  SMOTE</a:t>
            </a:r>
            <a:endParaRPr lang="en-US" sz="1200" dirty="0"/>
          </a:p>
        </p:txBody>
      </p:sp>
      <p:sp>
        <p:nvSpPr>
          <p:cNvPr id="12" name="Text 10"/>
          <p:cNvSpPr/>
          <p:nvPr/>
        </p:nvSpPr>
        <p:spPr>
          <a:xfrm>
            <a:off x="4572000" y="1280160"/>
            <a:ext cx="3931920" cy="320040"/>
          </a:xfrm>
          <a:prstGeom prst="rect">
            <a:avLst/>
          </a:prstGeom>
          <a:noFill/>
          <a:ln/>
        </p:spPr>
        <p:txBody>
          <a:bodyPr wrap="square" lIns="0" tIns="0" rIns="0" bIns="0" rtlCol="0" anchor="ctr"/>
          <a:lstStyle/>
          <a:p>
            <a:pPr indent="0" marL="0">
              <a:buNone/>
            </a:pPr>
            <a:r>
              <a:rPr lang="en-US" sz="1400" b="1" dirty="0">
                <a:solidFill>
                  <a:srgbClr val="0891B2"/>
                </a:solidFill>
                <a:latin typeface="Arial" pitchFamily="34" charset="0"/>
                <a:ea typeface="Arial" pitchFamily="34" charset="-122"/>
                <a:cs typeface="Arial" pitchFamily="34" charset="-120"/>
              </a:rPr>
              <a:t>Algorithms</a:t>
            </a:r>
            <a:endParaRPr lang="en-US" sz="1400" dirty="0"/>
          </a:p>
        </p:txBody>
      </p:sp>
      <p:sp>
        <p:nvSpPr>
          <p:cNvPr id="13" name="Text 11"/>
          <p:cNvSpPr/>
          <p:nvPr/>
        </p:nvSpPr>
        <p:spPr>
          <a:xfrm>
            <a:off x="4709160" y="1645920"/>
            <a:ext cx="3749040" cy="274320"/>
          </a:xfrm>
          <a:prstGeom prst="rect">
            <a:avLst/>
          </a:prstGeom>
          <a:noFill/>
          <a:ln/>
        </p:spPr>
        <p:txBody>
          <a:bodyPr wrap="square" lIns="0" tIns="0" rIns="0" bIns="0" rtlCol="0" anchor="ctr"/>
          <a:lstStyle/>
          <a:p>
            <a:pPr indent="0" marL="0">
              <a:buNone/>
            </a:pPr>
            <a:r>
              <a:rPr lang="en-US" sz="1200" dirty="0">
                <a:solidFill>
                  <a:srgbClr val="374151"/>
                </a:solidFill>
                <a:latin typeface="Arial" pitchFamily="34" charset="0"/>
                <a:ea typeface="Arial" pitchFamily="34" charset="-122"/>
                <a:cs typeface="Arial" pitchFamily="34" charset="-120"/>
              </a:rPr>
              <a:t>•  DecisionTreeClassifier</a:t>
            </a:r>
            <a:endParaRPr lang="en-US" sz="1200" dirty="0"/>
          </a:p>
        </p:txBody>
      </p:sp>
      <p:sp>
        <p:nvSpPr>
          <p:cNvPr id="14" name="Text 12"/>
          <p:cNvSpPr/>
          <p:nvPr/>
        </p:nvSpPr>
        <p:spPr>
          <a:xfrm>
            <a:off x="4709160" y="1938528"/>
            <a:ext cx="3749040" cy="274320"/>
          </a:xfrm>
          <a:prstGeom prst="rect">
            <a:avLst/>
          </a:prstGeom>
          <a:noFill/>
          <a:ln/>
        </p:spPr>
        <p:txBody>
          <a:bodyPr wrap="square" lIns="0" tIns="0" rIns="0" bIns="0" rtlCol="0" anchor="ctr"/>
          <a:lstStyle/>
          <a:p>
            <a:pPr indent="0" marL="0">
              <a:buNone/>
            </a:pPr>
            <a:r>
              <a:rPr lang="en-US" sz="1200" dirty="0">
                <a:solidFill>
                  <a:srgbClr val="374151"/>
                </a:solidFill>
                <a:latin typeface="Arial" pitchFamily="34" charset="0"/>
                <a:ea typeface="Arial" pitchFamily="34" charset="-122"/>
                <a:cs typeface="Arial" pitchFamily="34" charset="-120"/>
              </a:rPr>
              <a:t>•  LogisticRegression</a:t>
            </a:r>
            <a:endParaRPr lang="en-US" sz="1200" dirty="0"/>
          </a:p>
        </p:txBody>
      </p:sp>
      <p:sp>
        <p:nvSpPr>
          <p:cNvPr id="15" name="Text 13"/>
          <p:cNvSpPr/>
          <p:nvPr/>
        </p:nvSpPr>
        <p:spPr>
          <a:xfrm>
            <a:off x="4709160" y="2231136"/>
            <a:ext cx="3749040" cy="274320"/>
          </a:xfrm>
          <a:prstGeom prst="rect">
            <a:avLst/>
          </a:prstGeom>
          <a:noFill/>
          <a:ln/>
        </p:spPr>
        <p:txBody>
          <a:bodyPr wrap="square" lIns="0" tIns="0" rIns="0" bIns="0" rtlCol="0" anchor="ctr"/>
          <a:lstStyle/>
          <a:p>
            <a:pPr indent="0" marL="0">
              <a:buNone/>
            </a:pPr>
            <a:r>
              <a:rPr lang="en-US" sz="1200" dirty="0">
                <a:solidFill>
                  <a:srgbClr val="374151"/>
                </a:solidFill>
                <a:latin typeface="Arial" pitchFamily="34" charset="0"/>
                <a:ea typeface="Arial" pitchFamily="34" charset="-122"/>
                <a:cs typeface="Arial" pitchFamily="34" charset="-120"/>
              </a:rPr>
              <a:t>•  SVC (RBF kernel)</a:t>
            </a:r>
            <a:endParaRPr lang="en-US" sz="1200" dirty="0"/>
          </a:p>
        </p:txBody>
      </p:sp>
      <p:sp>
        <p:nvSpPr>
          <p:cNvPr id="16" name="Text 14"/>
          <p:cNvSpPr/>
          <p:nvPr/>
        </p:nvSpPr>
        <p:spPr>
          <a:xfrm>
            <a:off x="4709160" y="2523744"/>
            <a:ext cx="3749040" cy="274320"/>
          </a:xfrm>
          <a:prstGeom prst="rect">
            <a:avLst/>
          </a:prstGeom>
          <a:noFill/>
          <a:ln/>
        </p:spPr>
        <p:txBody>
          <a:bodyPr wrap="square" lIns="0" tIns="0" rIns="0" bIns="0" rtlCol="0" anchor="ctr"/>
          <a:lstStyle/>
          <a:p>
            <a:pPr indent="0" marL="0">
              <a:buNone/>
            </a:pPr>
            <a:r>
              <a:rPr lang="en-US" sz="1200" dirty="0">
                <a:solidFill>
                  <a:srgbClr val="374151"/>
                </a:solidFill>
                <a:latin typeface="Arial" pitchFamily="34" charset="0"/>
                <a:ea typeface="Arial" pitchFamily="34" charset="-122"/>
                <a:cs typeface="Arial" pitchFamily="34" charset="-120"/>
              </a:rPr>
              <a:t>•  RandomForestClassifier</a:t>
            </a:r>
            <a:endParaRPr lang="en-US" sz="1200" dirty="0"/>
          </a:p>
        </p:txBody>
      </p:sp>
      <p:sp>
        <p:nvSpPr>
          <p:cNvPr id="17" name="Text 15"/>
          <p:cNvSpPr/>
          <p:nvPr/>
        </p:nvSpPr>
        <p:spPr>
          <a:xfrm>
            <a:off x="4709160" y="2816352"/>
            <a:ext cx="3749040" cy="274320"/>
          </a:xfrm>
          <a:prstGeom prst="rect">
            <a:avLst/>
          </a:prstGeom>
          <a:noFill/>
          <a:ln/>
        </p:spPr>
        <p:txBody>
          <a:bodyPr wrap="square" lIns="0" tIns="0" rIns="0" bIns="0" rtlCol="0" anchor="ctr"/>
          <a:lstStyle/>
          <a:p>
            <a:pPr indent="0" marL="0">
              <a:buNone/>
            </a:pPr>
            <a:r>
              <a:rPr lang="en-US" sz="1200" dirty="0">
                <a:solidFill>
                  <a:srgbClr val="374151"/>
                </a:solidFill>
                <a:latin typeface="Arial" pitchFamily="34" charset="0"/>
                <a:ea typeface="Arial" pitchFamily="34" charset="-122"/>
                <a:cs typeface="Arial" pitchFamily="34" charset="-120"/>
              </a:rPr>
              <a:t>•  XGBClassifier</a:t>
            </a:r>
            <a:endParaRPr lang="en-US" sz="1200" dirty="0"/>
          </a:p>
        </p:txBody>
      </p:sp>
      <p:sp>
        <p:nvSpPr>
          <p:cNvPr id="18" name="Shape 16"/>
          <p:cNvSpPr/>
          <p:nvPr/>
        </p:nvSpPr>
        <p:spPr>
          <a:xfrm>
            <a:off x="640080" y="3291840"/>
            <a:ext cx="7863840" cy="1280160"/>
          </a:xfrm>
          <a:prstGeom prst="rect">
            <a:avLst/>
          </a:prstGeom>
          <a:solidFill>
            <a:srgbClr val="F3F4F6"/>
          </a:solidFill>
          <a:ln w="6350">
            <a:solidFill>
              <a:srgbClr val="D1D5DB"/>
            </a:solidFill>
            <a:prstDash val="solid"/>
          </a:ln>
        </p:spPr>
      </p:sp>
      <p:sp>
        <p:nvSpPr>
          <p:cNvPr id="19" name="Text 17"/>
          <p:cNvSpPr/>
          <p:nvPr/>
        </p:nvSpPr>
        <p:spPr>
          <a:xfrm>
            <a:off x="777240" y="3383280"/>
            <a:ext cx="7589520" cy="1097280"/>
          </a:xfrm>
          <a:prstGeom prst="rect">
            <a:avLst/>
          </a:prstGeom>
          <a:noFill/>
          <a:ln/>
        </p:spPr>
        <p:txBody>
          <a:bodyPr wrap="square" lIns="0" tIns="0" rIns="0" bIns="0" rtlCol="0" anchor="t"/>
          <a:lstStyle/>
          <a:p>
            <a:pPr indent="0" marL="0">
              <a:buNone/>
            </a:pPr>
            <a:r>
              <a:rPr lang="en-US" sz="1100" dirty="0">
                <a:solidFill>
                  <a:srgbClr val="374151"/>
                </a:solidFill>
                <a:latin typeface="Consolas" pitchFamily="34" charset="0"/>
                <a:ea typeface="Consolas" pitchFamily="34" charset="-122"/>
                <a:cs typeface="Consolas" pitchFamily="34" charset="-120"/>
              </a:rPr>
              <a:t>for s_name, sampler in SAMPLERS.items():</a:t>
            </a:r>
            <a:endParaRPr lang="en-US" sz="1100" dirty="0"/>
          </a:p>
          <a:p>
            <a:pPr indent="0" marL="0">
              <a:buNone/>
            </a:pPr>
            <a:r>
              <a:rPr lang="en-US" sz="1100" dirty="0">
                <a:solidFill>
                  <a:srgbClr val="374151"/>
                </a:solidFill>
                <a:latin typeface="Consolas" pitchFamily="34" charset="0"/>
                <a:ea typeface="Consolas" pitchFamily="34" charset="-122"/>
                <a:cs typeface="Consolas" pitchFamily="34" charset="-120"/>
              </a:rPr>
              <a:t>    Xtr_s, ytr_s = sampler.fit_resample(Xtr, ytr) if sampler else (Xtr, ytr)</a:t>
            </a:r>
            <a:endParaRPr lang="en-US" sz="1100" dirty="0"/>
          </a:p>
          <a:p>
            <a:pPr indent="0" marL="0">
              <a:buNone/>
            </a:pPr>
            <a:r>
              <a:rPr lang="en-US" sz="1100" dirty="0">
                <a:solidFill>
                  <a:srgbClr val="374151"/>
                </a:solidFill>
                <a:latin typeface="Consolas" pitchFamily="34" charset="0"/>
                <a:ea typeface="Consolas" pitchFamily="34" charset="-122"/>
                <a:cs typeface="Consolas" pitchFamily="34" charset="-120"/>
              </a:rPr>
              <a:t>    for a_name, make_alg in ALGORITHMS.items():</a:t>
            </a:r>
            <a:endParaRPr lang="en-US" sz="1100" dirty="0"/>
          </a:p>
          <a:p>
            <a:pPr indent="0" marL="0">
              <a:buNone/>
            </a:pPr>
            <a:r>
              <a:rPr lang="en-US" sz="1100" dirty="0">
                <a:solidFill>
                  <a:srgbClr val="374151"/>
                </a:solidFill>
                <a:latin typeface="Consolas" pitchFamily="34" charset="0"/>
                <a:ea typeface="Consolas" pitchFamily="34" charset="-122"/>
                <a:cs typeface="Consolas" pitchFamily="34" charset="-120"/>
              </a:rPr>
              <a:t>        model = make_alg().fit(Xtr_s, ytr_s)</a:t>
            </a:r>
            <a:endParaRPr lang="en-US" sz="1100" dirty="0"/>
          </a:p>
          <a:p>
            <a:pPr indent="0" marL="0">
              <a:buNone/>
            </a:pPr>
            <a:r>
              <a:rPr lang="en-US" sz="1100" dirty="0">
                <a:solidFill>
                  <a:srgbClr val="374151"/>
                </a:solidFill>
                <a:latin typeface="Consolas" pitchFamily="34" charset="0"/>
                <a:ea typeface="Consolas" pitchFamily="34" charset="-122"/>
                <a:cs typeface="Consolas" pitchFamily="34" charset="-120"/>
              </a:rPr>
              <a:t>        rows.append({**evaluate(model, Xv, yv), "sampling": s_name, "algorithm": a_name})</a:t>
            </a:r>
            <a:endParaRPr lang="en-US" sz="11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9144000" cy="45720"/>
          </a:xfrm>
          <a:prstGeom prst="rect">
            <a:avLst/>
          </a:prstGeom>
          <a:solidFill>
            <a:srgbClr val="0891B2"/>
          </a:solidFill>
          <a:ln/>
        </p:spPr>
      </p:sp>
      <p:sp>
        <p:nvSpPr>
          <p:cNvPr id="3" name="Text 1"/>
          <p:cNvSpPr/>
          <p:nvPr/>
        </p:nvSpPr>
        <p:spPr>
          <a:xfrm>
            <a:off x="640080" y="4828032"/>
            <a:ext cx="5486400" cy="228600"/>
          </a:xfrm>
          <a:prstGeom prst="rect">
            <a:avLst/>
          </a:prstGeom>
          <a:noFill/>
          <a:ln/>
        </p:spPr>
        <p:txBody>
          <a:bodyPr wrap="square" lIns="0" tIns="0" rIns="0" bIns="0" rtlCol="0" anchor="ctr"/>
          <a:lstStyle/>
          <a:p>
            <a:pPr indent="0" marL="0">
              <a:buNone/>
            </a:pPr>
            <a:r>
              <a:rPr lang="en-US" sz="900" dirty="0">
                <a:solidFill>
                  <a:srgbClr val="9CA3AF"/>
                </a:solidFill>
                <a:latin typeface="Arial" pitchFamily="34" charset="0"/>
                <a:ea typeface="Arial" pitchFamily="34" charset="-122"/>
                <a:cs typeface="Arial" pitchFamily="34" charset="-120"/>
              </a:rPr>
              <a:t>NIDA  |  MADT6004  |  Module 3 — split</a:t>
            </a:r>
            <a:endParaRPr lang="en-US" sz="900" dirty="0"/>
          </a:p>
        </p:txBody>
      </p:sp>
      <p:sp>
        <p:nvSpPr>
          <p:cNvPr id="4" name="Text 2"/>
          <p:cNvSpPr/>
          <p:nvPr/>
        </p:nvSpPr>
        <p:spPr>
          <a:xfrm>
            <a:off x="7772400" y="4800600"/>
            <a:ext cx="914400" cy="274320"/>
          </a:xfrm>
          <a:prstGeom prst="rect">
            <a:avLst/>
          </a:prstGeom>
          <a:noFill/>
          <a:ln/>
        </p:spPr>
        <p:txBody>
          <a:bodyPr wrap="square" lIns="0" tIns="0" rIns="0" bIns="0" rtlCol="0" anchor="ctr"/>
          <a:lstStyle/>
          <a:p>
            <a:pPr algn="r" indent="0" marL="0">
              <a:buNone/>
            </a:pPr>
            <a:r>
              <a:rPr lang="en-US" sz="1200" b="1" dirty="0">
                <a:solidFill>
                  <a:srgbClr val="0891B2"/>
                </a:solidFill>
                <a:latin typeface="Arial" pitchFamily="34" charset="0"/>
                <a:ea typeface="Arial" pitchFamily="34" charset="-122"/>
                <a:cs typeface="Arial" pitchFamily="34" charset="-120"/>
              </a:rPr>
              <a:t>MADT</a:t>
            </a:r>
            <a:endParaRPr lang="en-US" sz="1200" dirty="0"/>
          </a:p>
        </p:txBody>
      </p:sp>
      <p:sp>
        <p:nvSpPr>
          <p:cNvPr id="5" name="Text 3"/>
          <p:cNvSpPr/>
          <p:nvPr/>
        </p:nvSpPr>
        <p:spPr>
          <a:xfrm>
            <a:off x="640080" y="274320"/>
            <a:ext cx="7863840" cy="502920"/>
          </a:xfrm>
          <a:prstGeom prst="rect">
            <a:avLst/>
          </a:prstGeom>
          <a:noFill/>
          <a:ln/>
        </p:spPr>
        <p:txBody>
          <a:bodyPr wrap="square" lIns="0" tIns="0" rIns="0" bIns="0" rtlCol="0" anchor="ctr"/>
          <a:lstStyle/>
          <a:p>
            <a:pPr indent="0" marL="0">
              <a:buNone/>
            </a:pPr>
            <a:r>
              <a:rPr lang="en-US" sz="2800" b="1" dirty="0">
                <a:solidFill>
                  <a:srgbClr val="1F2937"/>
                </a:solidFill>
                <a:latin typeface="Arial" pitchFamily="34" charset="0"/>
                <a:ea typeface="Arial" pitchFamily="34" charset="-122"/>
                <a:cs typeface="Arial" pitchFamily="34" charset="-120"/>
              </a:rPr>
              <a:t>Train / Validation / Test  —  60 / 20 / 20</a:t>
            </a:r>
            <a:endParaRPr lang="en-US" sz="2800" dirty="0"/>
          </a:p>
        </p:txBody>
      </p:sp>
      <p:sp>
        <p:nvSpPr>
          <p:cNvPr id="6" name="Text 4"/>
          <p:cNvSpPr/>
          <p:nvPr/>
        </p:nvSpPr>
        <p:spPr>
          <a:xfrm>
            <a:off x="640080" y="777240"/>
            <a:ext cx="7863840" cy="274320"/>
          </a:xfrm>
          <a:prstGeom prst="rect">
            <a:avLst/>
          </a:prstGeom>
          <a:noFill/>
          <a:ln/>
        </p:spPr>
        <p:txBody>
          <a:bodyPr wrap="square" lIns="0" tIns="0" rIns="0" bIns="0" rtlCol="0" anchor="ctr"/>
          <a:lstStyle/>
          <a:p>
            <a:pPr indent="0" marL="0">
              <a:buNone/>
            </a:pPr>
            <a:r>
              <a:rPr lang="en-US" sz="1300" i="1" dirty="0">
                <a:solidFill>
                  <a:srgbClr val="6B7280"/>
                </a:solidFill>
                <a:latin typeface="Arial" pitchFamily="34" charset="0"/>
                <a:ea typeface="Arial" pitchFamily="34" charset="-122"/>
                <a:cs typeface="Arial" pitchFamily="34" charset="-120"/>
              </a:rPr>
              <a:t>Tune on validation. Lock the winner. Touch the test set once.</a:t>
            </a:r>
            <a:endParaRPr lang="en-US" sz="1300" dirty="0"/>
          </a:p>
        </p:txBody>
      </p:sp>
      <p:sp>
        <p:nvSpPr>
          <p:cNvPr id="7" name="Shape 5"/>
          <p:cNvSpPr/>
          <p:nvPr/>
        </p:nvSpPr>
        <p:spPr>
          <a:xfrm>
            <a:off x="1097280" y="1371600"/>
            <a:ext cx="4114800" cy="640080"/>
          </a:xfrm>
          <a:prstGeom prst="rect">
            <a:avLst/>
          </a:prstGeom>
          <a:solidFill>
            <a:srgbClr val="0891B2"/>
          </a:solidFill>
          <a:ln/>
        </p:spPr>
      </p:sp>
      <p:sp>
        <p:nvSpPr>
          <p:cNvPr id="8" name="Text 6"/>
          <p:cNvSpPr/>
          <p:nvPr/>
        </p:nvSpPr>
        <p:spPr>
          <a:xfrm>
            <a:off x="1097280" y="1371600"/>
            <a:ext cx="4114800" cy="640080"/>
          </a:xfrm>
          <a:prstGeom prst="rect">
            <a:avLst/>
          </a:prstGeom>
          <a:noFill/>
          <a:ln/>
        </p:spPr>
        <p:txBody>
          <a:bodyPr wrap="square" lIns="0" tIns="0" rIns="0" bIns="0" rtlCol="0" anchor="ctr"/>
          <a:lstStyle/>
          <a:p>
            <a:pPr algn="ctr" indent="0" marL="0">
              <a:buNone/>
            </a:pPr>
            <a:r>
              <a:rPr lang="en-US" sz="1300" b="1" dirty="0">
                <a:solidFill>
                  <a:srgbClr val="FFFFFF"/>
                </a:solidFill>
                <a:latin typeface="Arial" pitchFamily="34" charset="0"/>
                <a:ea typeface="Arial" pitchFamily="34" charset="-122"/>
                <a:cs typeface="Arial" pitchFamily="34" charset="-120"/>
              </a:rPr>
              <a:t>Train (60%)</a:t>
            </a:r>
            <a:endParaRPr lang="en-US" sz="1300" dirty="0"/>
          </a:p>
        </p:txBody>
      </p:sp>
      <p:sp>
        <p:nvSpPr>
          <p:cNvPr id="9" name="Text 7"/>
          <p:cNvSpPr/>
          <p:nvPr/>
        </p:nvSpPr>
        <p:spPr>
          <a:xfrm>
            <a:off x="1097280" y="2057400"/>
            <a:ext cx="4114800" cy="274320"/>
          </a:xfrm>
          <a:prstGeom prst="rect">
            <a:avLst/>
          </a:prstGeom>
          <a:noFill/>
          <a:ln/>
        </p:spPr>
        <p:txBody>
          <a:bodyPr wrap="square" lIns="0" tIns="0" rIns="0" bIns="0" rtlCol="0" anchor="ctr"/>
          <a:lstStyle/>
          <a:p>
            <a:pPr algn="ctr" indent="0" marL="0">
              <a:buNone/>
            </a:pPr>
            <a:r>
              <a:rPr lang="en-US" sz="1000" i="1" dirty="0">
                <a:solidFill>
                  <a:srgbClr val="6B7280"/>
                </a:solidFill>
                <a:latin typeface="Arial" pitchFamily="34" charset="0"/>
                <a:ea typeface="Arial" pitchFamily="34" charset="-122"/>
                <a:cs typeface="Arial" pitchFamily="34" charset="-120"/>
              </a:rPr>
              <a:t>Fit + sample</a:t>
            </a:r>
            <a:endParaRPr lang="en-US" sz="1000" dirty="0"/>
          </a:p>
        </p:txBody>
      </p:sp>
      <p:sp>
        <p:nvSpPr>
          <p:cNvPr id="10" name="Shape 8"/>
          <p:cNvSpPr/>
          <p:nvPr/>
        </p:nvSpPr>
        <p:spPr>
          <a:xfrm>
            <a:off x="5212080" y="1371600"/>
            <a:ext cx="1371600" cy="640080"/>
          </a:xfrm>
          <a:prstGeom prst="rect">
            <a:avLst/>
          </a:prstGeom>
          <a:solidFill>
            <a:srgbClr val="D97706"/>
          </a:solidFill>
          <a:ln/>
        </p:spPr>
      </p:sp>
      <p:sp>
        <p:nvSpPr>
          <p:cNvPr id="11" name="Text 9"/>
          <p:cNvSpPr/>
          <p:nvPr/>
        </p:nvSpPr>
        <p:spPr>
          <a:xfrm>
            <a:off x="5212080" y="1371600"/>
            <a:ext cx="1371600" cy="640080"/>
          </a:xfrm>
          <a:prstGeom prst="rect">
            <a:avLst/>
          </a:prstGeom>
          <a:noFill/>
          <a:ln/>
        </p:spPr>
        <p:txBody>
          <a:bodyPr wrap="square" lIns="0" tIns="0" rIns="0" bIns="0" rtlCol="0" anchor="ctr"/>
          <a:lstStyle/>
          <a:p>
            <a:pPr algn="ctr" indent="0" marL="0">
              <a:buNone/>
            </a:pPr>
            <a:r>
              <a:rPr lang="en-US" sz="1300" b="1" dirty="0">
                <a:solidFill>
                  <a:srgbClr val="FFFFFF"/>
                </a:solidFill>
                <a:latin typeface="Arial" pitchFamily="34" charset="0"/>
                <a:ea typeface="Arial" pitchFamily="34" charset="-122"/>
                <a:cs typeface="Arial" pitchFamily="34" charset="-120"/>
              </a:rPr>
              <a:t>Validation (20%)</a:t>
            </a:r>
            <a:endParaRPr lang="en-US" sz="1300" dirty="0"/>
          </a:p>
        </p:txBody>
      </p:sp>
      <p:sp>
        <p:nvSpPr>
          <p:cNvPr id="12" name="Text 10"/>
          <p:cNvSpPr/>
          <p:nvPr/>
        </p:nvSpPr>
        <p:spPr>
          <a:xfrm>
            <a:off x="5212080" y="2057400"/>
            <a:ext cx="1371600" cy="274320"/>
          </a:xfrm>
          <a:prstGeom prst="rect">
            <a:avLst/>
          </a:prstGeom>
          <a:noFill/>
          <a:ln/>
        </p:spPr>
        <p:txBody>
          <a:bodyPr wrap="square" lIns="0" tIns="0" rIns="0" bIns="0" rtlCol="0" anchor="ctr"/>
          <a:lstStyle/>
          <a:p>
            <a:pPr algn="ctr" indent="0" marL="0">
              <a:buNone/>
            </a:pPr>
            <a:r>
              <a:rPr lang="en-US" sz="1000" i="1" dirty="0">
                <a:solidFill>
                  <a:srgbClr val="6B7280"/>
                </a:solidFill>
                <a:latin typeface="Arial" pitchFamily="34" charset="0"/>
                <a:ea typeface="Arial" pitchFamily="34" charset="-122"/>
                <a:cs typeface="Arial" pitchFamily="34" charset="-120"/>
              </a:rPr>
              <a:t>Pick winner</a:t>
            </a:r>
            <a:endParaRPr lang="en-US" sz="1000" dirty="0"/>
          </a:p>
        </p:txBody>
      </p:sp>
      <p:sp>
        <p:nvSpPr>
          <p:cNvPr id="13" name="Shape 11"/>
          <p:cNvSpPr/>
          <p:nvPr/>
        </p:nvSpPr>
        <p:spPr>
          <a:xfrm>
            <a:off x="6583680" y="1371600"/>
            <a:ext cx="1371600" cy="640080"/>
          </a:xfrm>
          <a:prstGeom prst="rect">
            <a:avLst/>
          </a:prstGeom>
          <a:solidFill>
            <a:srgbClr val="059669"/>
          </a:solidFill>
          <a:ln/>
        </p:spPr>
      </p:sp>
      <p:sp>
        <p:nvSpPr>
          <p:cNvPr id="14" name="Text 12"/>
          <p:cNvSpPr/>
          <p:nvPr/>
        </p:nvSpPr>
        <p:spPr>
          <a:xfrm>
            <a:off x="6583680" y="1371600"/>
            <a:ext cx="1371600" cy="640080"/>
          </a:xfrm>
          <a:prstGeom prst="rect">
            <a:avLst/>
          </a:prstGeom>
          <a:noFill/>
          <a:ln/>
        </p:spPr>
        <p:txBody>
          <a:bodyPr wrap="square" lIns="0" tIns="0" rIns="0" bIns="0" rtlCol="0" anchor="ctr"/>
          <a:lstStyle/>
          <a:p>
            <a:pPr algn="ctr" indent="0" marL="0">
              <a:buNone/>
            </a:pPr>
            <a:r>
              <a:rPr lang="en-US" sz="1300" b="1" dirty="0">
                <a:solidFill>
                  <a:srgbClr val="FFFFFF"/>
                </a:solidFill>
                <a:latin typeface="Arial" pitchFamily="34" charset="0"/>
                <a:ea typeface="Arial" pitchFamily="34" charset="-122"/>
                <a:cs typeface="Arial" pitchFamily="34" charset="-120"/>
              </a:rPr>
              <a:t>Test (20%)</a:t>
            </a:r>
            <a:endParaRPr lang="en-US" sz="1300" dirty="0"/>
          </a:p>
        </p:txBody>
      </p:sp>
      <p:sp>
        <p:nvSpPr>
          <p:cNvPr id="15" name="Text 13"/>
          <p:cNvSpPr/>
          <p:nvPr/>
        </p:nvSpPr>
        <p:spPr>
          <a:xfrm>
            <a:off x="6583680" y="2057400"/>
            <a:ext cx="1371600" cy="274320"/>
          </a:xfrm>
          <a:prstGeom prst="rect">
            <a:avLst/>
          </a:prstGeom>
          <a:noFill/>
          <a:ln/>
        </p:spPr>
        <p:txBody>
          <a:bodyPr wrap="square" lIns="0" tIns="0" rIns="0" bIns="0" rtlCol="0" anchor="ctr"/>
          <a:lstStyle/>
          <a:p>
            <a:pPr algn="ctr" indent="0" marL="0">
              <a:buNone/>
            </a:pPr>
            <a:r>
              <a:rPr lang="en-US" sz="1000" i="1" dirty="0">
                <a:solidFill>
                  <a:srgbClr val="6B7280"/>
                </a:solidFill>
                <a:latin typeface="Arial" pitchFamily="34" charset="0"/>
                <a:ea typeface="Arial" pitchFamily="34" charset="-122"/>
                <a:cs typeface="Arial" pitchFamily="34" charset="-120"/>
              </a:rPr>
              <a:t>Final number</a:t>
            </a:r>
            <a:endParaRPr lang="en-US" sz="1000" dirty="0"/>
          </a:p>
        </p:txBody>
      </p:sp>
      <p:sp>
        <p:nvSpPr>
          <p:cNvPr id="16" name="Text 14"/>
          <p:cNvSpPr/>
          <p:nvPr/>
        </p:nvSpPr>
        <p:spPr>
          <a:xfrm>
            <a:off x="640080" y="2606040"/>
            <a:ext cx="7863840" cy="274320"/>
          </a:xfrm>
          <a:prstGeom prst="rect">
            <a:avLst/>
          </a:prstGeom>
          <a:noFill/>
          <a:ln/>
        </p:spPr>
        <p:txBody>
          <a:bodyPr wrap="square" lIns="0" tIns="0" rIns="0" bIns="0" rtlCol="0" anchor="ctr"/>
          <a:lstStyle/>
          <a:p>
            <a:pPr algn="ctr" indent="0" marL="0">
              <a:buNone/>
            </a:pPr>
            <a:r>
              <a:rPr lang="en-US" sz="1200" i="1" dirty="0">
                <a:solidFill>
                  <a:srgbClr val="374151"/>
                </a:solidFill>
                <a:latin typeface="Arial" pitchFamily="34" charset="0"/>
                <a:ea typeface="Arial" pitchFamily="34" charset="-122"/>
                <a:cs typeface="Arial" pitchFamily="34" charset="-120"/>
              </a:rPr>
              <a:t>Stratified split — each partition keeps the 11% positive rate.</a:t>
            </a:r>
            <a:endParaRPr lang="en-US" sz="1200" dirty="0"/>
          </a:p>
        </p:txBody>
      </p:sp>
      <p:sp>
        <p:nvSpPr>
          <p:cNvPr id="17" name="Text 15"/>
          <p:cNvSpPr/>
          <p:nvPr/>
        </p:nvSpPr>
        <p:spPr>
          <a:xfrm>
            <a:off x="640080" y="3108960"/>
            <a:ext cx="7863840" cy="320040"/>
          </a:xfrm>
          <a:prstGeom prst="rect">
            <a:avLst/>
          </a:prstGeom>
          <a:noFill/>
          <a:ln/>
        </p:spPr>
        <p:txBody>
          <a:bodyPr wrap="square" lIns="0" tIns="0" rIns="0" bIns="0" rtlCol="0" anchor="ctr"/>
          <a:lstStyle/>
          <a:p>
            <a:pPr indent="0" marL="0">
              <a:buNone/>
            </a:pPr>
            <a:r>
              <a:rPr lang="en-US" sz="1400" b="1" dirty="0">
                <a:solidFill>
                  <a:srgbClr val="1F2937"/>
                </a:solidFill>
                <a:latin typeface="Arial" pitchFamily="34" charset="0"/>
                <a:ea typeface="Arial" pitchFamily="34" charset="-122"/>
                <a:cs typeface="Arial" pitchFamily="34" charset="-120"/>
              </a:rPr>
              <a:t>Metrics reported per (sampling × algorithm)</a:t>
            </a:r>
            <a:endParaRPr lang="en-US" sz="1400" dirty="0"/>
          </a:p>
        </p:txBody>
      </p:sp>
      <p:sp>
        <p:nvSpPr>
          <p:cNvPr id="18" name="Text 16"/>
          <p:cNvSpPr/>
          <p:nvPr/>
        </p:nvSpPr>
        <p:spPr>
          <a:xfrm>
            <a:off x="640080" y="3520440"/>
            <a:ext cx="1188720" cy="274320"/>
          </a:xfrm>
          <a:prstGeom prst="rect">
            <a:avLst/>
          </a:prstGeom>
          <a:noFill/>
          <a:ln/>
        </p:spPr>
        <p:txBody>
          <a:bodyPr wrap="square" lIns="0" tIns="0" rIns="0" bIns="0" rtlCol="0" anchor="ctr"/>
          <a:lstStyle/>
          <a:p>
            <a:pPr indent="0" marL="0">
              <a:buNone/>
            </a:pPr>
            <a:r>
              <a:rPr lang="en-US" sz="1200" b="1" dirty="0">
                <a:solidFill>
                  <a:srgbClr val="0891B2"/>
                </a:solidFill>
                <a:latin typeface="Consolas" pitchFamily="34" charset="0"/>
                <a:ea typeface="Consolas" pitchFamily="34" charset="-122"/>
                <a:cs typeface="Consolas" pitchFamily="34" charset="-120"/>
              </a:rPr>
              <a:t>F1</a:t>
            </a:r>
            <a:endParaRPr lang="en-US" sz="1200" dirty="0"/>
          </a:p>
        </p:txBody>
      </p:sp>
      <p:sp>
        <p:nvSpPr>
          <p:cNvPr id="19" name="Text 17"/>
          <p:cNvSpPr/>
          <p:nvPr/>
        </p:nvSpPr>
        <p:spPr>
          <a:xfrm>
            <a:off x="1828800" y="3520440"/>
            <a:ext cx="6675120" cy="274320"/>
          </a:xfrm>
          <a:prstGeom prst="rect">
            <a:avLst/>
          </a:prstGeom>
          <a:noFill/>
          <a:ln/>
        </p:spPr>
        <p:txBody>
          <a:bodyPr wrap="square" lIns="0" tIns="0" rIns="0" bIns="0" rtlCol="0" anchor="ctr"/>
          <a:lstStyle/>
          <a:p>
            <a:pPr indent="0" marL="0">
              <a:buNone/>
            </a:pPr>
            <a:r>
              <a:rPr lang="en-US" sz="1100" dirty="0">
                <a:solidFill>
                  <a:srgbClr val="374151"/>
                </a:solidFill>
                <a:latin typeface="Arial" pitchFamily="34" charset="0"/>
                <a:ea typeface="Arial" pitchFamily="34" charset="-122"/>
                <a:cs typeface="Arial" pitchFamily="34" charset="-120"/>
              </a:rPr>
              <a:t>Harmonic mean of precision and recall — the balanced view</a:t>
            </a:r>
            <a:endParaRPr lang="en-US" sz="1100" dirty="0"/>
          </a:p>
        </p:txBody>
      </p:sp>
      <p:sp>
        <p:nvSpPr>
          <p:cNvPr id="20" name="Text 18"/>
          <p:cNvSpPr/>
          <p:nvPr/>
        </p:nvSpPr>
        <p:spPr>
          <a:xfrm>
            <a:off x="640080" y="3831336"/>
            <a:ext cx="1188720" cy="274320"/>
          </a:xfrm>
          <a:prstGeom prst="rect">
            <a:avLst/>
          </a:prstGeom>
          <a:noFill/>
          <a:ln/>
        </p:spPr>
        <p:txBody>
          <a:bodyPr wrap="square" lIns="0" tIns="0" rIns="0" bIns="0" rtlCol="0" anchor="ctr"/>
          <a:lstStyle/>
          <a:p>
            <a:pPr indent="0" marL="0">
              <a:buNone/>
            </a:pPr>
            <a:r>
              <a:rPr lang="en-US" sz="1200" b="1" dirty="0">
                <a:solidFill>
                  <a:srgbClr val="0891B2"/>
                </a:solidFill>
                <a:latin typeface="Consolas" pitchFamily="34" charset="0"/>
                <a:ea typeface="Consolas" pitchFamily="34" charset="-122"/>
                <a:cs typeface="Consolas" pitchFamily="34" charset="-120"/>
              </a:rPr>
              <a:t>Precision</a:t>
            </a:r>
            <a:endParaRPr lang="en-US" sz="1200" dirty="0"/>
          </a:p>
        </p:txBody>
      </p:sp>
      <p:sp>
        <p:nvSpPr>
          <p:cNvPr id="21" name="Text 19"/>
          <p:cNvSpPr/>
          <p:nvPr/>
        </p:nvSpPr>
        <p:spPr>
          <a:xfrm>
            <a:off x="1828800" y="3831336"/>
            <a:ext cx="6675120" cy="274320"/>
          </a:xfrm>
          <a:prstGeom prst="rect">
            <a:avLst/>
          </a:prstGeom>
          <a:noFill/>
          <a:ln/>
        </p:spPr>
        <p:txBody>
          <a:bodyPr wrap="square" lIns="0" tIns="0" rIns="0" bIns="0" rtlCol="0" anchor="ctr"/>
          <a:lstStyle/>
          <a:p>
            <a:pPr indent="0" marL="0">
              <a:buNone/>
            </a:pPr>
            <a:r>
              <a:rPr lang="en-US" sz="1100" dirty="0">
                <a:solidFill>
                  <a:srgbClr val="374151"/>
                </a:solidFill>
                <a:latin typeface="Arial" pitchFamily="34" charset="0"/>
                <a:ea typeface="Arial" pitchFamily="34" charset="-122"/>
                <a:cs typeface="Arial" pitchFamily="34" charset="-120"/>
              </a:rPr>
              <a:t>Of those we flagged, how many actually responded</a:t>
            </a:r>
            <a:endParaRPr lang="en-US" sz="1100" dirty="0"/>
          </a:p>
        </p:txBody>
      </p:sp>
      <p:sp>
        <p:nvSpPr>
          <p:cNvPr id="22" name="Text 20"/>
          <p:cNvSpPr/>
          <p:nvPr/>
        </p:nvSpPr>
        <p:spPr>
          <a:xfrm>
            <a:off x="640080" y="4142232"/>
            <a:ext cx="1188720" cy="274320"/>
          </a:xfrm>
          <a:prstGeom prst="rect">
            <a:avLst/>
          </a:prstGeom>
          <a:noFill/>
          <a:ln/>
        </p:spPr>
        <p:txBody>
          <a:bodyPr wrap="square" lIns="0" tIns="0" rIns="0" bIns="0" rtlCol="0" anchor="ctr"/>
          <a:lstStyle/>
          <a:p>
            <a:pPr indent="0" marL="0">
              <a:buNone/>
            </a:pPr>
            <a:r>
              <a:rPr lang="en-US" sz="1200" b="1" dirty="0">
                <a:solidFill>
                  <a:srgbClr val="0891B2"/>
                </a:solidFill>
                <a:latin typeface="Consolas" pitchFamily="34" charset="0"/>
                <a:ea typeface="Consolas" pitchFamily="34" charset="-122"/>
                <a:cs typeface="Consolas" pitchFamily="34" charset="-120"/>
              </a:rPr>
              <a:t>Recall</a:t>
            </a:r>
            <a:endParaRPr lang="en-US" sz="1200" dirty="0"/>
          </a:p>
        </p:txBody>
      </p:sp>
      <p:sp>
        <p:nvSpPr>
          <p:cNvPr id="23" name="Text 21"/>
          <p:cNvSpPr/>
          <p:nvPr/>
        </p:nvSpPr>
        <p:spPr>
          <a:xfrm>
            <a:off x="1828800" y="4142232"/>
            <a:ext cx="6675120" cy="274320"/>
          </a:xfrm>
          <a:prstGeom prst="rect">
            <a:avLst/>
          </a:prstGeom>
          <a:noFill/>
          <a:ln/>
        </p:spPr>
        <p:txBody>
          <a:bodyPr wrap="square" lIns="0" tIns="0" rIns="0" bIns="0" rtlCol="0" anchor="ctr"/>
          <a:lstStyle/>
          <a:p>
            <a:pPr indent="0" marL="0">
              <a:buNone/>
            </a:pPr>
            <a:r>
              <a:rPr lang="en-US" sz="1100" dirty="0">
                <a:solidFill>
                  <a:srgbClr val="374151"/>
                </a:solidFill>
                <a:latin typeface="Arial" pitchFamily="34" charset="0"/>
                <a:ea typeface="Arial" pitchFamily="34" charset="-122"/>
                <a:cs typeface="Arial" pitchFamily="34" charset="-120"/>
              </a:rPr>
              <a:t>Of those who responded, how many did we catch</a:t>
            </a:r>
            <a:endParaRPr lang="en-US" sz="1100" dirty="0"/>
          </a:p>
        </p:txBody>
      </p:sp>
      <p:sp>
        <p:nvSpPr>
          <p:cNvPr id="24" name="Text 22"/>
          <p:cNvSpPr/>
          <p:nvPr/>
        </p:nvSpPr>
        <p:spPr>
          <a:xfrm>
            <a:off x="640080" y="4453128"/>
            <a:ext cx="1188720" cy="274320"/>
          </a:xfrm>
          <a:prstGeom prst="rect">
            <a:avLst/>
          </a:prstGeom>
          <a:noFill/>
          <a:ln/>
        </p:spPr>
        <p:txBody>
          <a:bodyPr wrap="square" lIns="0" tIns="0" rIns="0" bIns="0" rtlCol="0" anchor="ctr"/>
          <a:lstStyle/>
          <a:p>
            <a:pPr indent="0" marL="0">
              <a:buNone/>
            </a:pPr>
            <a:r>
              <a:rPr lang="en-US" sz="1200" b="1" dirty="0">
                <a:solidFill>
                  <a:srgbClr val="0891B2"/>
                </a:solidFill>
                <a:latin typeface="Consolas" pitchFamily="34" charset="0"/>
                <a:ea typeface="Consolas" pitchFamily="34" charset="-122"/>
                <a:cs typeface="Consolas" pitchFamily="34" charset="-120"/>
              </a:rPr>
              <a:t>AUC</a:t>
            </a:r>
            <a:endParaRPr lang="en-US" sz="1200" dirty="0"/>
          </a:p>
        </p:txBody>
      </p:sp>
      <p:sp>
        <p:nvSpPr>
          <p:cNvPr id="25" name="Text 23"/>
          <p:cNvSpPr/>
          <p:nvPr/>
        </p:nvSpPr>
        <p:spPr>
          <a:xfrm>
            <a:off x="1828800" y="4453128"/>
            <a:ext cx="6675120" cy="274320"/>
          </a:xfrm>
          <a:prstGeom prst="rect">
            <a:avLst/>
          </a:prstGeom>
          <a:noFill/>
          <a:ln/>
        </p:spPr>
        <p:txBody>
          <a:bodyPr wrap="square" lIns="0" tIns="0" rIns="0" bIns="0" rtlCol="0" anchor="ctr"/>
          <a:lstStyle/>
          <a:p>
            <a:pPr indent="0" marL="0">
              <a:buNone/>
            </a:pPr>
            <a:r>
              <a:rPr lang="en-US" sz="1100" dirty="0">
                <a:solidFill>
                  <a:srgbClr val="374151"/>
                </a:solidFill>
                <a:latin typeface="Arial" pitchFamily="34" charset="0"/>
                <a:ea typeface="Arial" pitchFamily="34" charset="-122"/>
                <a:cs typeface="Arial" pitchFamily="34" charset="-120"/>
              </a:rPr>
              <a:t>Ranking quality — does the model order responders above non-responders</a:t>
            </a:r>
            <a:endParaRPr lang="en-US" sz="11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9144000" cy="45720"/>
          </a:xfrm>
          <a:prstGeom prst="rect">
            <a:avLst/>
          </a:prstGeom>
          <a:solidFill>
            <a:srgbClr val="0891B2"/>
          </a:solidFill>
          <a:ln/>
        </p:spPr>
      </p:sp>
      <p:sp>
        <p:nvSpPr>
          <p:cNvPr id="3" name="Text 1"/>
          <p:cNvSpPr/>
          <p:nvPr/>
        </p:nvSpPr>
        <p:spPr>
          <a:xfrm>
            <a:off x="640080" y="4828032"/>
            <a:ext cx="5486400" cy="228600"/>
          </a:xfrm>
          <a:prstGeom prst="rect">
            <a:avLst/>
          </a:prstGeom>
          <a:noFill/>
          <a:ln/>
        </p:spPr>
        <p:txBody>
          <a:bodyPr wrap="square" lIns="0" tIns="0" rIns="0" bIns="0" rtlCol="0" anchor="ctr"/>
          <a:lstStyle/>
          <a:p>
            <a:pPr indent="0" marL="0">
              <a:buNone/>
            </a:pPr>
            <a:r>
              <a:rPr lang="en-US" sz="900" dirty="0">
                <a:solidFill>
                  <a:srgbClr val="9CA3AF"/>
                </a:solidFill>
                <a:latin typeface="Arial" pitchFamily="34" charset="0"/>
                <a:ea typeface="Arial" pitchFamily="34" charset="-122"/>
                <a:cs typeface="Arial" pitchFamily="34" charset="-120"/>
              </a:rPr>
              <a:t>NIDA  |  MADT6004  |  Module 3 — lift</a:t>
            </a:r>
            <a:endParaRPr lang="en-US" sz="900" dirty="0"/>
          </a:p>
        </p:txBody>
      </p:sp>
      <p:sp>
        <p:nvSpPr>
          <p:cNvPr id="4" name="Text 2"/>
          <p:cNvSpPr/>
          <p:nvPr/>
        </p:nvSpPr>
        <p:spPr>
          <a:xfrm>
            <a:off x="7772400" y="4800600"/>
            <a:ext cx="914400" cy="274320"/>
          </a:xfrm>
          <a:prstGeom prst="rect">
            <a:avLst/>
          </a:prstGeom>
          <a:noFill/>
          <a:ln/>
        </p:spPr>
        <p:txBody>
          <a:bodyPr wrap="square" lIns="0" tIns="0" rIns="0" bIns="0" rtlCol="0" anchor="ctr"/>
          <a:lstStyle/>
          <a:p>
            <a:pPr algn="r" indent="0" marL="0">
              <a:buNone/>
            </a:pPr>
            <a:r>
              <a:rPr lang="en-US" sz="1200" b="1" dirty="0">
                <a:solidFill>
                  <a:srgbClr val="0891B2"/>
                </a:solidFill>
                <a:latin typeface="Arial" pitchFamily="34" charset="0"/>
                <a:ea typeface="Arial" pitchFamily="34" charset="-122"/>
                <a:cs typeface="Arial" pitchFamily="34" charset="-120"/>
              </a:rPr>
              <a:t>MADT</a:t>
            </a:r>
            <a:endParaRPr lang="en-US" sz="1200" dirty="0"/>
          </a:p>
        </p:txBody>
      </p:sp>
      <p:sp>
        <p:nvSpPr>
          <p:cNvPr id="5" name="Text 3"/>
          <p:cNvSpPr/>
          <p:nvPr/>
        </p:nvSpPr>
        <p:spPr>
          <a:xfrm>
            <a:off x="640080" y="274320"/>
            <a:ext cx="7863840" cy="502920"/>
          </a:xfrm>
          <a:prstGeom prst="rect">
            <a:avLst/>
          </a:prstGeom>
          <a:noFill/>
          <a:ln/>
        </p:spPr>
        <p:txBody>
          <a:bodyPr wrap="square" lIns="0" tIns="0" rIns="0" bIns="0" rtlCol="0" anchor="ctr"/>
          <a:lstStyle/>
          <a:p>
            <a:pPr indent="0" marL="0">
              <a:buNone/>
            </a:pPr>
            <a:r>
              <a:rPr lang="en-US" sz="2800" b="1" dirty="0">
                <a:solidFill>
                  <a:srgbClr val="1F2937"/>
                </a:solidFill>
                <a:latin typeface="Arial" pitchFamily="34" charset="0"/>
                <a:ea typeface="Arial" pitchFamily="34" charset="-122"/>
                <a:cs typeface="Arial" pitchFamily="34" charset="-120"/>
              </a:rPr>
              <a:t>Lift by decile</a:t>
            </a:r>
            <a:endParaRPr lang="en-US" sz="2800" dirty="0"/>
          </a:p>
        </p:txBody>
      </p:sp>
      <p:sp>
        <p:nvSpPr>
          <p:cNvPr id="6" name="Text 4"/>
          <p:cNvSpPr/>
          <p:nvPr/>
        </p:nvSpPr>
        <p:spPr>
          <a:xfrm>
            <a:off x="640080" y="777240"/>
            <a:ext cx="7863840" cy="274320"/>
          </a:xfrm>
          <a:prstGeom prst="rect">
            <a:avLst/>
          </a:prstGeom>
          <a:noFill/>
          <a:ln/>
        </p:spPr>
        <p:txBody>
          <a:bodyPr wrap="square" lIns="0" tIns="0" rIns="0" bIns="0" rtlCol="0" anchor="ctr"/>
          <a:lstStyle/>
          <a:p>
            <a:pPr indent="0" marL="0">
              <a:buNone/>
            </a:pPr>
            <a:r>
              <a:rPr lang="en-US" sz="1300" i="1" dirty="0">
                <a:solidFill>
                  <a:srgbClr val="6B7280"/>
                </a:solidFill>
                <a:latin typeface="Arial" pitchFamily="34" charset="0"/>
                <a:ea typeface="Arial" pitchFamily="34" charset="-122"/>
                <a:cs typeface="Arial" pitchFamily="34" charset="-120"/>
              </a:rPr>
              <a:t>The chart that survives every campaign post-mortem.</a:t>
            </a:r>
            <a:endParaRPr lang="en-US" sz="1300" dirty="0"/>
          </a:p>
        </p:txBody>
      </p:sp>
      <p:sp>
        <p:nvSpPr>
          <p:cNvPr id="7" name="Shape 5"/>
          <p:cNvSpPr/>
          <p:nvPr/>
        </p:nvSpPr>
        <p:spPr>
          <a:xfrm>
            <a:off x="640080" y="1280160"/>
            <a:ext cx="1280160" cy="365760"/>
          </a:xfrm>
          <a:prstGeom prst="rect">
            <a:avLst/>
          </a:prstGeom>
          <a:solidFill>
            <a:srgbClr val="0891B2"/>
          </a:solidFill>
          <a:ln/>
        </p:spPr>
      </p:sp>
      <p:sp>
        <p:nvSpPr>
          <p:cNvPr id="8" name="Text 6"/>
          <p:cNvSpPr/>
          <p:nvPr/>
        </p:nvSpPr>
        <p:spPr>
          <a:xfrm>
            <a:off x="640080" y="1280160"/>
            <a:ext cx="1280160" cy="365760"/>
          </a:xfrm>
          <a:prstGeom prst="rect">
            <a:avLst/>
          </a:prstGeom>
          <a:noFill/>
          <a:ln/>
        </p:spPr>
        <p:txBody>
          <a:bodyPr wrap="square" lIns="0" tIns="0" rIns="0" bIns="0" rtlCol="0" anchor="ctr"/>
          <a:lstStyle/>
          <a:p>
            <a:pPr algn="ctr" indent="0" marL="0">
              <a:buNone/>
            </a:pPr>
            <a:r>
              <a:rPr lang="en-US" sz="1100" b="1" dirty="0">
                <a:solidFill>
                  <a:srgbClr val="FFFFFF"/>
                </a:solidFill>
                <a:latin typeface="Arial" pitchFamily="34" charset="0"/>
                <a:ea typeface="Arial" pitchFamily="34" charset="-122"/>
                <a:cs typeface="Arial" pitchFamily="34" charset="-120"/>
              </a:rPr>
              <a:t>Decile</a:t>
            </a:r>
            <a:endParaRPr lang="en-US" sz="1100" dirty="0"/>
          </a:p>
        </p:txBody>
      </p:sp>
      <p:sp>
        <p:nvSpPr>
          <p:cNvPr id="9" name="Shape 7"/>
          <p:cNvSpPr/>
          <p:nvPr/>
        </p:nvSpPr>
        <p:spPr>
          <a:xfrm>
            <a:off x="1920240" y="1280160"/>
            <a:ext cx="1463040" cy="365760"/>
          </a:xfrm>
          <a:prstGeom prst="rect">
            <a:avLst/>
          </a:prstGeom>
          <a:solidFill>
            <a:srgbClr val="0891B2"/>
          </a:solidFill>
          <a:ln/>
        </p:spPr>
      </p:sp>
      <p:sp>
        <p:nvSpPr>
          <p:cNvPr id="10" name="Text 8"/>
          <p:cNvSpPr/>
          <p:nvPr/>
        </p:nvSpPr>
        <p:spPr>
          <a:xfrm>
            <a:off x="1920240" y="1280160"/>
            <a:ext cx="1463040" cy="365760"/>
          </a:xfrm>
          <a:prstGeom prst="rect">
            <a:avLst/>
          </a:prstGeom>
          <a:noFill/>
          <a:ln/>
        </p:spPr>
        <p:txBody>
          <a:bodyPr wrap="square" lIns="0" tIns="0" rIns="0" bIns="0" rtlCol="0" anchor="ctr"/>
          <a:lstStyle/>
          <a:p>
            <a:pPr algn="ctr" indent="0" marL="0">
              <a:buNone/>
            </a:pPr>
            <a:r>
              <a:rPr lang="en-US" sz="1100" b="1" dirty="0">
                <a:solidFill>
                  <a:srgbClr val="FFFFFF"/>
                </a:solidFill>
                <a:latin typeface="Arial" pitchFamily="34" charset="0"/>
                <a:ea typeface="Arial" pitchFamily="34" charset="-122"/>
                <a:cs typeface="Arial" pitchFamily="34" charset="-120"/>
              </a:rPr>
              <a:t>% of pop</a:t>
            </a:r>
            <a:endParaRPr lang="en-US" sz="1100" dirty="0"/>
          </a:p>
        </p:txBody>
      </p:sp>
      <p:sp>
        <p:nvSpPr>
          <p:cNvPr id="11" name="Shape 9"/>
          <p:cNvSpPr/>
          <p:nvPr/>
        </p:nvSpPr>
        <p:spPr>
          <a:xfrm>
            <a:off x="3383280" y="1280160"/>
            <a:ext cx="1463040" cy="365760"/>
          </a:xfrm>
          <a:prstGeom prst="rect">
            <a:avLst/>
          </a:prstGeom>
          <a:solidFill>
            <a:srgbClr val="0891B2"/>
          </a:solidFill>
          <a:ln/>
        </p:spPr>
      </p:sp>
      <p:sp>
        <p:nvSpPr>
          <p:cNvPr id="12" name="Text 10"/>
          <p:cNvSpPr/>
          <p:nvPr/>
        </p:nvSpPr>
        <p:spPr>
          <a:xfrm>
            <a:off x="3383280" y="1280160"/>
            <a:ext cx="1463040" cy="365760"/>
          </a:xfrm>
          <a:prstGeom prst="rect">
            <a:avLst/>
          </a:prstGeom>
          <a:noFill/>
          <a:ln/>
        </p:spPr>
        <p:txBody>
          <a:bodyPr wrap="square" lIns="0" tIns="0" rIns="0" bIns="0" rtlCol="0" anchor="ctr"/>
          <a:lstStyle/>
          <a:p>
            <a:pPr algn="ctr" indent="0" marL="0">
              <a:buNone/>
            </a:pPr>
            <a:r>
              <a:rPr lang="en-US" sz="1100" b="1" dirty="0">
                <a:solidFill>
                  <a:srgbClr val="FFFFFF"/>
                </a:solidFill>
                <a:latin typeface="Arial" pitchFamily="34" charset="0"/>
                <a:ea typeface="Arial" pitchFamily="34" charset="-122"/>
                <a:cs typeface="Arial" pitchFamily="34" charset="-120"/>
              </a:rPr>
              <a:t>Resp rate</a:t>
            </a:r>
            <a:endParaRPr lang="en-US" sz="1100" dirty="0"/>
          </a:p>
        </p:txBody>
      </p:sp>
      <p:sp>
        <p:nvSpPr>
          <p:cNvPr id="13" name="Shape 11"/>
          <p:cNvSpPr/>
          <p:nvPr/>
        </p:nvSpPr>
        <p:spPr>
          <a:xfrm>
            <a:off x="4846320" y="1280160"/>
            <a:ext cx="1280160" cy="365760"/>
          </a:xfrm>
          <a:prstGeom prst="rect">
            <a:avLst/>
          </a:prstGeom>
          <a:solidFill>
            <a:srgbClr val="0891B2"/>
          </a:solidFill>
          <a:ln/>
        </p:spPr>
      </p:sp>
      <p:sp>
        <p:nvSpPr>
          <p:cNvPr id="14" name="Text 12"/>
          <p:cNvSpPr/>
          <p:nvPr/>
        </p:nvSpPr>
        <p:spPr>
          <a:xfrm>
            <a:off x="4846320" y="1280160"/>
            <a:ext cx="1280160" cy="365760"/>
          </a:xfrm>
          <a:prstGeom prst="rect">
            <a:avLst/>
          </a:prstGeom>
          <a:noFill/>
          <a:ln/>
        </p:spPr>
        <p:txBody>
          <a:bodyPr wrap="square" lIns="0" tIns="0" rIns="0" bIns="0" rtlCol="0" anchor="ctr"/>
          <a:lstStyle/>
          <a:p>
            <a:pPr algn="ctr" indent="0" marL="0">
              <a:buNone/>
            </a:pPr>
            <a:r>
              <a:rPr lang="en-US" sz="1100" b="1" dirty="0">
                <a:solidFill>
                  <a:srgbClr val="FFFFFF"/>
                </a:solidFill>
                <a:latin typeface="Arial" pitchFamily="34" charset="0"/>
                <a:ea typeface="Arial" pitchFamily="34" charset="-122"/>
                <a:cs typeface="Arial" pitchFamily="34" charset="-120"/>
              </a:rPr>
              <a:t>Lift</a:t>
            </a:r>
            <a:endParaRPr lang="en-US" sz="1100" dirty="0"/>
          </a:p>
        </p:txBody>
      </p:sp>
      <p:sp>
        <p:nvSpPr>
          <p:cNvPr id="15" name="Shape 13"/>
          <p:cNvSpPr/>
          <p:nvPr/>
        </p:nvSpPr>
        <p:spPr>
          <a:xfrm>
            <a:off x="6126480" y="1280160"/>
            <a:ext cx="2286000" cy="365760"/>
          </a:xfrm>
          <a:prstGeom prst="rect">
            <a:avLst/>
          </a:prstGeom>
          <a:solidFill>
            <a:srgbClr val="0891B2"/>
          </a:solidFill>
          <a:ln/>
        </p:spPr>
      </p:sp>
      <p:sp>
        <p:nvSpPr>
          <p:cNvPr id="16" name="Text 14"/>
          <p:cNvSpPr/>
          <p:nvPr/>
        </p:nvSpPr>
        <p:spPr>
          <a:xfrm>
            <a:off x="6126480" y="1280160"/>
            <a:ext cx="2286000" cy="365760"/>
          </a:xfrm>
          <a:prstGeom prst="rect">
            <a:avLst/>
          </a:prstGeom>
          <a:noFill/>
          <a:ln/>
        </p:spPr>
        <p:txBody>
          <a:bodyPr wrap="square" lIns="0" tIns="0" rIns="0" bIns="0" rtlCol="0" anchor="ctr"/>
          <a:lstStyle/>
          <a:p>
            <a:pPr algn="ctr" indent="0" marL="0">
              <a:buNone/>
            </a:pPr>
            <a:r>
              <a:rPr lang="en-US" sz="1100" b="1" dirty="0">
                <a:solidFill>
                  <a:srgbClr val="FFFFFF"/>
                </a:solidFill>
                <a:latin typeface="Arial" pitchFamily="34" charset="0"/>
                <a:ea typeface="Arial" pitchFamily="34" charset="-122"/>
                <a:cs typeface="Arial" pitchFamily="34" charset="-120"/>
              </a:rPr>
              <a:t>Cum capture</a:t>
            </a:r>
            <a:endParaRPr lang="en-US" sz="1100" dirty="0"/>
          </a:p>
        </p:txBody>
      </p:sp>
      <p:sp>
        <p:nvSpPr>
          <p:cNvPr id="17" name="Shape 15"/>
          <p:cNvSpPr/>
          <p:nvPr/>
        </p:nvSpPr>
        <p:spPr>
          <a:xfrm>
            <a:off x="640080" y="1645920"/>
            <a:ext cx="1280160" cy="292608"/>
          </a:xfrm>
          <a:prstGeom prst="rect">
            <a:avLst/>
          </a:prstGeom>
          <a:solidFill>
            <a:srgbClr val="FFFFFF"/>
          </a:solidFill>
          <a:ln w="6350">
            <a:solidFill>
              <a:srgbClr val="D1D5DB"/>
            </a:solidFill>
            <a:prstDash val="solid"/>
          </a:ln>
        </p:spPr>
      </p:sp>
      <p:sp>
        <p:nvSpPr>
          <p:cNvPr id="18" name="Text 16"/>
          <p:cNvSpPr/>
          <p:nvPr/>
        </p:nvSpPr>
        <p:spPr>
          <a:xfrm>
            <a:off x="685800" y="1645920"/>
            <a:ext cx="1188720" cy="292608"/>
          </a:xfrm>
          <a:prstGeom prst="rect">
            <a:avLst/>
          </a:prstGeom>
          <a:noFill/>
          <a:ln/>
        </p:spPr>
        <p:txBody>
          <a:bodyPr wrap="square" lIns="0" tIns="0" rIns="0" bIns="0" rtlCol="0" anchor="ctr"/>
          <a:lstStyle/>
          <a:p>
            <a:pPr algn="l" indent="0" marL="0">
              <a:buNone/>
            </a:pPr>
            <a:r>
              <a:rPr lang="en-US" sz="1100" dirty="0">
                <a:solidFill>
                  <a:srgbClr val="374151"/>
                </a:solidFill>
                <a:latin typeface="Arial" pitchFamily="34" charset="0"/>
                <a:ea typeface="Arial" pitchFamily="34" charset="-122"/>
                <a:cs typeface="Arial" pitchFamily="34" charset="-120"/>
              </a:rPr>
              <a:t>1 (top)</a:t>
            </a:r>
            <a:endParaRPr lang="en-US" sz="1100" dirty="0"/>
          </a:p>
        </p:txBody>
      </p:sp>
      <p:sp>
        <p:nvSpPr>
          <p:cNvPr id="19" name="Shape 17"/>
          <p:cNvSpPr/>
          <p:nvPr/>
        </p:nvSpPr>
        <p:spPr>
          <a:xfrm>
            <a:off x="1920240" y="1645920"/>
            <a:ext cx="1463040" cy="292608"/>
          </a:xfrm>
          <a:prstGeom prst="rect">
            <a:avLst/>
          </a:prstGeom>
          <a:solidFill>
            <a:srgbClr val="FFFFFF"/>
          </a:solidFill>
          <a:ln w="6350">
            <a:solidFill>
              <a:srgbClr val="D1D5DB"/>
            </a:solidFill>
            <a:prstDash val="solid"/>
          </a:ln>
        </p:spPr>
      </p:sp>
      <p:sp>
        <p:nvSpPr>
          <p:cNvPr id="20" name="Text 18"/>
          <p:cNvSpPr/>
          <p:nvPr/>
        </p:nvSpPr>
        <p:spPr>
          <a:xfrm>
            <a:off x="1965960" y="1645920"/>
            <a:ext cx="1371600" cy="292608"/>
          </a:xfrm>
          <a:prstGeom prst="rect">
            <a:avLst/>
          </a:prstGeom>
          <a:noFill/>
          <a:ln/>
        </p:spPr>
        <p:txBody>
          <a:bodyPr wrap="square" lIns="0" tIns="0" rIns="0" bIns="0" rtlCol="0" anchor="ctr"/>
          <a:lstStyle/>
          <a:p>
            <a:pPr algn="ctr" indent="0" marL="0">
              <a:buNone/>
            </a:pPr>
            <a:r>
              <a:rPr lang="en-US" sz="1100" dirty="0">
                <a:solidFill>
                  <a:srgbClr val="374151"/>
                </a:solidFill>
                <a:latin typeface="Arial" pitchFamily="34" charset="0"/>
                <a:ea typeface="Arial" pitchFamily="34" charset="-122"/>
                <a:cs typeface="Arial" pitchFamily="34" charset="-120"/>
              </a:rPr>
              <a:t>10%</a:t>
            </a:r>
            <a:endParaRPr lang="en-US" sz="1100" dirty="0"/>
          </a:p>
        </p:txBody>
      </p:sp>
      <p:sp>
        <p:nvSpPr>
          <p:cNvPr id="21" name="Shape 19"/>
          <p:cNvSpPr/>
          <p:nvPr/>
        </p:nvSpPr>
        <p:spPr>
          <a:xfrm>
            <a:off x="3383280" y="1645920"/>
            <a:ext cx="1463040" cy="292608"/>
          </a:xfrm>
          <a:prstGeom prst="rect">
            <a:avLst/>
          </a:prstGeom>
          <a:solidFill>
            <a:srgbClr val="FFFFFF"/>
          </a:solidFill>
          <a:ln w="6350">
            <a:solidFill>
              <a:srgbClr val="D1D5DB"/>
            </a:solidFill>
            <a:prstDash val="solid"/>
          </a:ln>
        </p:spPr>
      </p:sp>
      <p:sp>
        <p:nvSpPr>
          <p:cNvPr id="22" name="Text 20"/>
          <p:cNvSpPr/>
          <p:nvPr/>
        </p:nvSpPr>
        <p:spPr>
          <a:xfrm>
            <a:off x="3429000" y="1645920"/>
            <a:ext cx="1371600" cy="292608"/>
          </a:xfrm>
          <a:prstGeom prst="rect">
            <a:avLst/>
          </a:prstGeom>
          <a:noFill/>
          <a:ln/>
        </p:spPr>
        <p:txBody>
          <a:bodyPr wrap="square" lIns="0" tIns="0" rIns="0" bIns="0" rtlCol="0" anchor="ctr"/>
          <a:lstStyle/>
          <a:p>
            <a:pPr algn="ctr" indent="0" marL="0">
              <a:buNone/>
            </a:pPr>
            <a:r>
              <a:rPr lang="en-US" sz="1100" dirty="0">
                <a:solidFill>
                  <a:srgbClr val="374151"/>
                </a:solidFill>
                <a:latin typeface="Arial" pitchFamily="34" charset="0"/>
                <a:ea typeface="Arial" pitchFamily="34" charset="-122"/>
                <a:cs typeface="Arial" pitchFamily="34" charset="-120"/>
              </a:rPr>
              <a:t>33%</a:t>
            </a:r>
            <a:endParaRPr lang="en-US" sz="1100" dirty="0"/>
          </a:p>
        </p:txBody>
      </p:sp>
      <p:sp>
        <p:nvSpPr>
          <p:cNvPr id="23" name="Shape 21"/>
          <p:cNvSpPr/>
          <p:nvPr/>
        </p:nvSpPr>
        <p:spPr>
          <a:xfrm>
            <a:off x="4846320" y="1645920"/>
            <a:ext cx="1280160" cy="292608"/>
          </a:xfrm>
          <a:prstGeom prst="rect">
            <a:avLst/>
          </a:prstGeom>
          <a:solidFill>
            <a:srgbClr val="FFFFFF"/>
          </a:solidFill>
          <a:ln w="6350">
            <a:solidFill>
              <a:srgbClr val="D1D5DB"/>
            </a:solidFill>
            <a:prstDash val="solid"/>
          </a:ln>
        </p:spPr>
      </p:sp>
      <p:sp>
        <p:nvSpPr>
          <p:cNvPr id="24" name="Text 22"/>
          <p:cNvSpPr/>
          <p:nvPr/>
        </p:nvSpPr>
        <p:spPr>
          <a:xfrm>
            <a:off x="4892040" y="1645920"/>
            <a:ext cx="1188720" cy="292608"/>
          </a:xfrm>
          <a:prstGeom prst="rect">
            <a:avLst/>
          </a:prstGeom>
          <a:noFill/>
          <a:ln/>
        </p:spPr>
        <p:txBody>
          <a:bodyPr wrap="square" lIns="0" tIns="0" rIns="0" bIns="0" rtlCol="0" anchor="ctr"/>
          <a:lstStyle/>
          <a:p>
            <a:pPr algn="ctr" indent="0" marL="0">
              <a:buNone/>
            </a:pPr>
            <a:r>
              <a:rPr lang="en-US" sz="1100" b="1" dirty="0">
                <a:solidFill>
                  <a:srgbClr val="0891B2"/>
                </a:solidFill>
                <a:latin typeface="Consolas" pitchFamily="34" charset="0"/>
                <a:ea typeface="Consolas" pitchFamily="34" charset="-122"/>
                <a:cs typeface="Consolas" pitchFamily="34" charset="-120"/>
              </a:rPr>
              <a:t>3.0x</a:t>
            </a:r>
            <a:endParaRPr lang="en-US" sz="1100" dirty="0"/>
          </a:p>
        </p:txBody>
      </p:sp>
      <p:sp>
        <p:nvSpPr>
          <p:cNvPr id="25" name="Shape 23"/>
          <p:cNvSpPr/>
          <p:nvPr/>
        </p:nvSpPr>
        <p:spPr>
          <a:xfrm>
            <a:off x="6126480" y="1645920"/>
            <a:ext cx="2286000" cy="292608"/>
          </a:xfrm>
          <a:prstGeom prst="rect">
            <a:avLst/>
          </a:prstGeom>
          <a:solidFill>
            <a:srgbClr val="FFFFFF"/>
          </a:solidFill>
          <a:ln w="6350">
            <a:solidFill>
              <a:srgbClr val="D1D5DB"/>
            </a:solidFill>
            <a:prstDash val="solid"/>
          </a:ln>
        </p:spPr>
      </p:sp>
      <p:sp>
        <p:nvSpPr>
          <p:cNvPr id="26" name="Text 24"/>
          <p:cNvSpPr/>
          <p:nvPr/>
        </p:nvSpPr>
        <p:spPr>
          <a:xfrm>
            <a:off x="6172200" y="1645920"/>
            <a:ext cx="2194560" cy="292608"/>
          </a:xfrm>
          <a:prstGeom prst="rect">
            <a:avLst/>
          </a:prstGeom>
          <a:noFill/>
          <a:ln/>
        </p:spPr>
        <p:txBody>
          <a:bodyPr wrap="square" lIns="0" tIns="0" rIns="0" bIns="0" rtlCol="0" anchor="ctr"/>
          <a:lstStyle/>
          <a:p>
            <a:pPr algn="ctr" indent="0" marL="0">
              <a:buNone/>
            </a:pPr>
            <a:r>
              <a:rPr lang="en-US" sz="1100" dirty="0">
                <a:solidFill>
                  <a:srgbClr val="374151"/>
                </a:solidFill>
                <a:latin typeface="Arial" pitchFamily="34" charset="0"/>
                <a:ea typeface="Arial" pitchFamily="34" charset="-122"/>
                <a:cs typeface="Arial" pitchFamily="34" charset="-120"/>
              </a:rPr>
              <a:t>27%</a:t>
            </a:r>
            <a:endParaRPr lang="en-US" sz="1100" dirty="0"/>
          </a:p>
        </p:txBody>
      </p:sp>
      <p:sp>
        <p:nvSpPr>
          <p:cNvPr id="27" name="Shape 25"/>
          <p:cNvSpPr/>
          <p:nvPr/>
        </p:nvSpPr>
        <p:spPr>
          <a:xfrm>
            <a:off x="640080" y="1938528"/>
            <a:ext cx="1280160" cy="292608"/>
          </a:xfrm>
          <a:prstGeom prst="rect">
            <a:avLst/>
          </a:prstGeom>
          <a:solidFill>
            <a:srgbClr val="F3F4F6"/>
          </a:solidFill>
          <a:ln w="6350">
            <a:solidFill>
              <a:srgbClr val="D1D5DB"/>
            </a:solidFill>
            <a:prstDash val="solid"/>
          </a:ln>
        </p:spPr>
      </p:sp>
      <p:sp>
        <p:nvSpPr>
          <p:cNvPr id="28" name="Text 26"/>
          <p:cNvSpPr/>
          <p:nvPr/>
        </p:nvSpPr>
        <p:spPr>
          <a:xfrm>
            <a:off x="685800" y="1938528"/>
            <a:ext cx="1188720" cy="292608"/>
          </a:xfrm>
          <a:prstGeom prst="rect">
            <a:avLst/>
          </a:prstGeom>
          <a:noFill/>
          <a:ln/>
        </p:spPr>
        <p:txBody>
          <a:bodyPr wrap="square" lIns="0" tIns="0" rIns="0" bIns="0" rtlCol="0" anchor="ctr"/>
          <a:lstStyle/>
          <a:p>
            <a:pPr algn="l" indent="0" marL="0">
              <a:buNone/>
            </a:pPr>
            <a:r>
              <a:rPr lang="en-US" sz="1100" dirty="0">
                <a:solidFill>
                  <a:srgbClr val="374151"/>
                </a:solidFill>
                <a:latin typeface="Arial" pitchFamily="34" charset="0"/>
                <a:ea typeface="Arial" pitchFamily="34" charset="-122"/>
                <a:cs typeface="Arial" pitchFamily="34" charset="-120"/>
              </a:rPr>
              <a:t>2</a:t>
            </a:r>
            <a:endParaRPr lang="en-US" sz="1100" dirty="0"/>
          </a:p>
        </p:txBody>
      </p:sp>
      <p:sp>
        <p:nvSpPr>
          <p:cNvPr id="29" name="Shape 27"/>
          <p:cNvSpPr/>
          <p:nvPr/>
        </p:nvSpPr>
        <p:spPr>
          <a:xfrm>
            <a:off x="1920240" y="1938528"/>
            <a:ext cx="1463040" cy="292608"/>
          </a:xfrm>
          <a:prstGeom prst="rect">
            <a:avLst/>
          </a:prstGeom>
          <a:solidFill>
            <a:srgbClr val="F3F4F6"/>
          </a:solidFill>
          <a:ln w="6350">
            <a:solidFill>
              <a:srgbClr val="D1D5DB"/>
            </a:solidFill>
            <a:prstDash val="solid"/>
          </a:ln>
        </p:spPr>
      </p:sp>
      <p:sp>
        <p:nvSpPr>
          <p:cNvPr id="30" name="Text 28"/>
          <p:cNvSpPr/>
          <p:nvPr/>
        </p:nvSpPr>
        <p:spPr>
          <a:xfrm>
            <a:off x="1965960" y="1938528"/>
            <a:ext cx="1371600" cy="292608"/>
          </a:xfrm>
          <a:prstGeom prst="rect">
            <a:avLst/>
          </a:prstGeom>
          <a:noFill/>
          <a:ln/>
        </p:spPr>
        <p:txBody>
          <a:bodyPr wrap="square" lIns="0" tIns="0" rIns="0" bIns="0" rtlCol="0" anchor="ctr"/>
          <a:lstStyle/>
          <a:p>
            <a:pPr algn="ctr" indent="0" marL="0">
              <a:buNone/>
            </a:pPr>
            <a:r>
              <a:rPr lang="en-US" sz="1100" dirty="0">
                <a:solidFill>
                  <a:srgbClr val="374151"/>
                </a:solidFill>
                <a:latin typeface="Arial" pitchFamily="34" charset="0"/>
                <a:ea typeface="Arial" pitchFamily="34" charset="-122"/>
                <a:cs typeface="Arial" pitchFamily="34" charset="-120"/>
              </a:rPr>
              <a:t>10%</a:t>
            </a:r>
            <a:endParaRPr lang="en-US" sz="1100" dirty="0"/>
          </a:p>
        </p:txBody>
      </p:sp>
      <p:sp>
        <p:nvSpPr>
          <p:cNvPr id="31" name="Shape 29"/>
          <p:cNvSpPr/>
          <p:nvPr/>
        </p:nvSpPr>
        <p:spPr>
          <a:xfrm>
            <a:off x="3383280" y="1938528"/>
            <a:ext cx="1463040" cy="292608"/>
          </a:xfrm>
          <a:prstGeom prst="rect">
            <a:avLst/>
          </a:prstGeom>
          <a:solidFill>
            <a:srgbClr val="F3F4F6"/>
          </a:solidFill>
          <a:ln w="6350">
            <a:solidFill>
              <a:srgbClr val="D1D5DB"/>
            </a:solidFill>
            <a:prstDash val="solid"/>
          </a:ln>
        </p:spPr>
      </p:sp>
      <p:sp>
        <p:nvSpPr>
          <p:cNvPr id="32" name="Text 30"/>
          <p:cNvSpPr/>
          <p:nvPr/>
        </p:nvSpPr>
        <p:spPr>
          <a:xfrm>
            <a:off x="3429000" y="1938528"/>
            <a:ext cx="1371600" cy="292608"/>
          </a:xfrm>
          <a:prstGeom prst="rect">
            <a:avLst/>
          </a:prstGeom>
          <a:noFill/>
          <a:ln/>
        </p:spPr>
        <p:txBody>
          <a:bodyPr wrap="square" lIns="0" tIns="0" rIns="0" bIns="0" rtlCol="0" anchor="ctr"/>
          <a:lstStyle/>
          <a:p>
            <a:pPr algn="ctr" indent="0" marL="0">
              <a:buNone/>
            </a:pPr>
            <a:r>
              <a:rPr lang="en-US" sz="1100" dirty="0">
                <a:solidFill>
                  <a:srgbClr val="374151"/>
                </a:solidFill>
                <a:latin typeface="Arial" pitchFamily="34" charset="0"/>
                <a:ea typeface="Arial" pitchFamily="34" charset="-122"/>
                <a:cs typeface="Arial" pitchFamily="34" charset="-120"/>
              </a:rPr>
              <a:t>22%</a:t>
            </a:r>
            <a:endParaRPr lang="en-US" sz="1100" dirty="0"/>
          </a:p>
        </p:txBody>
      </p:sp>
      <p:sp>
        <p:nvSpPr>
          <p:cNvPr id="33" name="Shape 31"/>
          <p:cNvSpPr/>
          <p:nvPr/>
        </p:nvSpPr>
        <p:spPr>
          <a:xfrm>
            <a:off x="4846320" y="1938528"/>
            <a:ext cx="1280160" cy="292608"/>
          </a:xfrm>
          <a:prstGeom prst="rect">
            <a:avLst/>
          </a:prstGeom>
          <a:solidFill>
            <a:srgbClr val="F3F4F6"/>
          </a:solidFill>
          <a:ln w="6350">
            <a:solidFill>
              <a:srgbClr val="D1D5DB"/>
            </a:solidFill>
            <a:prstDash val="solid"/>
          </a:ln>
        </p:spPr>
      </p:sp>
      <p:sp>
        <p:nvSpPr>
          <p:cNvPr id="34" name="Text 32"/>
          <p:cNvSpPr/>
          <p:nvPr/>
        </p:nvSpPr>
        <p:spPr>
          <a:xfrm>
            <a:off x="4892040" y="1938528"/>
            <a:ext cx="1188720" cy="292608"/>
          </a:xfrm>
          <a:prstGeom prst="rect">
            <a:avLst/>
          </a:prstGeom>
          <a:noFill/>
          <a:ln/>
        </p:spPr>
        <p:txBody>
          <a:bodyPr wrap="square" lIns="0" tIns="0" rIns="0" bIns="0" rtlCol="0" anchor="ctr"/>
          <a:lstStyle/>
          <a:p>
            <a:pPr algn="ctr" indent="0" marL="0">
              <a:buNone/>
            </a:pPr>
            <a:r>
              <a:rPr lang="en-US" sz="1100" b="1" dirty="0">
                <a:solidFill>
                  <a:srgbClr val="0891B2"/>
                </a:solidFill>
                <a:latin typeface="Consolas" pitchFamily="34" charset="0"/>
                <a:ea typeface="Consolas" pitchFamily="34" charset="-122"/>
                <a:cs typeface="Consolas" pitchFamily="34" charset="-120"/>
              </a:rPr>
              <a:t>2.0x</a:t>
            </a:r>
            <a:endParaRPr lang="en-US" sz="1100" dirty="0"/>
          </a:p>
        </p:txBody>
      </p:sp>
      <p:sp>
        <p:nvSpPr>
          <p:cNvPr id="35" name="Shape 33"/>
          <p:cNvSpPr/>
          <p:nvPr/>
        </p:nvSpPr>
        <p:spPr>
          <a:xfrm>
            <a:off x="6126480" y="1938528"/>
            <a:ext cx="2286000" cy="292608"/>
          </a:xfrm>
          <a:prstGeom prst="rect">
            <a:avLst/>
          </a:prstGeom>
          <a:solidFill>
            <a:srgbClr val="F3F4F6"/>
          </a:solidFill>
          <a:ln w="6350">
            <a:solidFill>
              <a:srgbClr val="D1D5DB"/>
            </a:solidFill>
            <a:prstDash val="solid"/>
          </a:ln>
        </p:spPr>
      </p:sp>
      <p:sp>
        <p:nvSpPr>
          <p:cNvPr id="36" name="Text 34"/>
          <p:cNvSpPr/>
          <p:nvPr/>
        </p:nvSpPr>
        <p:spPr>
          <a:xfrm>
            <a:off x="6172200" y="1938528"/>
            <a:ext cx="2194560" cy="292608"/>
          </a:xfrm>
          <a:prstGeom prst="rect">
            <a:avLst/>
          </a:prstGeom>
          <a:noFill/>
          <a:ln/>
        </p:spPr>
        <p:txBody>
          <a:bodyPr wrap="square" lIns="0" tIns="0" rIns="0" bIns="0" rtlCol="0" anchor="ctr"/>
          <a:lstStyle/>
          <a:p>
            <a:pPr algn="ctr" indent="0" marL="0">
              <a:buNone/>
            </a:pPr>
            <a:r>
              <a:rPr lang="en-US" sz="1100" dirty="0">
                <a:solidFill>
                  <a:srgbClr val="374151"/>
                </a:solidFill>
                <a:latin typeface="Arial" pitchFamily="34" charset="0"/>
                <a:ea typeface="Arial" pitchFamily="34" charset="-122"/>
                <a:cs typeface="Arial" pitchFamily="34" charset="-120"/>
              </a:rPr>
              <a:t>45%</a:t>
            </a:r>
            <a:endParaRPr lang="en-US" sz="1100" dirty="0"/>
          </a:p>
        </p:txBody>
      </p:sp>
      <p:sp>
        <p:nvSpPr>
          <p:cNvPr id="37" name="Shape 35"/>
          <p:cNvSpPr/>
          <p:nvPr/>
        </p:nvSpPr>
        <p:spPr>
          <a:xfrm>
            <a:off x="640080" y="2231136"/>
            <a:ext cx="1280160" cy="292608"/>
          </a:xfrm>
          <a:prstGeom prst="rect">
            <a:avLst/>
          </a:prstGeom>
          <a:solidFill>
            <a:srgbClr val="FFFFFF"/>
          </a:solidFill>
          <a:ln w="6350">
            <a:solidFill>
              <a:srgbClr val="D1D5DB"/>
            </a:solidFill>
            <a:prstDash val="solid"/>
          </a:ln>
        </p:spPr>
      </p:sp>
      <p:sp>
        <p:nvSpPr>
          <p:cNvPr id="38" name="Text 36"/>
          <p:cNvSpPr/>
          <p:nvPr/>
        </p:nvSpPr>
        <p:spPr>
          <a:xfrm>
            <a:off x="685800" y="2231136"/>
            <a:ext cx="1188720" cy="292608"/>
          </a:xfrm>
          <a:prstGeom prst="rect">
            <a:avLst/>
          </a:prstGeom>
          <a:noFill/>
          <a:ln/>
        </p:spPr>
        <p:txBody>
          <a:bodyPr wrap="square" lIns="0" tIns="0" rIns="0" bIns="0" rtlCol="0" anchor="ctr"/>
          <a:lstStyle/>
          <a:p>
            <a:pPr algn="l" indent="0" marL="0">
              <a:buNone/>
            </a:pPr>
            <a:r>
              <a:rPr lang="en-US" sz="1100" dirty="0">
                <a:solidFill>
                  <a:srgbClr val="374151"/>
                </a:solidFill>
                <a:latin typeface="Arial" pitchFamily="34" charset="0"/>
                <a:ea typeface="Arial" pitchFamily="34" charset="-122"/>
                <a:cs typeface="Arial" pitchFamily="34" charset="-120"/>
              </a:rPr>
              <a:t>3</a:t>
            </a:r>
            <a:endParaRPr lang="en-US" sz="1100" dirty="0"/>
          </a:p>
        </p:txBody>
      </p:sp>
      <p:sp>
        <p:nvSpPr>
          <p:cNvPr id="39" name="Shape 37"/>
          <p:cNvSpPr/>
          <p:nvPr/>
        </p:nvSpPr>
        <p:spPr>
          <a:xfrm>
            <a:off x="1920240" y="2231136"/>
            <a:ext cx="1463040" cy="292608"/>
          </a:xfrm>
          <a:prstGeom prst="rect">
            <a:avLst/>
          </a:prstGeom>
          <a:solidFill>
            <a:srgbClr val="FFFFFF"/>
          </a:solidFill>
          <a:ln w="6350">
            <a:solidFill>
              <a:srgbClr val="D1D5DB"/>
            </a:solidFill>
            <a:prstDash val="solid"/>
          </a:ln>
        </p:spPr>
      </p:sp>
      <p:sp>
        <p:nvSpPr>
          <p:cNvPr id="40" name="Text 38"/>
          <p:cNvSpPr/>
          <p:nvPr/>
        </p:nvSpPr>
        <p:spPr>
          <a:xfrm>
            <a:off x="1965960" y="2231136"/>
            <a:ext cx="1371600" cy="292608"/>
          </a:xfrm>
          <a:prstGeom prst="rect">
            <a:avLst/>
          </a:prstGeom>
          <a:noFill/>
          <a:ln/>
        </p:spPr>
        <p:txBody>
          <a:bodyPr wrap="square" lIns="0" tIns="0" rIns="0" bIns="0" rtlCol="0" anchor="ctr"/>
          <a:lstStyle/>
          <a:p>
            <a:pPr algn="ctr" indent="0" marL="0">
              <a:buNone/>
            </a:pPr>
            <a:r>
              <a:rPr lang="en-US" sz="1100" dirty="0">
                <a:solidFill>
                  <a:srgbClr val="374151"/>
                </a:solidFill>
                <a:latin typeface="Arial" pitchFamily="34" charset="0"/>
                <a:ea typeface="Arial" pitchFamily="34" charset="-122"/>
                <a:cs typeface="Arial" pitchFamily="34" charset="-120"/>
              </a:rPr>
              <a:t>10%</a:t>
            </a:r>
            <a:endParaRPr lang="en-US" sz="1100" dirty="0"/>
          </a:p>
        </p:txBody>
      </p:sp>
      <p:sp>
        <p:nvSpPr>
          <p:cNvPr id="41" name="Shape 39"/>
          <p:cNvSpPr/>
          <p:nvPr/>
        </p:nvSpPr>
        <p:spPr>
          <a:xfrm>
            <a:off x="3383280" y="2231136"/>
            <a:ext cx="1463040" cy="292608"/>
          </a:xfrm>
          <a:prstGeom prst="rect">
            <a:avLst/>
          </a:prstGeom>
          <a:solidFill>
            <a:srgbClr val="FFFFFF"/>
          </a:solidFill>
          <a:ln w="6350">
            <a:solidFill>
              <a:srgbClr val="D1D5DB"/>
            </a:solidFill>
            <a:prstDash val="solid"/>
          </a:ln>
        </p:spPr>
      </p:sp>
      <p:sp>
        <p:nvSpPr>
          <p:cNvPr id="42" name="Text 40"/>
          <p:cNvSpPr/>
          <p:nvPr/>
        </p:nvSpPr>
        <p:spPr>
          <a:xfrm>
            <a:off x="3429000" y="2231136"/>
            <a:ext cx="1371600" cy="292608"/>
          </a:xfrm>
          <a:prstGeom prst="rect">
            <a:avLst/>
          </a:prstGeom>
          <a:noFill/>
          <a:ln/>
        </p:spPr>
        <p:txBody>
          <a:bodyPr wrap="square" lIns="0" tIns="0" rIns="0" bIns="0" rtlCol="0" anchor="ctr"/>
          <a:lstStyle/>
          <a:p>
            <a:pPr algn="ctr" indent="0" marL="0">
              <a:buNone/>
            </a:pPr>
            <a:r>
              <a:rPr lang="en-US" sz="1100" dirty="0">
                <a:solidFill>
                  <a:srgbClr val="374151"/>
                </a:solidFill>
                <a:latin typeface="Arial" pitchFamily="34" charset="0"/>
                <a:ea typeface="Arial" pitchFamily="34" charset="-122"/>
                <a:cs typeface="Arial" pitchFamily="34" charset="-120"/>
              </a:rPr>
              <a:t>16%</a:t>
            </a:r>
            <a:endParaRPr lang="en-US" sz="1100" dirty="0"/>
          </a:p>
        </p:txBody>
      </p:sp>
      <p:sp>
        <p:nvSpPr>
          <p:cNvPr id="43" name="Shape 41"/>
          <p:cNvSpPr/>
          <p:nvPr/>
        </p:nvSpPr>
        <p:spPr>
          <a:xfrm>
            <a:off x="4846320" y="2231136"/>
            <a:ext cx="1280160" cy="292608"/>
          </a:xfrm>
          <a:prstGeom prst="rect">
            <a:avLst/>
          </a:prstGeom>
          <a:solidFill>
            <a:srgbClr val="FFFFFF"/>
          </a:solidFill>
          <a:ln w="6350">
            <a:solidFill>
              <a:srgbClr val="D1D5DB"/>
            </a:solidFill>
            <a:prstDash val="solid"/>
          </a:ln>
        </p:spPr>
      </p:sp>
      <p:sp>
        <p:nvSpPr>
          <p:cNvPr id="44" name="Text 42"/>
          <p:cNvSpPr/>
          <p:nvPr/>
        </p:nvSpPr>
        <p:spPr>
          <a:xfrm>
            <a:off x="4892040" y="2231136"/>
            <a:ext cx="1188720" cy="292608"/>
          </a:xfrm>
          <a:prstGeom prst="rect">
            <a:avLst/>
          </a:prstGeom>
          <a:noFill/>
          <a:ln/>
        </p:spPr>
        <p:txBody>
          <a:bodyPr wrap="square" lIns="0" tIns="0" rIns="0" bIns="0" rtlCol="0" anchor="ctr"/>
          <a:lstStyle/>
          <a:p>
            <a:pPr algn="ctr" indent="0" marL="0">
              <a:buNone/>
            </a:pPr>
            <a:r>
              <a:rPr lang="en-US" sz="1100" b="1" dirty="0">
                <a:solidFill>
                  <a:srgbClr val="0891B2"/>
                </a:solidFill>
                <a:latin typeface="Consolas" pitchFamily="34" charset="0"/>
                <a:ea typeface="Consolas" pitchFamily="34" charset="-122"/>
                <a:cs typeface="Consolas" pitchFamily="34" charset="-120"/>
              </a:rPr>
              <a:t>1.5x</a:t>
            </a:r>
            <a:endParaRPr lang="en-US" sz="1100" dirty="0"/>
          </a:p>
        </p:txBody>
      </p:sp>
      <p:sp>
        <p:nvSpPr>
          <p:cNvPr id="45" name="Shape 43"/>
          <p:cNvSpPr/>
          <p:nvPr/>
        </p:nvSpPr>
        <p:spPr>
          <a:xfrm>
            <a:off x="6126480" y="2231136"/>
            <a:ext cx="2286000" cy="292608"/>
          </a:xfrm>
          <a:prstGeom prst="rect">
            <a:avLst/>
          </a:prstGeom>
          <a:solidFill>
            <a:srgbClr val="FFFFFF"/>
          </a:solidFill>
          <a:ln w="6350">
            <a:solidFill>
              <a:srgbClr val="D1D5DB"/>
            </a:solidFill>
            <a:prstDash val="solid"/>
          </a:ln>
        </p:spPr>
      </p:sp>
      <p:sp>
        <p:nvSpPr>
          <p:cNvPr id="46" name="Text 44"/>
          <p:cNvSpPr/>
          <p:nvPr/>
        </p:nvSpPr>
        <p:spPr>
          <a:xfrm>
            <a:off x="6172200" y="2231136"/>
            <a:ext cx="2194560" cy="292608"/>
          </a:xfrm>
          <a:prstGeom prst="rect">
            <a:avLst/>
          </a:prstGeom>
          <a:noFill/>
          <a:ln/>
        </p:spPr>
        <p:txBody>
          <a:bodyPr wrap="square" lIns="0" tIns="0" rIns="0" bIns="0" rtlCol="0" anchor="ctr"/>
          <a:lstStyle/>
          <a:p>
            <a:pPr algn="ctr" indent="0" marL="0">
              <a:buNone/>
            </a:pPr>
            <a:r>
              <a:rPr lang="en-US" sz="1100" dirty="0">
                <a:solidFill>
                  <a:srgbClr val="374151"/>
                </a:solidFill>
                <a:latin typeface="Arial" pitchFamily="34" charset="0"/>
                <a:ea typeface="Arial" pitchFamily="34" charset="-122"/>
                <a:cs typeface="Arial" pitchFamily="34" charset="-120"/>
              </a:rPr>
              <a:t>59%</a:t>
            </a:r>
            <a:endParaRPr lang="en-US" sz="1100" dirty="0"/>
          </a:p>
        </p:txBody>
      </p:sp>
      <p:sp>
        <p:nvSpPr>
          <p:cNvPr id="47" name="Shape 45"/>
          <p:cNvSpPr/>
          <p:nvPr/>
        </p:nvSpPr>
        <p:spPr>
          <a:xfrm>
            <a:off x="640080" y="2523744"/>
            <a:ext cx="1280160" cy="292608"/>
          </a:xfrm>
          <a:prstGeom prst="rect">
            <a:avLst/>
          </a:prstGeom>
          <a:solidFill>
            <a:srgbClr val="F3F4F6"/>
          </a:solidFill>
          <a:ln w="6350">
            <a:solidFill>
              <a:srgbClr val="D1D5DB"/>
            </a:solidFill>
            <a:prstDash val="solid"/>
          </a:ln>
        </p:spPr>
      </p:sp>
      <p:sp>
        <p:nvSpPr>
          <p:cNvPr id="48" name="Text 46"/>
          <p:cNvSpPr/>
          <p:nvPr/>
        </p:nvSpPr>
        <p:spPr>
          <a:xfrm>
            <a:off x="685800" y="2523744"/>
            <a:ext cx="1188720" cy="292608"/>
          </a:xfrm>
          <a:prstGeom prst="rect">
            <a:avLst/>
          </a:prstGeom>
          <a:noFill/>
          <a:ln/>
        </p:spPr>
        <p:txBody>
          <a:bodyPr wrap="square" lIns="0" tIns="0" rIns="0" bIns="0" rtlCol="0" anchor="ctr"/>
          <a:lstStyle/>
          <a:p>
            <a:pPr algn="l" indent="0" marL="0">
              <a:buNone/>
            </a:pPr>
            <a:r>
              <a:rPr lang="en-US" sz="1100" dirty="0">
                <a:solidFill>
                  <a:srgbClr val="374151"/>
                </a:solidFill>
                <a:latin typeface="Arial" pitchFamily="34" charset="0"/>
                <a:ea typeface="Arial" pitchFamily="34" charset="-122"/>
                <a:cs typeface="Arial" pitchFamily="34" charset="-120"/>
              </a:rPr>
              <a:t>4</a:t>
            </a:r>
            <a:endParaRPr lang="en-US" sz="1100" dirty="0"/>
          </a:p>
        </p:txBody>
      </p:sp>
      <p:sp>
        <p:nvSpPr>
          <p:cNvPr id="49" name="Shape 47"/>
          <p:cNvSpPr/>
          <p:nvPr/>
        </p:nvSpPr>
        <p:spPr>
          <a:xfrm>
            <a:off x="1920240" y="2523744"/>
            <a:ext cx="1463040" cy="292608"/>
          </a:xfrm>
          <a:prstGeom prst="rect">
            <a:avLst/>
          </a:prstGeom>
          <a:solidFill>
            <a:srgbClr val="F3F4F6"/>
          </a:solidFill>
          <a:ln w="6350">
            <a:solidFill>
              <a:srgbClr val="D1D5DB"/>
            </a:solidFill>
            <a:prstDash val="solid"/>
          </a:ln>
        </p:spPr>
      </p:sp>
      <p:sp>
        <p:nvSpPr>
          <p:cNvPr id="50" name="Text 48"/>
          <p:cNvSpPr/>
          <p:nvPr/>
        </p:nvSpPr>
        <p:spPr>
          <a:xfrm>
            <a:off x="1965960" y="2523744"/>
            <a:ext cx="1371600" cy="292608"/>
          </a:xfrm>
          <a:prstGeom prst="rect">
            <a:avLst/>
          </a:prstGeom>
          <a:noFill/>
          <a:ln/>
        </p:spPr>
        <p:txBody>
          <a:bodyPr wrap="square" lIns="0" tIns="0" rIns="0" bIns="0" rtlCol="0" anchor="ctr"/>
          <a:lstStyle/>
          <a:p>
            <a:pPr algn="ctr" indent="0" marL="0">
              <a:buNone/>
            </a:pPr>
            <a:r>
              <a:rPr lang="en-US" sz="1100" dirty="0">
                <a:solidFill>
                  <a:srgbClr val="374151"/>
                </a:solidFill>
                <a:latin typeface="Arial" pitchFamily="34" charset="0"/>
                <a:ea typeface="Arial" pitchFamily="34" charset="-122"/>
                <a:cs typeface="Arial" pitchFamily="34" charset="-120"/>
              </a:rPr>
              <a:t>10%</a:t>
            </a:r>
            <a:endParaRPr lang="en-US" sz="1100" dirty="0"/>
          </a:p>
        </p:txBody>
      </p:sp>
      <p:sp>
        <p:nvSpPr>
          <p:cNvPr id="51" name="Shape 49"/>
          <p:cNvSpPr/>
          <p:nvPr/>
        </p:nvSpPr>
        <p:spPr>
          <a:xfrm>
            <a:off x="3383280" y="2523744"/>
            <a:ext cx="1463040" cy="292608"/>
          </a:xfrm>
          <a:prstGeom prst="rect">
            <a:avLst/>
          </a:prstGeom>
          <a:solidFill>
            <a:srgbClr val="F3F4F6"/>
          </a:solidFill>
          <a:ln w="6350">
            <a:solidFill>
              <a:srgbClr val="D1D5DB"/>
            </a:solidFill>
            <a:prstDash val="solid"/>
          </a:ln>
        </p:spPr>
      </p:sp>
      <p:sp>
        <p:nvSpPr>
          <p:cNvPr id="52" name="Text 50"/>
          <p:cNvSpPr/>
          <p:nvPr/>
        </p:nvSpPr>
        <p:spPr>
          <a:xfrm>
            <a:off x="3429000" y="2523744"/>
            <a:ext cx="1371600" cy="292608"/>
          </a:xfrm>
          <a:prstGeom prst="rect">
            <a:avLst/>
          </a:prstGeom>
          <a:noFill/>
          <a:ln/>
        </p:spPr>
        <p:txBody>
          <a:bodyPr wrap="square" lIns="0" tIns="0" rIns="0" bIns="0" rtlCol="0" anchor="ctr"/>
          <a:lstStyle/>
          <a:p>
            <a:pPr algn="ctr" indent="0" marL="0">
              <a:buNone/>
            </a:pPr>
            <a:r>
              <a:rPr lang="en-US" sz="1100" dirty="0">
                <a:solidFill>
                  <a:srgbClr val="374151"/>
                </a:solidFill>
                <a:latin typeface="Arial" pitchFamily="34" charset="0"/>
                <a:ea typeface="Arial" pitchFamily="34" charset="-122"/>
                <a:cs typeface="Arial" pitchFamily="34" charset="-120"/>
              </a:rPr>
              <a:t>12%</a:t>
            </a:r>
            <a:endParaRPr lang="en-US" sz="1100" dirty="0"/>
          </a:p>
        </p:txBody>
      </p:sp>
      <p:sp>
        <p:nvSpPr>
          <p:cNvPr id="53" name="Shape 51"/>
          <p:cNvSpPr/>
          <p:nvPr/>
        </p:nvSpPr>
        <p:spPr>
          <a:xfrm>
            <a:off x="4846320" y="2523744"/>
            <a:ext cx="1280160" cy="292608"/>
          </a:xfrm>
          <a:prstGeom prst="rect">
            <a:avLst/>
          </a:prstGeom>
          <a:solidFill>
            <a:srgbClr val="F3F4F6"/>
          </a:solidFill>
          <a:ln w="6350">
            <a:solidFill>
              <a:srgbClr val="D1D5DB"/>
            </a:solidFill>
            <a:prstDash val="solid"/>
          </a:ln>
        </p:spPr>
      </p:sp>
      <p:sp>
        <p:nvSpPr>
          <p:cNvPr id="54" name="Text 52"/>
          <p:cNvSpPr/>
          <p:nvPr/>
        </p:nvSpPr>
        <p:spPr>
          <a:xfrm>
            <a:off x="4892040" y="2523744"/>
            <a:ext cx="1188720" cy="292608"/>
          </a:xfrm>
          <a:prstGeom prst="rect">
            <a:avLst/>
          </a:prstGeom>
          <a:noFill/>
          <a:ln/>
        </p:spPr>
        <p:txBody>
          <a:bodyPr wrap="square" lIns="0" tIns="0" rIns="0" bIns="0" rtlCol="0" anchor="ctr"/>
          <a:lstStyle/>
          <a:p>
            <a:pPr algn="ctr" indent="0" marL="0">
              <a:buNone/>
            </a:pPr>
            <a:r>
              <a:rPr lang="en-US" sz="1100" b="1" dirty="0">
                <a:solidFill>
                  <a:srgbClr val="0891B2"/>
                </a:solidFill>
                <a:latin typeface="Consolas" pitchFamily="34" charset="0"/>
                <a:ea typeface="Consolas" pitchFamily="34" charset="-122"/>
                <a:cs typeface="Consolas" pitchFamily="34" charset="-120"/>
              </a:rPr>
              <a:t>1.1x</a:t>
            </a:r>
            <a:endParaRPr lang="en-US" sz="1100" dirty="0"/>
          </a:p>
        </p:txBody>
      </p:sp>
      <p:sp>
        <p:nvSpPr>
          <p:cNvPr id="55" name="Shape 53"/>
          <p:cNvSpPr/>
          <p:nvPr/>
        </p:nvSpPr>
        <p:spPr>
          <a:xfrm>
            <a:off x="6126480" y="2523744"/>
            <a:ext cx="2286000" cy="292608"/>
          </a:xfrm>
          <a:prstGeom prst="rect">
            <a:avLst/>
          </a:prstGeom>
          <a:solidFill>
            <a:srgbClr val="F3F4F6"/>
          </a:solidFill>
          <a:ln w="6350">
            <a:solidFill>
              <a:srgbClr val="D1D5DB"/>
            </a:solidFill>
            <a:prstDash val="solid"/>
          </a:ln>
        </p:spPr>
      </p:sp>
      <p:sp>
        <p:nvSpPr>
          <p:cNvPr id="56" name="Text 54"/>
          <p:cNvSpPr/>
          <p:nvPr/>
        </p:nvSpPr>
        <p:spPr>
          <a:xfrm>
            <a:off x="6172200" y="2523744"/>
            <a:ext cx="2194560" cy="292608"/>
          </a:xfrm>
          <a:prstGeom prst="rect">
            <a:avLst/>
          </a:prstGeom>
          <a:noFill/>
          <a:ln/>
        </p:spPr>
        <p:txBody>
          <a:bodyPr wrap="square" lIns="0" tIns="0" rIns="0" bIns="0" rtlCol="0" anchor="ctr"/>
          <a:lstStyle/>
          <a:p>
            <a:pPr algn="ctr" indent="0" marL="0">
              <a:buNone/>
            </a:pPr>
            <a:r>
              <a:rPr lang="en-US" sz="1100" dirty="0">
                <a:solidFill>
                  <a:srgbClr val="374151"/>
                </a:solidFill>
                <a:latin typeface="Arial" pitchFamily="34" charset="0"/>
                <a:ea typeface="Arial" pitchFamily="34" charset="-122"/>
                <a:cs typeface="Arial" pitchFamily="34" charset="-120"/>
              </a:rPr>
              <a:t>69%</a:t>
            </a:r>
            <a:endParaRPr lang="en-US" sz="1100" dirty="0"/>
          </a:p>
        </p:txBody>
      </p:sp>
      <p:sp>
        <p:nvSpPr>
          <p:cNvPr id="57" name="Shape 55"/>
          <p:cNvSpPr/>
          <p:nvPr/>
        </p:nvSpPr>
        <p:spPr>
          <a:xfrm>
            <a:off x="640080" y="2816352"/>
            <a:ext cx="1280160" cy="292608"/>
          </a:xfrm>
          <a:prstGeom prst="rect">
            <a:avLst/>
          </a:prstGeom>
          <a:solidFill>
            <a:srgbClr val="FFFFFF"/>
          </a:solidFill>
          <a:ln w="6350">
            <a:solidFill>
              <a:srgbClr val="D1D5DB"/>
            </a:solidFill>
            <a:prstDash val="solid"/>
          </a:ln>
        </p:spPr>
      </p:sp>
      <p:sp>
        <p:nvSpPr>
          <p:cNvPr id="58" name="Text 56"/>
          <p:cNvSpPr/>
          <p:nvPr/>
        </p:nvSpPr>
        <p:spPr>
          <a:xfrm>
            <a:off x="685800" y="2816352"/>
            <a:ext cx="1188720" cy="292608"/>
          </a:xfrm>
          <a:prstGeom prst="rect">
            <a:avLst/>
          </a:prstGeom>
          <a:noFill/>
          <a:ln/>
        </p:spPr>
        <p:txBody>
          <a:bodyPr wrap="square" lIns="0" tIns="0" rIns="0" bIns="0" rtlCol="0" anchor="ctr"/>
          <a:lstStyle/>
          <a:p>
            <a:pPr algn="l" indent="0" marL="0">
              <a:buNone/>
            </a:pPr>
            <a:r>
              <a:rPr lang="en-US" sz="1100" dirty="0">
                <a:solidFill>
                  <a:srgbClr val="374151"/>
                </a:solidFill>
                <a:latin typeface="Arial" pitchFamily="34" charset="0"/>
                <a:ea typeface="Arial" pitchFamily="34" charset="-122"/>
                <a:cs typeface="Arial" pitchFamily="34" charset="-120"/>
              </a:rPr>
              <a:t>5</a:t>
            </a:r>
            <a:endParaRPr lang="en-US" sz="1100" dirty="0"/>
          </a:p>
        </p:txBody>
      </p:sp>
      <p:sp>
        <p:nvSpPr>
          <p:cNvPr id="59" name="Shape 57"/>
          <p:cNvSpPr/>
          <p:nvPr/>
        </p:nvSpPr>
        <p:spPr>
          <a:xfrm>
            <a:off x="1920240" y="2816352"/>
            <a:ext cx="1463040" cy="292608"/>
          </a:xfrm>
          <a:prstGeom prst="rect">
            <a:avLst/>
          </a:prstGeom>
          <a:solidFill>
            <a:srgbClr val="FFFFFF"/>
          </a:solidFill>
          <a:ln w="6350">
            <a:solidFill>
              <a:srgbClr val="D1D5DB"/>
            </a:solidFill>
            <a:prstDash val="solid"/>
          </a:ln>
        </p:spPr>
      </p:sp>
      <p:sp>
        <p:nvSpPr>
          <p:cNvPr id="60" name="Text 58"/>
          <p:cNvSpPr/>
          <p:nvPr/>
        </p:nvSpPr>
        <p:spPr>
          <a:xfrm>
            <a:off x="1965960" y="2816352"/>
            <a:ext cx="1371600" cy="292608"/>
          </a:xfrm>
          <a:prstGeom prst="rect">
            <a:avLst/>
          </a:prstGeom>
          <a:noFill/>
          <a:ln/>
        </p:spPr>
        <p:txBody>
          <a:bodyPr wrap="square" lIns="0" tIns="0" rIns="0" bIns="0" rtlCol="0" anchor="ctr"/>
          <a:lstStyle/>
          <a:p>
            <a:pPr algn="ctr" indent="0" marL="0">
              <a:buNone/>
            </a:pPr>
            <a:r>
              <a:rPr lang="en-US" sz="1100" dirty="0">
                <a:solidFill>
                  <a:srgbClr val="374151"/>
                </a:solidFill>
                <a:latin typeface="Arial" pitchFamily="34" charset="0"/>
                <a:ea typeface="Arial" pitchFamily="34" charset="-122"/>
                <a:cs typeface="Arial" pitchFamily="34" charset="-120"/>
              </a:rPr>
              <a:t>10%</a:t>
            </a:r>
            <a:endParaRPr lang="en-US" sz="1100" dirty="0"/>
          </a:p>
        </p:txBody>
      </p:sp>
      <p:sp>
        <p:nvSpPr>
          <p:cNvPr id="61" name="Shape 59"/>
          <p:cNvSpPr/>
          <p:nvPr/>
        </p:nvSpPr>
        <p:spPr>
          <a:xfrm>
            <a:off x="3383280" y="2816352"/>
            <a:ext cx="1463040" cy="292608"/>
          </a:xfrm>
          <a:prstGeom prst="rect">
            <a:avLst/>
          </a:prstGeom>
          <a:solidFill>
            <a:srgbClr val="FFFFFF"/>
          </a:solidFill>
          <a:ln w="6350">
            <a:solidFill>
              <a:srgbClr val="D1D5DB"/>
            </a:solidFill>
            <a:prstDash val="solid"/>
          </a:ln>
        </p:spPr>
      </p:sp>
      <p:sp>
        <p:nvSpPr>
          <p:cNvPr id="62" name="Text 60"/>
          <p:cNvSpPr/>
          <p:nvPr/>
        </p:nvSpPr>
        <p:spPr>
          <a:xfrm>
            <a:off x="3429000" y="2816352"/>
            <a:ext cx="1371600" cy="292608"/>
          </a:xfrm>
          <a:prstGeom prst="rect">
            <a:avLst/>
          </a:prstGeom>
          <a:noFill/>
          <a:ln/>
        </p:spPr>
        <p:txBody>
          <a:bodyPr wrap="square" lIns="0" tIns="0" rIns="0" bIns="0" rtlCol="0" anchor="ctr"/>
          <a:lstStyle/>
          <a:p>
            <a:pPr algn="ctr" indent="0" marL="0">
              <a:buNone/>
            </a:pPr>
            <a:r>
              <a:rPr lang="en-US" sz="1100" dirty="0">
                <a:solidFill>
                  <a:srgbClr val="374151"/>
                </a:solidFill>
                <a:latin typeface="Arial" pitchFamily="34" charset="0"/>
                <a:ea typeface="Arial" pitchFamily="34" charset="-122"/>
                <a:cs typeface="Arial" pitchFamily="34" charset="-120"/>
              </a:rPr>
              <a:t>10%</a:t>
            </a:r>
            <a:endParaRPr lang="en-US" sz="1100" dirty="0"/>
          </a:p>
        </p:txBody>
      </p:sp>
      <p:sp>
        <p:nvSpPr>
          <p:cNvPr id="63" name="Shape 61"/>
          <p:cNvSpPr/>
          <p:nvPr/>
        </p:nvSpPr>
        <p:spPr>
          <a:xfrm>
            <a:off x="4846320" y="2816352"/>
            <a:ext cx="1280160" cy="292608"/>
          </a:xfrm>
          <a:prstGeom prst="rect">
            <a:avLst/>
          </a:prstGeom>
          <a:solidFill>
            <a:srgbClr val="FFFFFF"/>
          </a:solidFill>
          <a:ln w="6350">
            <a:solidFill>
              <a:srgbClr val="D1D5DB"/>
            </a:solidFill>
            <a:prstDash val="solid"/>
          </a:ln>
        </p:spPr>
      </p:sp>
      <p:sp>
        <p:nvSpPr>
          <p:cNvPr id="64" name="Text 62"/>
          <p:cNvSpPr/>
          <p:nvPr/>
        </p:nvSpPr>
        <p:spPr>
          <a:xfrm>
            <a:off x="4892040" y="2816352"/>
            <a:ext cx="1188720" cy="292608"/>
          </a:xfrm>
          <a:prstGeom prst="rect">
            <a:avLst/>
          </a:prstGeom>
          <a:noFill/>
          <a:ln/>
        </p:spPr>
        <p:txBody>
          <a:bodyPr wrap="square" lIns="0" tIns="0" rIns="0" bIns="0" rtlCol="0" anchor="ctr"/>
          <a:lstStyle/>
          <a:p>
            <a:pPr algn="ctr" indent="0" marL="0">
              <a:buNone/>
            </a:pPr>
            <a:r>
              <a:rPr lang="en-US" sz="1100" b="1" dirty="0">
                <a:solidFill>
                  <a:srgbClr val="0891B2"/>
                </a:solidFill>
                <a:latin typeface="Consolas" pitchFamily="34" charset="0"/>
                <a:ea typeface="Consolas" pitchFamily="34" charset="-122"/>
                <a:cs typeface="Consolas" pitchFamily="34" charset="-120"/>
              </a:rPr>
              <a:t>0.9x</a:t>
            </a:r>
            <a:endParaRPr lang="en-US" sz="1100" dirty="0"/>
          </a:p>
        </p:txBody>
      </p:sp>
      <p:sp>
        <p:nvSpPr>
          <p:cNvPr id="65" name="Shape 63"/>
          <p:cNvSpPr/>
          <p:nvPr/>
        </p:nvSpPr>
        <p:spPr>
          <a:xfrm>
            <a:off x="6126480" y="2816352"/>
            <a:ext cx="2286000" cy="292608"/>
          </a:xfrm>
          <a:prstGeom prst="rect">
            <a:avLst/>
          </a:prstGeom>
          <a:solidFill>
            <a:srgbClr val="FFFFFF"/>
          </a:solidFill>
          <a:ln w="6350">
            <a:solidFill>
              <a:srgbClr val="D1D5DB"/>
            </a:solidFill>
            <a:prstDash val="solid"/>
          </a:ln>
        </p:spPr>
      </p:sp>
      <p:sp>
        <p:nvSpPr>
          <p:cNvPr id="66" name="Text 64"/>
          <p:cNvSpPr/>
          <p:nvPr/>
        </p:nvSpPr>
        <p:spPr>
          <a:xfrm>
            <a:off x="6172200" y="2816352"/>
            <a:ext cx="2194560" cy="292608"/>
          </a:xfrm>
          <a:prstGeom prst="rect">
            <a:avLst/>
          </a:prstGeom>
          <a:noFill/>
          <a:ln/>
        </p:spPr>
        <p:txBody>
          <a:bodyPr wrap="square" lIns="0" tIns="0" rIns="0" bIns="0" rtlCol="0" anchor="ctr"/>
          <a:lstStyle/>
          <a:p>
            <a:pPr algn="ctr" indent="0" marL="0">
              <a:buNone/>
            </a:pPr>
            <a:r>
              <a:rPr lang="en-US" sz="1100" dirty="0">
                <a:solidFill>
                  <a:srgbClr val="374151"/>
                </a:solidFill>
                <a:latin typeface="Arial" pitchFamily="34" charset="0"/>
                <a:ea typeface="Arial" pitchFamily="34" charset="-122"/>
                <a:cs typeface="Arial" pitchFamily="34" charset="-120"/>
              </a:rPr>
              <a:t>78%</a:t>
            </a:r>
            <a:endParaRPr lang="en-US" sz="1100" dirty="0"/>
          </a:p>
        </p:txBody>
      </p:sp>
      <p:sp>
        <p:nvSpPr>
          <p:cNvPr id="67" name="Shape 65"/>
          <p:cNvSpPr/>
          <p:nvPr/>
        </p:nvSpPr>
        <p:spPr>
          <a:xfrm>
            <a:off x="640080" y="3108960"/>
            <a:ext cx="1280160" cy="292608"/>
          </a:xfrm>
          <a:prstGeom prst="rect">
            <a:avLst/>
          </a:prstGeom>
          <a:solidFill>
            <a:srgbClr val="F3F4F6"/>
          </a:solidFill>
          <a:ln w="6350">
            <a:solidFill>
              <a:srgbClr val="D1D5DB"/>
            </a:solidFill>
            <a:prstDash val="solid"/>
          </a:ln>
        </p:spPr>
      </p:sp>
      <p:sp>
        <p:nvSpPr>
          <p:cNvPr id="68" name="Text 66"/>
          <p:cNvSpPr/>
          <p:nvPr/>
        </p:nvSpPr>
        <p:spPr>
          <a:xfrm>
            <a:off x="685800" y="3108960"/>
            <a:ext cx="1188720" cy="292608"/>
          </a:xfrm>
          <a:prstGeom prst="rect">
            <a:avLst/>
          </a:prstGeom>
          <a:noFill/>
          <a:ln/>
        </p:spPr>
        <p:txBody>
          <a:bodyPr wrap="square" lIns="0" tIns="0" rIns="0" bIns="0" rtlCol="0" anchor="ctr"/>
          <a:lstStyle/>
          <a:p>
            <a:pPr algn="l" indent="0" marL="0">
              <a:buNone/>
            </a:pPr>
            <a:r>
              <a:rPr lang="en-US" sz="1100" dirty="0">
                <a:solidFill>
                  <a:srgbClr val="374151"/>
                </a:solidFill>
                <a:latin typeface="Arial" pitchFamily="34" charset="0"/>
                <a:ea typeface="Arial" pitchFamily="34" charset="-122"/>
                <a:cs typeface="Arial" pitchFamily="34" charset="-120"/>
              </a:rPr>
              <a:t>6-10</a:t>
            </a:r>
            <a:endParaRPr lang="en-US" sz="1100" dirty="0"/>
          </a:p>
        </p:txBody>
      </p:sp>
      <p:sp>
        <p:nvSpPr>
          <p:cNvPr id="69" name="Shape 67"/>
          <p:cNvSpPr/>
          <p:nvPr/>
        </p:nvSpPr>
        <p:spPr>
          <a:xfrm>
            <a:off x="1920240" y="3108960"/>
            <a:ext cx="1463040" cy="292608"/>
          </a:xfrm>
          <a:prstGeom prst="rect">
            <a:avLst/>
          </a:prstGeom>
          <a:solidFill>
            <a:srgbClr val="F3F4F6"/>
          </a:solidFill>
          <a:ln w="6350">
            <a:solidFill>
              <a:srgbClr val="D1D5DB"/>
            </a:solidFill>
            <a:prstDash val="solid"/>
          </a:ln>
        </p:spPr>
      </p:sp>
      <p:sp>
        <p:nvSpPr>
          <p:cNvPr id="70" name="Text 68"/>
          <p:cNvSpPr/>
          <p:nvPr/>
        </p:nvSpPr>
        <p:spPr>
          <a:xfrm>
            <a:off x="1965960" y="3108960"/>
            <a:ext cx="1371600" cy="292608"/>
          </a:xfrm>
          <a:prstGeom prst="rect">
            <a:avLst/>
          </a:prstGeom>
          <a:noFill/>
          <a:ln/>
        </p:spPr>
        <p:txBody>
          <a:bodyPr wrap="square" lIns="0" tIns="0" rIns="0" bIns="0" rtlCol="0" anchor="ctr"/>
          <a:lstStyle/>
          <a:p>
            <a:pPr algn="ctr" indent="0" marL="0">
              <a:buNone/>
            </a:pPr>
            <a:r>
              <a:rPr lang="en-US" sz="1100" dirty="0">
                <a:solidFill>
                  <a:srgbClr val="374151"/>
                </a:solidFill>
                <a:latin typeface="Arial" pitchFamily="34" charset="0"/>
                <a:ea typeface="Arial" pitchFamily="34" charset="-122"/>
                <a:cs typeface="Arial" pitchFamily="34" charset="-120"/>
              </a:rPr>
              <a:t>50%</a:t>
            </a:r>
            <a:endParaRPr lang="en-US" sz="1100" dirty="0"/>
          </a:p>
        </p:txBody>
      </p:sp>
      <p:sp>
        <p:nvSpPr>
          <p:cNvPr id="71" name="Shape 69"/>
          <p:cNvSpPr/>
          <p:nvPr/>
        </p:nvSpPr>
        <p:spPr>
          <a:xfrm>
            <a:off x="3383280" y="3108960"/>
            <a:ext cx="1463040" cy="292608"/>
          </a:xfrm>
          <a:prstGeom prst="rect">
            <a:avLst/>
          </a:prstGeom>
          <a:solidFill>
            <a:srgbClr val="F3F4F6"/>
          </a:solidFill>
          <a:ln w="6350">
            <a:solidFill>
              <a:srgbClr val="D1D5DB"/>
            </a:solidFill>
            <a:prstDash val="solid"/>
          </a:ln>
        </p:spPr>
      </p:sp>
      <p:sp>
        <p:nvSpPr>
          <p:cNvPr id="72" name="Text 70"/>
          <p:cNvSpPr/>
          <p:nvPr/>
        </p:nvSpPr>
        <p:spPr>
          <a:xfrm>
            <a:off x="3429000" y="3108960"/>
            <a:ext cx="1371600" cy="292608"/>
          </a:xfrm>
          <a:prstGeom prst="rect">
            <a:avLst/>
          </a:prstGeom>
          <a:noFill/>
          <a:ln/>
        </p:spPr>
        <p:txBody>
          <a:bodyPr wrap="square" lIns="0" tIns="0" rIns="0" bIns="0" rtlCol="0" anchor="ctr"/>
          <a:lstStyle/>
          <a:p>
            <a:pPr algn="ctr" indent="0" marL="0">
              <a:buNone/>
            </a:pPr>
            <a:r>
              <a:rPr lang="en-US" sz="1100" dirty="0">
                <a:solidFill>
                  <a:srgbClr val="374151"/>
                </a:solidFill>
                <a:latin typeface="Arial" pitchFamily="34" charset="0"/>
                <a:ea typeface="Arial" pitchFamily="34" charset="-122"/>
                <a:cs typeface="Arial" pitchFamily="34" charset="-120"/>
              </a:rPr>
              <a:t>5%</a:t>
            </a:r>
            <a:endParaRPr lang="en-US" sz="1100" dirty="0"/>
          </a:p>
        </p:txBody>
      </p:sp>
      <p:sp>
        <p:nvSpPr>
          <p:cNvPr id="73" name="Shape 71"/>
          <p:cNvSpPr/>
          <p:nvPr/>
        </p:nvSpPr>
        <p:spPr>
          <a:xfrm>
            <a:off x="4846320" y="3108960"/>
            <a:ext cx="1280160" cy="292608"/>
          </a:xfrm>
          <a:prstGeom prst="rect">
            <a:avLst/>
          </a:prstGeom>
          <a:solidFill>
            <a:srgbClr val="F3F4F6"/>
          </a:solidFill>
          <a:ln w="6350">
            <a:solidFill>
              <a:srgbClr val="D1D5DB"/>
            </a:solidFill>
            <a:prstDash val="solid"/>
          </a:ln>
        </p:spPr>
      </p:sp>
      <p:sp>
        <p:nvSpPr>
          <p:cNvPr id="74" name="Text 72"/>
          <p:cNvSpPr/>
          <p:nvPr/>
        </p:nvSpPr>
        <p:spPr>
          <a:xfrm>
            <a:off x="4892040" y="3108960"/>
            <a:ext cx="1188720" cy="292608"/>
          </a:xfrm>
          <a:prstGeom prst="rect">
            <a:avLst/>
          </a:prstGeom>
          <a:noFill/>
          <a:ln/>
        </p:spPr>
        <p:txBody>
          <a:bodyPr wrap="square" lIns="0" tIns="0" rIns="0" bIns="0" rtlCol="0" anchor="ctr"/>
          <a:lstStyle/>
          <a:p>
            <a:pPr algn="ctr" indent="0" marL="0">
              <a:buNone/>
            </a:pPr>
            <a:r>
              <a:rPr lang="en-US" sz="1100" b="1" dirty="0">
                <a:solidFill>
                  <a:srgbClr val="0891B2"/>
                </a:solidFill>
                <a:latin typeface="Consolas" pitchFamily="34" charset="0"/>
                <a:ea typeface="Consolas" pitchFamily="34" charset="-122"/>
                <a:cs typeface="Consolas" pitchFamily="34" charset="-120"/>
              </a:rPr>
              <a:t>0.5x</a:t>
            </a:r>
            <a:endParaRPr lang="en-US" sz="1100" dirty="0"/>
          </a:p>
        </p:txBody>
      </p:sp>
      <p:sp>
        <p:nvSpPr>
          <p:cNvPr id="75" name="Shape 73"/>
          <p:cNvSpPr/>
          <p:nvPr/>
        </p:nvSpPr>
        <p:spPr>
          <a:xfrm>
            <a:off x="6126480" y="3108960"/>
            <a:ext cx="2286000" cy="292608"/>
          </a:xfrm>
          <a:prstGeom prst="rect">
            <a:avLst/>
          </a:prstGeom>
          <a:solidFill>
            <a:srgbClr val="F3F4F6"/>
          </a:solidFill>
          <a:ln w="6350">
            <a:solidFill>
              <a:srgbClr val="D1D5DB"/>
            </a:solidFill>
            <a:prstDash val="solid"/>
          </a:ln>
        </p:spPr>
      </p:sp>
      <p:sp>
        <p:nvSpPr>
          <p:cNvPr id="76" name="Text 74"/>
          <p:cNvSpPr/>
          <p:nvPr/>
        </p:nvSpPr>
        <p:spPr>
          <a:xfrm>
            <a:off x="6172200" y="3108960"/>
            <a:ext cx="2194560" cy="292608"/>
          </a:xfrm>
          <a:prstGeom prst="rect">
            <a:avLst/>
          </a:prstGeom>
          <a:noFill/>
          <a:ln/>
        </p:spPr>
        <p:txBody>
          <a:bodyPr wrap="square" lIns="0" tIns="0" rIns="0" bIns="0" rtlCol="0" anchor="ctr"/>
          <a:lstStyle/>
          <a:p>
            <a:pPr algn="ctr" indent="0" marL="0">
              <a:buNone/>
            </a:pPr>
            <a:r>
              <a:rPr lang="en-US" sz="1100" dirty="0">
                <a:solidFill>
                  <a:srgbClr val="374151"/>
                </a:solidFill>
                <a:latin typeface="Arial" pitchFamily="34" charset="0"/>
                <a:ea typeface="Arial" pitchFamily="34" charset="-122"/>
                <a:cs typeface="Arial" pitchFamily="34" charset="-120"/>
              </a:rPr>
              <a:t>100%</a:t>
            </a:r>
            <a:endParaRPr lang="en-US" sz="1100" dirty="0"/>
          </a:p>
        </p:txBody>
      </p:sp>
      <p:sp>
        <p:nvSpPr>
          <p:cNvPr id="77" name="Shape 75"/>
          <p:cNvSpPr/>
          <p:nvPr/>
        </p:nvSpPr>
        <p:spPr>
          <a:xfrm>
            <a:off x="640080" y="3657600"/>
            <a:ext cx="7863840" cy="868680"/>
          </a:xfrm>
          <a:prstGeom prst="rect">
            <a:avLst/>
          </a:prstGeom>
          <a:solidFill>
            <a:srgbClr val="E0F7FA"/>
          </a:solidFill>
          <a:ln w="12700">
            <a:solidFill>
              <a:srgbClr val="0891B2"/>
            </a:solidFill>
            <a:prstDash val="solid"/>
          </a:ln>
        </p:spPr>
      </p:sp>
      <p:sp>
        <p:nvSpPr>
          <p:cNvPr id="78" name="Text 76"/>
          <p:cNvSpPr/>
          <p:nvPr/>
        </p:nvSpPr>
        <p:spPr>
          <a:xfrm>
            <a:off x="822960" y="3749040"/>
            <a:ext cx="7498080" cy="685800"/>
          </a:xfrm>
          <a:prstGeom prst="rect">
            <a:avLst/>
          </a:prstGeom>
          <a:noFill/>
          <a:ln/>
        </p:spPr>
        <p:txBody>
          <a:bodyPr wrap="square" lIns="0" tIns="0" rIns="0" bIns="0" rtlCol="0" anchor="ctr"/>
          <a:lstStyle/>
          <a:p>
            <a:pPr indent="0" marL="0">
              <a:buNone/>
            </a:pPr>
            <a:r>
              <a:rPr lang="en-US" sz="1200" i="1" dirty="0">
                <a:solidFill>
                  <a:srgbClr val="1F2937"/>
                </a:solidFill>
                <a:latin typeface="Arial" pitchFamily="34" charset="0"/>
                <a:ea typeface="Arial" pitchFamily="34" charset="-122"/>
                <a:cs typeface="Arial" pitchFamily="34" charset="-120"/>
              </a:rPr>
              <a:t>Read it like a campaign manager: 'If we send to the top 30% (3 deciles), we capture 59% of all responders at ~2x the base rate.' That's the answer to 'who do we target?' — not 'which model has higher AUC.'</a:t>
            </a:r>
            <a:endParaRPr lang="en-US" sz="12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1F2937"/>
        </a:solidFill>
      </p:bgPr>
    </p:bg>
    <p:spTree>
      <p:nvGrpSpPr>
        <p:cNvPr id="1" name=""/>
        <p:cNvGrpSpPr/>
        <p:nvPr/>
      </p:nvGrpSpPr>
      <p:grpSpPr>
        <a:xfrm>
          <a:off x="0" y="0"/>
          <a:ext cx="0" cy="0"/>
          <a:chOff x="0" y="0"/>
          <a:chExt cx="0" cy="0"/>
        </a:xfrm>
      </p:grpSpPr>
      <p:sp>
        <p:nvSpPr>
          <p:cNvPr id="2" name="Shape 0"/>
          <p:cNvSpPr/>
          <p:nvPr/>
        </p:nvSpPr>
        <p:spPr>
          <a:xfrm>
            <a:off x="0" y="0"/>
            <a:ext cx="9144000" cy="45720"/>
          </a:xfrm>
          <a:prstGeom prst="rect">
            <a:avLst/>
          </a:prstGeom>
          <a:solidFill>
            <a:srgbClr val="0891B2"/>
          </a:solidFill>
          <a:ln/>
        </p:spPr>
      </p:sp>
      <p:sp>
        <p:nvSpPr>
          <p:cNvPr id="3" name="Text 1"/>
          <p:cNvSpPr/>
          <p:nvPr/>
        </p:nvSpPr>
        <p:spPr>
          <a:xfrm>
            <a:off x="640080" y="1188720"/>
            <a:ext cx="2286000" cy="1280160"/>
          </a:xfrm>
          <a:prstGeom prst="rect">
            <a:avLst/>
          </a:prstGeom>
          <a:noFill/>
          <a:ln/>
        </p:spPr>
        <p:txBody>
          <a:bodyPr wrap="square" lIns="0" tIns="0" rIns="0" bIns="0" rtlCol="0" anchor="ctr"/>
          <a:lstStyle/>
          <a:p>
            <a:pPr indent="0" marL="0">
              <a:buNone/>
            </a:pPr>
            <a:r>
              <a:rPr lang="en-US" sz="8000" b="1" dirty="0">
                <a:solidFill>
                  <a:srgbClr val="0891B2"/>
                </a:solidFill>
                <a:latin typeface="Arial" pitchFamily="34" charset="0"/>
                <a:ea typeface="Arial" pitchFamily="34" charset="-122"/>
                <a:cs typeface="Arial" pitchFamily="34" charset="-120"/>
              </a:rPr>
              <a:t>04</a:t>
            </a:r>
            <a:endParaRPr lang="en-US" sz="8000" dirty="0"/>
          </a:p>
        </p:txBody>
      </p:sp>
      <p:sp>
        <p:nvSpPr>
          <p:cNvPr id="4" name="Shape 2"/>
          <p:cNvSpPr/>
          <p:nvPr/>
        </p:nvSpPr>
        <p:spPr>
          <a:xfrm>
            <a:off x="640080" y="2606040"/>
            <a:ext cx="3200400" cy="0"/>
          </a:xfrm>
          <a:prstGeom prst="line">
            <a:avLst/>
          </a:prstGeom>
          <a:noFill/>
          <a:ln w="31750">
            <a:solidFill>
              <a:srgbClr val="0891B2"/>
            </a:solidFill>
            <a:prstDash val="solid"/>
          </a:ln>
        </p:spPr>
      </p:sp>
      <p:sp>
        <p:nvSpPr>
          <p:cNvPr id="5" name="Text 3"/>
          <p:cNvSpPr/>
          <p:nvPr/>
        </p:nvSpPr>
        <p:spPr>
          <a:xfrm>
            <a:off x="640080" y="2788920"/>
            <a:ext cx="7863840" cy="640080"/>
          </a:xfrm>
          <a:prstGeom prst="rect">
            <a:avLst/>
          </a:prstGeom>
          <a:noFill/>
          <a:ln/>
        </p:spPr>
        <p:txBody>
          <a:bodyPr wrap="square" lIns="0" tIns="0" rIns="0" bIns="0" rtlCol="0" anchor="ctr"/>
          <a:lstStyle/>
          <a:p>
            <a:pPr indent="0" marL="0">
              <a:buNone/>
            </a:pPr>
            <a:r>
              <a:rPr lang="en-US" sz="3600" b="1" dirty="0">
                <a:solidFill>
                  <a:srgbClr val="FFFFFF"/>
                </a:solidFill>
                <a:latin typeface="Arial" pitchFamily="34" charset="0"/>
                <a:ea typeface="Arial" pitchFamily="34" charset="-122"/>
                <a:cs typeface="Arial" pitchFamily="34" charset="-120"/>
              </a:rPr>
              <a:t>Segment</a:t>
            </a:r>
            <a:endParaRPr lang="en-US" sz="3600" dirty="0"/>
          </a:p>
        </p:txBody>
      </p:sp>
      <p:sp>
        <p:nvSpPr>
          <p:cNvPr id="6" name="Text 4"/>
          <p:cNvSpPr/>
          <p:nvPr/>
        </p:nvSpPr>
        <p:spPr>
          <a:xfrm>
            <a:off x="640080" y="3520440"/>
            <a:ext cx="7863840" cy="457200"/>
          </a:xfrm>
          <a:prstGeom prst="rect">
            <a:avLst/>
          </a:prstGeom>
          <a:noFill/>
          <a:ln/>
        </p:spPr>
        <p:txBody>
          <a:bodyPr wrap="square" lIns="0" tIns="0" rIns="0" bIns="0" rtlCol="0" anchor="ctr"/>
          <a:lstStyle/>
          <a:p>
            <a:pPr indent="0" marL="0">
              <a:buNone/>
            </a:pPr>
            <a:r>
              <a:rPr lang="en-US" sz="1600" i="1" dirty="0">
                <a:solidFill>
                  <a:srgbClr val="9CA3AF"/>
                </a:solidFill>
                <a:latin typeface="Arial" pitchFamily="34" charset="0"/>
                <a:ea typeface="Arial" pitchFamily="34" charset="-122"/>
                <a:cs typeface="Arial" pitchFamily="34" charset="-120"/>
              </a:rPr>
              <a:t>How many real types of customer do we have?</a:t>
            </a:r>
            <a:endParaRPr lang="en-US" sz="1600" dirty="0"/>
          </a:p>
        </p:txBody>
      </p:sp>
      <p:sp>
        <p:nvSpPr>
          <p:cNvPr id="7" name="Text 5"/>
          <p:cNvSpPr/>
          <p:nvPr/>
        </p:nvSpPr>
        <p:spPr>
          <a:xfrm>
            <a:off x="7680960" y="228600"/>
            <a:ext cx="1097280" cy="365760"/>
          </a:xfrm>
          <a:prstGeom prst="rect">
            <a:avLst/>
          </a:prstGeom>
          <a:noFill/>
          <a:ln/>
        </p:spPr>
        <p:txBody>
          <a:bodyPr wrap="square" rtlCol="0" anchor="ctr"/>
          <a:lstStyle/>
          <a:p>
            <a:pPr algn="r" indent="0" marL="0">
              <a:buNone/>
            </a:pPr>
            <a:r>
              <a:rPr lang="en-US" sz="1300" b="1" dirty="0">
                <a:solidFill>
                  <a:srgbClr val="0891B2"/>
                </a:solidFill>
                <a:latin typeface="Arial" pitchFamily="34" charset="0"/>
                <a:ea typeface="Arial" pitchFamily="34" charset="-122"/>
                <a:cs typeface="Arial" pitchFamily="34" charset="-120"/>
              </a:rPr>
              <a:t>MADT</a:t>
            </a:r>
            <a:endParaRPr lang="en-US" sz="13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9144000" cy="45720"/>
          </a:xfrm>
          <a:prstGeom prst="rect">
            <a:avLst/>
          </a:prstGeom>
          <a:solidFill>
            <a:srgbClr val="0891B2"/>
          </a:solidFill>
          <a:ln/>
        </p:spPr>
      </p:sp>
      <p:sp>
        <p:nvSpPr>
          <p:cNvPr id="3" name="Text 1"/>
          <p:cNvSpPr/>
          <p:nvPr/>
        </p:nvSpPr>
        <p:spPr>
          <a:xfrm>
            <a:off x="640080" y="4828032"/>
            <a:ext cx="5486400" cy="228600"/>
          </a:xfrm>
          <a:prstGeom prst="rect">
            <a:avLst/>
          </a:prstGeom>
          <a:noFill/>
          <a:ln/>
        </p:spPr>
        <p:txBody>
          <a:bodyPr wrap="square" lIns="0" tIns="0" rIns="0" bIns="0" rtlCol="0" anchor="ctr"/>
          <a:lstStyle/>
          <a:p>
            <a:pPr indent="0" marL="0">
              <a:buNone/>
            </a:pPr>
            <a:r>
              <a:rPr lang="en-US" sz="900" dirty="0">
                <a:solidFill>
                  <a:srgbClr val="9CA3AF"/>
                </a:solidFill>
                <a:latin typeface="Arial" pitchFamily="34" charset="0"/>
                <a:ea typeface="Arial" pitchFamily="34" charset="-122"/>
                <a:cs typeface="Arial" pitchFamily="34" charset="-120"/>
              </a:rPr>
              <a:t>NIDA  |  MADT6004  |  Module 4 — single view</a:t>
            </a:r>
            <a:endParaRPr lang="en-US" sz="900" dirty="0"/>
          </a:p>
        </p:txBody>
      </p:sp>
      <p:sp>
        <p:nvSpPr>
          <p:cNvPr id="4" name="Text 2"/>
          <p:cNvSpPr/>
          <p:nvPr/>
        </p:nvSpPr>
        <p:spPr>
          <a:xfrm>
            <a:off x="7772400" y="4800600"/>
            <a:ext cx="914400" cy="274320"/>
          </a:xfrm>
          <a:prstGeom prst="rect">
            <a:avLst/>
          </a:prstGeom>
          <a:noFill/>
          <a:ln/>
        </p:spPr>
        <p:txBody>
          <a:bodyPr wrap="square" lIns="0" tIns="0" rIns="0" bIns="0" rtlCol="0" anchor="ctr"/>
          <a:lstStyle/>
          <a:p>
            <a:pPr algn="r" indent="0" marL="0">
              <a:buNone/>
            </a:pPr>
            <a:r>
              <a:rPr lang="en-US" sz="1200" b="1" dirty="0">
                <a:solidFill>
                  <a:srgbClr val="0891B2"/>
                </a:solidFill>
                <a:latin typeface="Arial" pitchFamily="34" charset="0"/>
                <a:ea typeface="Arial" pitchFamily="34" charset="-122"/>
                <a:cs typeface="Arial" pitchFamily="34" charset="-120"/>
              </a:rPr>
              <a:t>MADT</a:t>
            </a:r>
            <a:endParaRPr lang="en-US" sz="1200" dirty="0"/>
          </a:p>
        </p:txBody>
      </p:sp>
      <p:sp>
        <p:nvSpPr>
          <p:cNvPr id="5" name="Text 3"/>
          <p:cNvSpPr/>
          <p:nvPr/>
        </p:nvSpPr>
        <p:spPr>
          <a:xfrm>
            <a:off x="640080" y="274320"/>
            <a:ext cx="7863840" cy="502920"/>
          </a:xfrm>
          <a:prstGeom prst="rect">
            <a:avLst/>
          </a:prstGeom>
          <a:noFill/>
          <a:ln/>
        </p:spPr>
        <p:txBody>
          <a:bodyPr wrap="square" lIns="0" tIns="0" rIns="0" bIns="0" rtlCol="0" anchor="ctr"/>
          <a:lstStyle/>
          <a:p>
            <a:pPr indent="0" marL="0">
              <a:buNone/>
            </a:pPr>
            <a:r>
              <a:rPr lang="en-US" sz="2800" b="1" dirty="0">
                <a:solidFill>
                  <a:srgbClr val="1F2937"/>
                </a:solidFill>
                <a:latin typeface="Arial" pitchFamily="34" charset="0"/>
                <a:ea typeface="Arial" pitchFamily="34" charset="-122"/>
                <a:cs typeface="Arial" pitchFamily="34" charset="-120"/>
              </a:rPr>
              <a:t>Customer Single View</a:t>
            </a:r>
            <a:endParaRPr lang="en-US" sz="2800" dirty="0"/>
          </a:p>
        </p:txBody>
      </p:sp>
      <p:sp>
        <p:nvSpPr>
          <p:cNvPr id="6" name="Text 4"/>
          <p:cNvSpPr/>
          <p:nvPr/>
        </p:nvSpPr>
        <p:spPr>
          <a:xfrm>
            <a:off x="640080" y="777240"/>
            <a:ext cx="7863840" cy="274320"/>
          </a:xfrm>
          <a:prstGeom prst="rect">
            <a:avLst/>
          </a:prstGeom>
          <a:noFill/>
          <a:ln/>
        </p:spPr>
        <p:txBody>
          <a:bodyPr wrap="square" lIns="0" tIns="0" rIns="0" bIns="0" rtlCol="0" anchor="ctr"/>
          <a:lstStyle/>
          <a:p>
            <a:pPr indent="0" marL="0">
              <a:buNone/>
            </a:pPr>
            <a:r>
              <a:rPr lang="en-US" sz="1300" i="1" dirty="0">
                <a:solidFill>
                  <a:srgbClr val="6B7280"/>
                </a:solidFill>
                <a:latin typeface="Arial" pitchFamily="34" charset="0"/>
                <a:ea typeface="Arial" pitchFamily="34" charset="-122"/>
                <a:cs typeface="Arial" pitchFamily="34" charset="-120"/>
              </a:rPr>
              <a:t>One row per customer. Every behavior collapsed.</a:t>
            </a:r>
            <a:endParaRPr lang="en-US" sz="1300" dirty="0"/>
          </a:p>
        </p:txBody>
      </p:sp>
      <p:sp>
        <p:nvSpPr>
          <p:cNvPr id="7" name="Shape 5"/>
          <p:cNvSpPr/>
          <p:nvPr/>
        </p:nvSpPr>
        <p:spPr>
          <a:xfrm>
            <a:off x="640080" y="1280160"/>
            <a:ext cx="2468880" cy="2377440"/>
          </a:xfrm>
          <a:prstGeom prst="rect">
            <a:avLst/>
          </a:prstGeom>
          <a:solidFill>
            <a:srgbClr val="F3F4F6"/>
          </a:solidFill>
          <a:ln w="6350">
            <a:solidFill>
              <a:srgbClr val="D1D5DB"/>
            </a:solidFill>
            <a:prstDash val="solid"/>
          </a:ln>
        </p:spPr>
      </p:sp>
      <p:sp>
        <p:nvSpPr>
          <p:cNvPr id="8" name="Shape 6"/>
          <p:cNvSpPr/>
          <p:nvPr/>
        </p:nvSpPr>
        <p:spPr>
          <a:xfrm>
            <a:off x="640080" y="1280160"/>
            <a:ext cx="2468880" cy="64008"/>
          </a:xfrm>
          <a:prstGeom prst="rect">
            <a:avLst/>
          </a:prstGeom>
          <a:solidFill>
            <a:srgbClr val="0891B2"/>
          </a:solidFill>
          <a:ln/>
        </p:spPr>
      </p:sp>
      <p:sp>
        <p:nvSpPr>
          <p:cNvPr id="9" name="Text 7"/>
          <p:cNvSpPr/>
          <p:nvPr/>
        </p:nvSpPr>
        <p:spPr>
          <a:xfrm>
            <a:off x="777240" y="1417320"/>
            <a:ext cx="2194560" cy="320040"/>
          </a:xfrm>
          <a:prstGeom prst="rect">
            <a:avLst/>
          </a:prstGeom>
          <a:noFill/>
          <a:ln/>
        </p:spPr>
        <p:txBody>
          <a:bodyPr wrap="square" lIns="0" tIns="0" rIns="0" bIns="0" rtlCol="0" anchor="ctr"/>
          <a:lstStyle/>
          <a:p>
            <a:pPr indent="0" marL="0">
              <a:buNone/>
            </a:pPr>
            <a:r>
              <a:rPr lang="en-US" sz="1400" b="1" dirty="0">
                <a:solidFill>
                  <a:srgbClr val="1F2937"/>
                </a:solidFill>
                <a:latin typeface="Arial" pitchFamily="34" charset="0"/>
                <a:ea typeface="Arial" pitchFamily="34" charset="-122"/>
                <a:cs typeface="Arial" pitchFamily="34" charset="-120"/>
              </a:rPr>
              <a:t>RFM core</a:t>
            </a:r>
            <a:endParaRPr lang="en-US" sz="1400" dirty="0"/>
          </a:p>
        </p:txBody>
      </p:sp>
      <p:sp>
        <p:nvSpPr>
          <p:cNvPr id="10" name="Text 8"/>
          <p:cNvSpPr/>
          <p:nvPr/>
        </p:nvSpPr>
        <p:spPr>
          <a:xfrm>
            <a:off x="822960" y="1783080"/>
            <a:ext cx="2148840" cy="274320"/>
          </a:xfrm>
          <a:prstGeom prst="rect">
            <a:avLst/>
          </a:prstGeom>
          <a:noFill/>
          <a:ln/>
        </p:spPr>
        <p:txBody>
          <a:bodyPr wrap="square" lIns="0" tIns="0" rIns="0" bIns="0" rtlCol="0" anchor="ctr"/>
          <a:lstStyle/>
          <a:p>
            <a:pPr indent="0" marL="0">
              <a:buNone/>
            </a:pPr>
            <a:r>
              <a:rPr lang="en-US" sz="1100" dirty="0">
                <a:solidFill>
                  <a:srgbClr val="374151"/>
                </a:solidFill>
                <a:latin typeface="Consolas" pitchFamily="34" charset="0"/>
                <a:ea typeface="Consolas" pitchFamily="34" charset="-122"/>
                <a:cs typeface="Consolas" pitchFamily="34" charset="-120"/>
              </a:rPr>
              <a:t>•  recency (days)</a:t>
            </a:r>
            <a:endParaRPr lang="en-US" sz="1100" dirty="0"/>
          </a:p>
        </p:txBody>
      </p:sp>
      <p:sp>
        <p:nvSpPr>
          <p:cNvPr id="11" name="Text 9"/>
          <p:cNvSpPr/>
          <p:nvPr/>
        </p:nvSpPr>
        <p:spPr>
          <a:xfrm>
            <a:off x="822960" y="2075688"/>
            <a:ext cx="2148840" cy="274320"/>
          </a:xfrm>
          <a:prstGeom prst="rect">
            <a:avLst/>
          </a:prstGeom>
          <a:noFill/>
          <a:ln/>
        </p:spPr>
        <p:txBody>
          <a:bodyPr wrap="square" lIns="0" tIns="0" rIns="0" bIns="0" rtlCol="0" anchor="ctr"/>
          <a:lstStyle/>
          <a:p>
            <a:pPr indent="0" marL="0">
              <a:buNone/>
            </a:pPr>
            <a:r>
              <a:rPr lang="en-US" sz="1100" dirty="0">
                <a:solidFill>
                  <a:srgbClr val="374151"/>
                </a:solidFill>
                <a:latin typeface="Consolas" pitchFamily="34" charset="0"/>
                <a:ea typeface="Consolas" pitchFamily="34" charset="-122"/>
                <a:cs typeface="Consolas" pitchFamily="34" charset="-120"/>
              </a:rPr>
              <a:t>•  frequency (visits)</a:t>
            </a:r>
            <a:endParaRPr lang="en-US" sz="1100" dirty="0"/>
          </a:p>
        </p:txBody>
      </p:sp>
      <p:sp>
        <p:nvSpPr>
          <p:cNvPr id="12" name="Text 10"/>
          <p:cNvSpPr/>
          <p:nvPr/>
        </p:nvSpPr>
        <p:spPr>
          <a:xfrm>
            <a:off x="822960" y="2368296"/>
            <a:ext cx="2148840" cy="274320"/>
          </a:xfrm>
          <a:prstGeom prst="rect">
            <a:avLst/>
          </a:prstGeom>
          <a:noFill/>
          <a:ln/>
        </p:spPr>
        <p:txBody>
          <a:bodyPr wrap="square" lIns="0" tIns="0" rIns="0" bIns="0" rtlCol="0" anchor="ctr"/>
          <a:lstStyle/>
          <a:p>
            <a:pPr indent="0" marL="0">
              <a:buNone/>
            </a:pPr>
            <a:r>
              <a:rPr lang="en-US" sz="1100" dirty="0">
                <a:solidFill>
                  <a:srgbClr val="374151"/>
                </a:solidFill>
                <a:latin typeface="Consolas" pitchFamily="34" charset="0"/>
                <a:ea typeface="Consolas" pitchFamily="34" charset="-122"/>
                <a:cs typeface="Consolas" pitchFamily="34" charset="-120"/>
              </a:rPr>
              <a:t>•  monetary (baht)</a:t>
            </a:r>
            <a:endParaRPr lang="en-US" sz="1100" dirty="0"/>
          </a:p>
        </p:txBody>
      </p:sp>
      <p:sp>
        <p:nvSpPr>
          <p:cNvPr id="13" name="Text 11"/>
          <p:cNvSpPr/>
          <p:nvPr/>
        </p:nvSpPr>
        <p:spPr>
          <a:xfrm>
            <a:off x="822960" y="2660904"/>
            <a:ext cx="2148840" cy="274320"/>
          </a:xfrm>
          <a:prstGeom prst="rect">
            <a:avLst/>
          </a:prstGeom>
          <a:noFill/>
          <a:ln/>
        </p:spPr>
        <p:txBody>
          <a:bodyPr wrap="square" lIns="0" tIns="0" rIns="0" bIns="0" rtlCol="0" anchor="ctr"/>
          <a:lstStyle/>
          <a:p>
            <a:pPr indent="0" marL="0">
              <a:buNone/>
            </a:pPr>
            <a:r>
              <a:rPr lang="en-US" sz="1100" dirty="0">
                <a:solidFill>
                  <a:srgbClr val="374151"/>
                </a:solidFill>
                <a:latin typeface="Consolas" pitchFamily="34" charset="0"/>
                <a:ea typeface="Consolas" pitchFamily="34" charset="-122"/>
                <a:cs typeface="Consolas" pitchFamily="34" charset="-120"/>
              </a:rPr>
              <a:t>•  avg_ticket</a:t>
            </a:r>
            <a:endParaRPr lang="en-US" sz="1100" dirty="0"/>
          </a:p>
        </p:txBody>
      </p:sp>
      <p:sp>
        <p:nvSpPr>
          <p:cNvPr id="14" name="Shape 12"/>
          <p:cNvSpPr/>
          <p:nvPr/>
        </p:nvSpPr>
        <p:spPr>
          <a:xfrm>
            <a:off x="3337560" y="1280160"/>
            <a:ext cx="2468880" cy="2377440"/>
          </a:xfrm>
          <a:prstGeom prst="rect">
            <a:avLst/>
          </a:prstGeom>
          <a:solidFill>
            <a:srgbClr val="F3F4F6"/>
          </a:solidFill>
          <a:ln w="6350">
            <a:solidFill>
              <a:srgbClr val="D1D5DB"/>
            </a:solidFill>
            <a:prstDash val="solid"/>
          </a:ln>
        </p:spPr>
      </p:sp>
      <p:sp>
        <p:nvSpPr>
          <p:cNvPr id="15" name="Shape 13"/>
          <p:cNvSpPr/>
          <p:nvPr/>
        </p:nvSpPr>
        <p:spPr>
          <a:xfrm>
            <a:off x="3337560" y="1280160"/>
            <a:ext cx="2468880" cy="64008"/>
          </a:xfrm>
          <a:prstGeom prst="rect">
            <a:avLst/>
          </a:prstGeom>
          <a:solidFill>
            <a:srgbClr val="0891B2"/>
          </a:solidFill>
          <a:ln/>
        </p:spPr>
      </p:sp>
      <p:sp>
        <p:nvSpPr>
          <p:cNvPr id="16" name="Text 14"/>
          <p:cNvSpPr/>
          <p:nvPr/>
        </p:nvSpPr>
        <p:spPr>
          <a:xfrm>
            <a:off x="3474720" y="1417320"/>
            <a:ext cx="2194560" cy="320040"/>
          </a:xfrm>
          <a:prstGeom prst="rect">
            <a:avLst/>
          </a:prstGeom>
          <a:noFill/>
          <a:ln/>
        </p:spPr>
        <p:txBody>
          <a:bodyPr wrap="square" lIns="0" tIns="0" rIns="0" bIns="0" rtlCol="0" anchor="ctr"/>
          <a:lstStyle/>
          <a:p>
            <a:pPr indent="0" marL="0">
              <a:buNone/>
            </a:pPr>
            <a:r>
              <a:rPr lang="en-US" sz="1400" b="1" dirty="0">
                <a:solidFill>
                  <a:srgbClr val="1F2937"/>
                </a:solidFill>
                <a:latin typeface="Arial" pitchFamily="34" charset="0"/>
                <a:ea typeface="Arial" pitchFamily="34" charset="-122"/>
                <a:cs typeface="Arial" pitchFamily="34" charset="-120"/>
              </a:rPr>
              <a:t>Channel mix</a:t>
            </a:r>
            <a:endParaRPr lang="en-US" sz="1400" dirty="0"/>
          </a:p>
        </p:txBody>
      </p:sp>
      <p:sp>
        <p:nvSpPr>
          <p:cNvPr id="17" name="Text 15"/>
          <p:cNvSpPr/>
          <p:nvPr/>
        </p:nvSpPr>
        <p:spPr>
          <a:xfrm>
            <a:off x="3520440" y="1783080"/>
            <a:ext cx="2148840" cy="274320"/>
          </a:xfrm>
          <a:prstGeom prst="rect">
            <a:avLst/>
          </a:prstGeom>
          <a:noFill/>
          <a:ln/>
        </p:spPr>
        <p:txBody>
          <a:bodyPr wrap="square" lIns="0" tIns="0" rIns="0" bIns="0" rtlCol="0" anchor="ctr"/>
          <a:lstStyle/>
          <a:p>
            <a:pPr indent="0" marL="0">
              <a:buNone/>
            </a:pPr>
            <a:r>
              <a:rPr lang="en-US" sz="1100" dirty="0">
                <a:solidFill>
                  <a:srgbClr val="374151"/>
                </a:solidFill>
                <a:latin typeface="Consolas" pitchFamily="34" charset="0"/>
                <a:ea typeface="Consolas" pitchFamily="34" charset="-122"/>
                <a:cs typeface="Consolas" pitchFamily="34" charset="-120"/>
              </a:rPr>
              <a:t>•  app_share</a:t>
            </a:r>
            <a:endParaRPr lang="en-US" sz="1100" dirty="0"/>
          </a:p>
        </p:txBody>
      </p:sp>
      <p:sp>
        <p:nvSpPr>
          <p:cNvPr id="18" name="Text 16"/>
          <p:cNvSpPr/>
          <p:nvPr/>
        </p:nvSpPr>
        <p:spPr>
          <a:xfrm>
            <a:off x="3520440" y="2075688"/>
            <a:ext cx="2148840" cy="274320"/>
          </a:xfrm>
          <a:prstGeom prst="rect">
            <a:avLst/>
          </a:prstGeom>
          <a:noFill/>
          <a:ln/>
        </p:spPr>
        <p:txBody>
          <a:bodyPr wrap="square" lIns="0" tIns="0" rIns="0" bIns="0" rtlCol="0" anchor="ctr"/>
          <a:lstStyle/>
          <a:p>
            <a:pPr indent="0" marL="0">
              <a:buNone/>
            </a:pPr>
            <a:r>
              <a:rPr lang="en-US" sz="1100" dirty="0">
                <a:solidFill>
                  <a:srgbClr val="374151"/>
                </a:solidFill>
                <a:latin typeface="Consolas" pitchFamily="34" charset="0"/>
                <a:ea typeface="Consolas" pitchFamily="34" charset="-122"/>
                <a:cs typeface="Consolas" pitchFamily="34" charset="-120"/>
              </a:rPr>
              <a:t>•  delivery_share</a:t>
            </a:r>
            <a:endParaRPr lang="en-US" sz="1100" dirty="0"/>
          </a:p>
        </p:txBody>
      </p:sp>
      <p:sp>
        <p:nvSpPr>
          <p:cNvPr id="19" name="Text 17"/>
          <p:cNvSpPr/>
          <p:nvPr/>
        </p:nvSpPr>
        <p:spPr>
          <a:xfrm>
            <a:off x="3520440" y="2368296"/>
            <a:ext cx="2148840" cy="274320"/>
          </a:xfrm>
          <a:prstGeom prst="rect">
            <a:avLst/>
          </a:prstGeom>
          <a:noFill/>
          <a:ln/>
        </p:spPr>
        <p:txBody>
          <a:bodyPr wrap="square" lIns="0" tIns="0" rIns="0" bIns="0" rtlCol="0" anchor="ctr"/>
          <a:lstStyle/>
          <a:p>
            <a:pPr indent="0" marL="0">
              <a:buNone/>
            </a:pPr>
            <a:r>
              <a:rPr lang="en-US" sz="1100" dirty="0">
                <a:solidFill>
                  <a:srgbClr val="374151"/>
                </a:solidFill>
                <a:latin typeface="Consolas" pitchFamily="34" charset="0"/>
                <a:ea typeface="Consolas" pitchFamily="34" charset="-122"/>
                <a:cs typeface="Consolas" pitchFamily="34" charset="-120"/>
              </a:rPr>
              <a:t>•  dinein_share</a:t>
            </a:r>
            <a:endParaRPr lang="en-US" sz="1100" dirty="0"/>
          </a:p>
        </p:txBody>
      </p:sp>
      <p:sp>
        <p:nvSpPr>
          <p:cNvPr id="20" name="Text 18"/>
          <p:cNvSpPr/>
          <p:nvPr/>
        </p:nvSpPr>
        <p:spPr>
          <a:xfrm>
            <a:off x="3520440" y="2660904"/>
            <a:ext cx="2148840" cy="274320"/>
          </a:xfrm>
          <a:prstGeom prst="rect">
            <a:avLst/>
          </a:prstGeom>
          <a:noFill/>
          <a:ln/>
        </p:spPr>
        <p:txBody>
          <a:bodyPr wrap="square" lIns="0" tIns="0" rIns="0" bIns="0" rtlCol="0" anchor="ctr"/>
          <a:lstStyle/>
          <a:p>
            <a:pPr indent="0" marL="0">
              <a:buNone/>
            </a:pPr>
            <a:r>
              <a:rPr lang="en-US" sz="1100" dirty="0">
                <a:solidFill>
                  <a:srgbClr val="374151"/>
                </a:solidFill>
                <a:latin typeface="Consolas" pitchFamily="34" charset="0"/>
                <a:ea typeface="Consolas" pitchFamily="34" charset="-122"/>
                <a:cs typeface="Consolas" pitchFamily="34" charset="-120"/>
              </a:rPr>
              <a:t>•  weekend_share</a:t>
            </a:r>
            <a:endParaRPr lang="en-US" sz="1100" dirty="0"/>
          </a:p>
        </p:txBody>
      </p:sp>
      <p:sp>
        <p:nvSpPr>
          <p:cNvPr id="21" name="Shape 19"/>
          <p:cNvSpPr/>
          <p:nvPr/>
        </p:nvSpPr>
        <p:spPr>
          <a:xfrm>
            <a:off x="6035040" y="1280160"/>
            <a:ext cx="2468880" cy="2377440"/>
          </a:xfrm>
          <a:prstGeom prst="rect">
            <a:avLst/>
          </a:prstGeom>
          <a:solidFill>
            <a:srgbClr val="F3F4F6"/>
          </a:solidFill>
          <a:ln w="6350">
            <a:solidFill>
              <a:srgbClr val="D1D5DB"/>
            </a:solidFill>
            <a:prstDash val="solid"/>
          </a:ln>
        </p:spPr>
      </p:sp>
      <p:sp>
        <p:nvSpPr>
          <p:cNvPr id="22" name="Shape 20"/>
          <p:cNvSpPr/>
          <p:nvPr/>
        </p:nvSpPr>
        <p:spPr>
          <a:xfrm>
            <a:off x="6035040" y="1280160"/>
            <a:ext cx="2468880" cy="64008"/>
          </a:xfrm>
          <a:prstGeom prst="rect">
            <a:avLst/>
          </a:prstGeom>
          <a:solidFill>
            <a:srgbClr val="0891B2"/>
          </a:solidFill>
          <a:ln/>
        </p:spPr>
      </p:sp>
      <p:sp>
        <p:nvSpPr>
          <p:cNvPr id="23" name="Text 21"/>
          <p:cNvSpPr/>
          <p:nvPr/>
        </p:nvSpPr>
        <p:spPr>
          <a:xfrm>
            <a:off x="6172200" y="1417320"/>
            <a:ext cx="2194560" cy="320040"/>
          </a:xfrm>
          <a:prstGeom prst="rect">
            <a:avLst/>
          </a:prstGeom>
          <a:noFill/>
          <a:ln/>
        </p:spPr>
        <p:txBody>
          <a:bodyPr wrap="square" lIns="0" tIns="0" rIns="0" bIns="0" rtlCol="0" anchor="ctr"/>
          <a:lstStyle/>
          <a:p>
            <a:pPr indent="0" marL="0">
              <a:buNone/>
            </a:pPr>
            <a:r>
              <a:rPr lang="en-US" sz="1400" b="1" dirty="0">
                <a:solidFill>
                  <a:srgbClr val="1F2937"/>
                </a:solidFill>
                <a:latin typeface="Arial" pitchFamily="34" charset="0"/>
                <a:ea typeface="Arial" pitchFamily="34" charset="-122"/>
                <a:cs typeface="Arial" pitchFamily="34" charset="-120"/>
              </a:rPr>
              <a:t>Behavior depth</a:t>
            </a:r>
            <a:endParaRPr lang="en-US" sz="1400" dirty="0"/>
          </a:p>
        </p:txBody>
      </p:sp>
      <p:sp>
        <p:nvSpPr>
          <p:cNvPr id="24" name="Text 22"/>
          <p:cNvSpPr/>
          <p:nvPr/>
        </p:nvSpPr>
        <p:spPr>
          <a:xfrm>
            <a:off x="6217920" y="1783080"/>
            <a:ext cx="2148840" cy="274320"/>
          </a:xfrm>
          <a:prstGeom prst="rect">
            <a:avLst/>
          </a:prstGeom>
          <a:noFill/>
          <a:ln/>
        </p:spPr>
        <p:txBody>
          <a:bodyPr wrap="square" lIns="0" tIns="0" rIns="0" bIns="0" rtlCol="0" anchor="ctr"/>
          <a:lstStyle/>
          <a:p>
            <a:pPr indent="0" marL="0">
              <a:buNone/>
            </a:pPr>
            <a:r>
              <a:rPr lang="en-US" sz="1100" dirty="0">
                <a:solidFill>
                  <a:srgbClr val="374151"/>
                </a:solidFill>
                <a:latin typeface="Consolas" pitchFamily="34" charset="0"/>
                <a:ea typeface="Consolas" pitchFamily="34" charset="-122"/>
                <a:cs typeface="Consolas" pitchFamily="34" charset="-120"/>
              </a:rPr>
              <a:t>•  promo_share</a:t>
            </a:r>
            <a:endParaRPr lang="en-US" sz="1100" dirty="0"/>
          </a:p>
        </p:txBody>
      </p:sp>
      <p:sp>
        <p:nvSpPr>
          <p:cNvPr id="25" name="Text 23"/>
          <p:cNvSpPr/>
          <p:nvPr/>
        </p:nvSpPr>
        <p:spPr>
          <a:xfrm>
            <a:off x="6217920" y="2075688"/>
            <a:ext cx="2148840" cy="274320"/>
          </a:xfrm>
          <a:prstGeom prst="rect">
            <a:avLst/>
          </a:prstGeom>
          <a:noFill/>
          <a:ln/>
        </p:spPr>
        <p:txBody>
          <a:bodyPr wrap="square" lIns="0" tIns="0" rIns="0" bIns="0" rtlCol="0" anchor="ctr"/>
          <a:lstStyle/>
          <a:p>
            <a:pPr indent="0" marL="0">
              <a:buNone/>
            </a:pPr>
            <a:r>
              <a:rPr lang="en-US" sz="1100" dirty="0">
                <a:solidFill>
                  <a:srgbClr val="374151"/>
                </a:solidFill>
                <a:latin typeface="Consolas" pitchFamily="34" charset="0"/>
                <a:ea typeface="Consolas" pitchFamily="34" charset="-122"/>
                <a:cs typeface="Consolas" pitchFamily="34" charset="-120"/>
              </a:rPr>
              <a:t>•  avg_basket_size</a:t>
            </a:r>
            <a:endParaRPr lang="en-US" sz="1100" dirty="0"/>
          </a:p>
        </p:txBody>
      </p:sp>
      <p:sp>
        <p:nvSpPr>
          <p:cNvPr id="26" name="Text 24"/>
          <p:cNvSpPr/>
          <p:nvPr/>
        </p:nvSpPr>
        <p:spPr>
          <a:xfrm>
            <a:off x="6217920" y="2368296"/>
            <a:ext cx="2148840" cy="274320"/>
          </a:xfrm>
          <a:prstGeom prst="rect">
            <a:avLst/>
          </a:prstGeom>
          <a:noFill/>
          <a:ln/>
        </p:spPr>
        <p:txBody>
          <a:bodyPr wrap="square" lIns="0" tIns="0" rIns="0" bIns="0" rtlCol="0" anchor="ctr"/>
          <a:lstStyle/>
          <a:p>
            <a:pPr indent="0" marL="0">
              <a:buNone/>
            </a:pPr>
            <a:r>
              <a:rPr lang="en-US" sz="1100" dirty="0">
                <a:solidFill>
                  <a:srgbClr val="374151"/>
                </a:solidFill>
                <a:latin typeface="Consolas" pitchFamily="34" charset="0"/>
                <a:ea typeface="Consolas" pitchFamily="34" charset="-122"/>
                <a:cs typeface="Consolas" pitchFamily="34" charset="-120"/>
              </a:rPr>
              <a:t>•  tenure_days</a:t>
            </a:r>
            <a:endParaRPr lang="en-US" sz="1100" dirty="0"/>
          </a:p>
        </p:txBody>
      </p:sp>
      <p:sp>
        <p:nvSpPr>
          <p:cNvPr id="27" name="Text 25"/>
          <p:cNvSpPr/>
          <p:nvPr/>
        </p:nvSpPr>
        <p:spPr>
          <a:xfrm>
            <a:off x="6217920" y="2660904"/>
            <a:ext cx="2148840" cy="274320"/>
          </a:xfrm>
          <a:prstGeom prst="rect">
            <a:avLst/>
          </a:prstGeom>
          <a:noFill/>
          <a:ln/>
        </p:spPr>
        <p:txBody>
          <a:bodyPr wrap="square" lIns="0" tIns="0" rIns="0" bIns="0" rtlCol="0" anchor="ctr"/>
          <a:lstStyle/>
          <a:p>
            <a:pPr indent="0" marL="0">
              <a:buNone/>
            </a:pPr>
            <a:r>
              <a:rPr lang="en-US" sz="1100" dirty="0">
                <a:solidFill>
                  <a:srgbClr val="374151"/>
                </a:solidFill>
                <a:latin typeface="Consolas" pitchFamily="34" charset="0"/>
                <a:ea typeface="Consolas" pitchFamily="34" charset="-122"/>
                <a:cs typeface="Consolas" pitchFamily="34" charset="-120"/>
              </a:rPr>
              <a:t>•  active_span</a:t>
            </a:r>
            <a:endParaRPr lang="en-US" sz="1100" dirty="0"/>
          </a:p>
        </p:txBody>
      </p:sp>
      <p:sp>
        <p:nvSpPr>
          <p:cNvPr id="28" name="Shape 26"/>
          <p:cNvSpPr/>
          <p:nvPr/>
        </p:nvSpPr>
        <p:spPr>
          <a:xfrm>
            <a:off x="640080" y="3840480"/>
            <a:ext cx="7863840" cy="777240"/>
          </a:xfrm>
          <a:prstGeom prst="rect">
            <a:avLst/>
          </a:prstGeom>
          <a:solidFill>
            <a:srgbClr val="E0F7FA"/>
          </a:solidFill>
          <a:ln w="12700">
            <a:solidFill>
              <a:srgbClr val="0891B2"/>
            </a:solidFill>
            <a:prstDash val="solid"/>
          </a:ln>
        </p:spPr>
      </p:sp>
      <p:sp>
        <p:nvSpPr>
          <p:cNvPr id="29" name="Text 27"/>
          <p:cNvSpPr/>
          <p:nvPr/>
        </p:nvSpPr>
        <p:spPr>
          <a:xfrm>
            <a:off x="822960" y="3931920"/>
            <a:ext cx="7498080" cy="594360"/>
          </a:xfrm>
          <a:prstGeom prst="rect">
            <a:avLst/>
          </a:prstGeom>
          <a:noFill/>
          <a:ln/>
        </p:spPr>
        <p:txBody>
          <a:bodyPr wrap="square" lIns="0" tIns="0" rIns="0" bIns="0" rtlCol="0" anchor="ctr"/>
          <a:lstStyle/>
          <a:p>
            <a:pPr indent="0" marL="0">
              <a:buNone/>
            </a:pPr>
            <a:r>
              <a:rPr lang="en-US" sz="1200" i="1" dirty="0">
                <a:solidFill>
                  <a:srgbClr val="1F2937"/>
                </a:solidFill>
                <a:latin typeface="Arial" pitchFamily="34" charset="0"/>
                <a:ea typeface="Arial" pitchFamily="34" charset="-122"/>
                <a:cs typeface="Arial" pitchFamily="34" charset="-120"/>
              </a:rPr>
              <a:t>The single view is the unsung hero of analytics. It is what you build once and reuse for segmentation, churn, LTV, and recommendation. Most data debt at retail clients is the absence of this table.</a:t>
            </a:r>
            <a:endParaRPr lang="en-US" sz="12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9144000" cy="45720"/>
          </a:xfrm>
          <a:prstGeom prst="rect">
            <a:avLst/>
          </a:prstGeom>
          <a:solidFill>
            <a:srgbClr val="0891B2"/>
          </a:solidFill>
          <a:ln/>
        </p:spPr>
      </p:sp>
      <p:sp>
        <p:nvSpPr>
          <p:cNvPr id="3" name="Text 1"/>
          <p:cNvSpPr/>
          <p:nvPr/>
        </p:nvSpPr>
        <p:spPr>
          <a:xfrm>
            <a:off x="640080" y="4828032"/>
            <a:ext cx="5486400" cy="228600"/>
          </a:xfrm>
          <a:prstGeom prst="rect">
            <a:avLst/>
          </a:prstGeom>
          <a:noFill/>
          <a:ln/>
        </p:spPr>
        <p:txBody>
          <a:bodyPr wrap="square" lIns="0" tIns="0" rIns="0" bIns="0" rtlCol="0" anchor="ctr"/>
          <a:lstStyle/>
          <a:p>
            <a:pPr indent="0" marL="0">
              <a:buNone/>
            </a:pPr>
            <a:r>
              <a:rPr lang="en-US" sz="900" dirty="0">
                <a:solidFill>
                  <a:srgbClr val="9CA3AF"/>
                </a:solidFill>
                <a:latin typeface="Arial" pitchFamily="34" charset="0"/>
                <a:ea typeface="Arial" pitchFamily="34" charset="-122"/>
                <a:cs typeface="Arial" pitchFamily="34" charset="-120"/>
              </a:rPr>
              <a:t>NIDA  |  MADT6004  |  Module 4 — clusters</a:t>
            </a:r>
            <a:endParaRPr lang="en-US" sz="900" dirty="0"/>
          </a:p>
        </p:txBody>
      </p:sp>
      <p:sp>
        <p:nvSpPr>
          <p:cNvPr id="4" name="Text 2"/>
          <p:cNvSpPr/>
          <p:nvPr/>
        </p:nvSpPr>
        <p:spPr>
          <a:xfrm>
            <a:off x="7772400" y="4800600"/>
            <a:ext cx="914400" cy="274320"/>
          </a:xfrm>
          <a:prstGeom prst="rect">
            <a:avLst/>
          </a:prstGeom>
          <a:noFill/>
          <a:ln/>
        </p:spPr>
        <p:txBody>
          <a:bodyPr wrap="square" lIns="0" tIns="0" rIns="0" bIns="0" rtlCol="0" anchor="ctr"/>
          <a:lstStyle/>
          <a:p>
            <a:pPr algn="r" indent="0" marL="0">
              <a:buNone/>
            </a:pPr>
            <a:r>
              <a:rPr lang="en-US" sz="1200" b="1" dirty="0">
                <a:solidFill>
                  <a:srgbClr val="0891B2"/>
                </a:solidFill>
                <a:latin typeface="Arial" pitchFamily="34" charset="0"/>
                <a:ea typeface="Arial" pitchFamily="34" charset="-122"/>
                <a:cs typeface="Arial" pitchFamily="34" charset="-120"/>
              </a:rPr>
              <a:t>MADT</a:t>
            </a:r>
            <a:endParaRPr lang="en-US" sz="1200" dirty="0"/>
          </a:p>
        </p:txBody>
      </p:sp>
      <p:sp>
        <p:nvSpPr>
          <p:cNvPr id="5" name="Text 3"/>
          <p:cNvSpPr/>
          <p:nvPr/>
        </p:nvSpPr>
        <p:spPr>
          <a:xfrm>
            <a:off x="640080" y="274320"/>
            <a:ext cx="7863840" cy="502920"/>
          </a:xfrm>
          <a:prstGeom prst="rect">
            <a:avLst/>
          </a:prstGeom>
          <a:noFill/>
          <a:ln/>
        </p:spPr>
        <p:txBody>
          <a:bodyPr wrap="square" lIns="0" tIns="0" rIns="0" bIns="0" rtlCol="0" anchor="ctr"/>
          <a:lstStyle/>
          <a:p>
            <a:pPr indent="0" marL="0">
              <a:buNone/>
            </a:pPr>
            <a:r>
              <a:rPr lang="en-US" sz="2800" b="1" dirty="0">
                <a:solidFill>
                  <a:srgbClr val="1F2937"/>
                </a:solidFill>
                <a:latin typeface="Arial" pitchFamily="34" charset="0"/>
                <a:ea typeface="Arial" pitchFamily="34" charset="-122"/>
                <a:cs typeface="Arial" pitchFamily="34" charset="-120"/>
              </a:rPr>
              <a:t>K-means + silhouette</a:t>
            </a:r>
            <a:endParaRPr lang="en-US" sz="2800" dirty="0"/>
          </a:p>
        </p:txBody>
      </p:sp>
      <p:sp>
        <p:nvSpPr>
          <p:cNvPr id="6" name="Text 4"/>
          <p:cNvSpPr/>
          <p:nvPr/>
        </p:nvSpPr>
        <p:spPr>
          <a:xfrm>
            <a:off x="640080" y="777240"/>
            <a:ext cx="7863840" cy="274320"/>
          </a:xfrm>
          <a:prstGeom prst="rect">
            <a:avLst/>
          </a:prstGeom>
          <a:noFill/>
          <a:ln/>
        </p:spPr>
        <p:txBody>
          <a:bodyPr wrap="square" lIns="0" tIns="0" rIns="0" bIns="0" rtlCol="0" anchor="ctr"/>
          <a:lstStyle/>
          <a:p>
            <a:pPr indent="0" marL="0">
              <a:buNone/>
            </a:pPr>
            <a:r>
              <a:rPr lang="en-US" sz="1300" i="1" dirty="0">
                <a:solidFill>
                  <a:srgbClr val="6B7280"/>
                </a:solidFill>
                <a:latin typeface="Arial" pitchFamily="34" charset="0"/>
                <a:ea typeface="Arial" pitchFamily="34" charset="-122"/>
                <a:cs typeface="Arial" pitchFamily="34" charset="-120"/>
              </a:rPr>
              <a:t>Pick k by data, not by gut. Then name the clusters from their profiles.</a:t>
            </a:r>
            <a:endParaRPr lang="en-US" sz="1300" dirty="0"/>
          </a:p>
        </p:txBody>
      </p:sp>
      <p:sp>
        <p:nvSpPr>
          <p:cNvPr id="7" name="Shape 5"/>
          <p:cNvSpPr/>
          <p:nvPr/>
        </p:nvSpPr>
        <p:spPr>
          <a:xfrm>
            <a:off x="640080" y="1280160"/>
            <a:ext cx="3749040" cy="1143000"/>
          </a:xfrm>
          <a:prstGeom prst="rect">
            <a:avLst/>
          </a:prstGeom>
          <a:solidFill>
            <a:srgbClr val="F3F4F6"/>
          </a:solidFill>
          <a:ln w="6350">
            <a:solidFill>
              <a:srgbClr val="D1D5DB"/>
            </a:solidFill>
            <a:prstDash val="solid"/>
          </a:ln>
        </p:spPr>
      </p:sp>
      <p:sp>
        <p:nvSpPr>
          <p:cNvPr id="8" name="Shape 6"/>
          <p:cNvSpPr/>
          <p:nvPr/>
        </p:nvSpPr>
        <p:spPr>
          <a:xfrm>
            <a:off x="640080" y="1280160"/>
            <a:ext cx="73152" cy="1143000"/>
          </a:xfrm>
          <a:prstGeom prst="rect">
            <a:avLst/>
          </a:prstGeom>
          <a:solidFill>
            <a:srgbClr val="0891B2"/>
          </a:solidFill>
          <a:ln/>
        </p:spPr>
      </p:sp>
      <p:sp>
        <p:nvSpPr>
          <p:cNvPr id="9" name="Text 7"/>
          <p:cNvSpPr/>
          <p:nvPr/>
        </p:nvSpPr>
        <p:spPr>
          <a:xfrm>
            <a:off x="822960" y="1371600"/>
            <a:ext cx="3474720" cy="320040"/>
          </a:xfrm>
          <a:prstGeom prst="rect">
            <a:avLst/>
          </a:prstGeom>
          <a:noFill/>
          <a:ln/>
        </p:spPr>
        <p:txBody>
          <a:bodyPr wrap="square" lIns="0" tIns="0" rIns="0" bIns="0" rtlCol="0" anchor="ctr"/>
          <a:lstStyle/>
          <a:p>
            <a:pPr indent="0" marL="0">
              <a:buNone/>
            </a:pPr>
            <a:r>
              <a:rPr lang="en-US" sz="1600" b="1" dirty="0">
                <a:solidFill>
                  <a:srgbClr val="1F2937"/>
                </a:solidFill>
                <a:latin typeface="Arial" pitchFamily="34" charset="0"/>
                <a:ea typeface="Arial" pitchFamily="34" charset="-122"/>
                <a:cs typeface="Arial" pitchFamily="34" charset="-120"/>
              </a:rPr>
              <a:t>Daily Loyalists</a:t>
            </a:r>
            <a:endParaRPr lang="en-US" sz="1600" dirty="0"/>
          </a:p>
        </p:txBody>
      </p:sp>
      <p:sp>
        <p:nvSpPr>
          <p:cNvPr id="10" name="Text 8"/>
          <p:cNvSpPr/>
          <p:nvPr/>
        </p:nvSpPr>
        <p:spPr>
          <a:xfrm>
            <a:off x="822960" y="1737360"/>
            <a:ext cx="3474720" cy="548640"/>
          </a:xfrm>
          <a:prstGeom prst="rect">
            <a:avLst/>
          </a:prstGeom>
          <a:noFill/>
          <a:ln/>
        </p:spPr>
        <p:txBody>
          <a:bodyPr wrap="square" lIns="0" tIns="0" rIns="0" bIns="0" rtlCol="0" anchor="ctr"/>
          <a:lstStyle/>
          <a:p>
            <a:pPr indent="0" marL="0">
              <a:buNone/>
            </a:pPr>
            <a:r>
              <a:rPr lang="en-US" sz="1100" dirty="0">
                <a:solidFill>
                  <a:srgbClr val="374151"/>
                </a:solidFill>
                <a:latin typeface="Consolas" pitchFamily="34" charset="0"/>
                <a:ea typeface="Consolas" pitchFamily="34" charset="-122"/>
                <a:cs typeface="Consolas" pitchFamily="34" charset="-120"/>
              </a:rPr>
              <a:t>freq ~ 149  •  recency ~ 7d  •  monetary ~ 18K</a:t>
            </a:r>
            <a:endParaRPr lang="en-US" sz="1100" dirty="0"/>
          </a:p>
        </p:txBody>
      </p:sp>
      <p:sp>
        <p:nvSpPr>
          <p:cNvPr id="11" name="Shape 9"/>
          <p:cNvSpPr/>
          <p:nvPr/>
        </p:nvSpPr>
        <p:spPr>
          <a:xfrm>
            <a:off x="4663440" y="1280160"/>
            <a:ext cx="3749040" cy="1143000"/>
          </a:xfrm>
          <a:prstGeom prst="rect">
            <a:avLst/>
          </a:prstGeom>
          <a:solidFill>
            <a:srgbClr val="F3F4F6"/>
          </a:solidFill>
          <a:ln w="6350">
            <a:solidFill>
              <a:srgbClr val="D1D5DB"/>
            </a:solidFill>
            <a:prstDash val="solid"/>
          </a:ln>
        </p:spPr>
      </p:sp>
      <p:sp>
        <p:nvSpPr>
          <p:cNvPr id="12" name="Shape 10"/>
          <p:cNvSpPr/>
          <p:nvPr/>
        </p:nvSpPr>
        <p:spPr>
          <a:xfrm>
            <a:off x="4663440" y="1280160"/>
            <a:ext cx="73152" cy="1143000"/>
          </a:xfrm>
          <a:prstGeom prst="rect">
            <a:avLst/>
          </a:prstGeom>
          <a:solidFill>
            <a:srgbClr val="D97706"/>
          </a:solidFill>
          <a:ln/>
        </p:spPr>
      </p:sp>
      <p:sp>
        <p:nvSpPr>
          <p:cNvPr id="13" name="Text 11"/>
          <p:cNvSpPr/>
          <p:nvPr/>
        </p:nvSpPr>
        <p:spPr>
          <a:xfrm>
            <a:off x="4846320" y="1371600"/>
            <a:ext cx="3474720" cy="320040"/>
          </a:xfrm>
          <a:prstGeom prst="rect">
            <a:avLst/>
          </a:prstGeom>
          <a:noFill/>
          <a:ln/>
        </p:spPr>
        <p:txBody>
          <a:bodyPr wrap="square" lIns="0" tIns="0" rIns="0" bIns="0" rtlCol="0" anchor="ctr"/>
          <a:lstStyle/>
          <a:p>
            <a:pPr indent="0" marL="0">
              <a:buNone/>
            </a:pPr>
            <a:r>
              <a:rPr lang="en-US" sz="1600" b="1" dirty="0">
                <a:solidFill>
                  <a:srgbClr val="1F2937"/>
                </a:solidFill>
                <a:latin typeface="Arial" pitchFamily="34" charset="0"/>
                <a:ea typeface="Arial" pitchFamily="34" charset="-122"/>
                <a:cs typeface="Arial" pitchFamily="34" charset="-120"/>
              </a:rPr>
              <a:t>Weekend Brunchers</a:t>
            </a:r>
            <a:endParaRPr lang="en-US" sz="1600" dirty="0"/>
          </a:p>
        </p:txBody>
      </p:sp>
      <p:sp>
        <p:nvSpPr>
          <p:cNvPr id="14" name="Text 12"/>
          <p:cNvSpPr/>
          <p:nvPr/>
        </p:nvSpPr>
        <p:spPr>
          <a:xfrm>
            <a:off x="4846320" y="1737360"/>
            <a:ext cx="3474720" cy="548640"/>
          </a:xfrm>
          <a:prstGeom prst="rect">
            <a:avLst/>
          </a:prstGeom>
          <a:noFill/>
          <a:ln/>
        </p:spPr>
        <p:txBody>
          <a:bodyPr wrap="square" lIns="0" tIns="0" rIns="0" bIns="0" rtlCol="0" anchor="ctr"/>
          <a:lstStyle/>
          <a:p>
            <a:pPr indent="0" marL="0">
              <a:buNone/>
            </a:pPr>
            <a:r>
              <a:rPr lang="en-US" sz="1100" dirty="0">
                <a:solidFill>
                  <a:srgbClr val="374151"/>
                </a:solidFill>
                <a:latin typeface="Consolas" pitchFamily="34" charset="0"/>
                <a:ea typeface="Consolas" pitchFamily="34" charset="-122"/>
                <a:cs typeface="Consolas" pitchFamily="34" charset="-120"/>
              </a:rPr>
              <a:t>freq ~ 45   •  weekend_share &gt; 45%  •  bigger ticket</a:t>
            </a:r>
            <a:endParaRPr lang="en-US" sz="1100" dirty="0"/>
          </a:p>
        </p:txBody>
      </p:sp>
      <p:sp>
        <p:nvSpPr>
          <p:cNvPr id="15" name="Shape 13"/>
          <p:cNvSpPr/>
          <p:nvPr/>
        </p:nvSpPr>
        <p:spPr>
          <a:xfrm>
            <a:off x="640080" y="2606040"/>
            <a:ext cx="3749040" cy="1143000"/>
          </a:xfrm>
          <a:prstGeom prst="rect">
            <a:avLst/>
          </a:prstGeom>
          <a:solidFill>
            <a:srgbClr val="F3F4F6"/>
          </a:solidFill>
          <a:ln w="6350">
            <a:solidFill>
              <a:srgbClr val="D1D5DB"/>
            </a:solidFill>
            <a:prstDash val="solid"/>
          </a:ln>
        </p:spPr>
      </p:sp>
      <p:sp>
        <p:nvSpPr>
          <p:cNvPr id="16" name="Shape 14"/>
          <p:cNvSpPr/>
          <p:nvPr/>
        </p:nvSpPr>
        <p:spPr>
          <a:xfrm>
            <a:off x="640080" y="2606040"/>
            <a:ext cx="73152" cy="1143000"/>
          </a:xfrm>
          <a:prstGeom prst="rect">
            <a:avLst/>
          </a:prstGeom>
          <a:solidFill>
            <a:srgbClr val="6D28D9"/>
          </a:solidFill>
          <a:ln/>
        </p:spPr>
      </p:sp>
      <p:sp>
        <p:nvSpPr>
          <p:cNvPr id="17" name="Text 15"/>
          <p:cNvSpPr/>
          <p:nvPr/>
        </p:nvSpPr>
        <p:spPr>
          <a:xfrm>
            <a:off x="822960" y="2697480"/>
            <a:ext cx="3474720" cy="320040"/>
          </a:xfrm>
          <a:prstGeom prst="rect">
            <a:avLst/>
          </a:prstGeom>
          <a:noFill/>
          <a:ln/>
        </p:spPr>
        <p:txBody>
          <a:bodyPr wrap="square" lIns="0" tIns="0" rIns="0" bIns="0" rtlCol="0" anchor="ctr"/>
          <a:lstStyle/>
          <a:p>
            <a:pPr indent="0" marL="0">
              <a:buNone/>
            </a:pPr>
            <a:r>
              <a:rPr lang="en-US" sz="1600" b="1" dirty="0">
                <a:solidFill>
                  <a:srgbClr val="1F2937"/>
                </a:solidFill>
                <a:latin typeface="Arial" pitchFamily="34" charset="0"/>
                <a:ea typeface="Arial" pitchFamily="34" charset="-122"/>
                <a:cs typeface="Arial" pitchFamily="34" charset="-120"/>
              </a:rPr>
              <a:t>App Promo Hunters</a:t>
            </a:r>
            <a:endParaRPr lang="en-US" sz="1600" dirty="0"/>
          </a:p>
        </p:txBody>
      </p:sp>
      <p:sp>
        <p:nvSpPr>
          <p:cNvPr id="18" name="Text 16"/>
          <p:cNvSpPr/>
          <p:nvPr/>
        </p:nvSpPr>
        <p:spPr>
          <a:xfrm>
            <a:off x="822960" y="3063240"/>
            <a:ext cx="3474720" cy="548640"/>
          </a:xfrm>
          <a:prstGeom prst="rect">
            <a:avLst/>
          </a:prstGeom>
          <a:noFill/>
          <a:ln/>
        </p:spPr>
        <p:txBody>
          <a:bodyPr wrap="square" lIns="0" tIns="0" rIns="0" bIns="0" rtlCol="0" anchor="ctr"/>
          <a:lstStyle/>
          <a:p>
            <a:pPr indent="0" marL="0">
              <a:buNone/>
            </a:pPr>
            <a:r>
              <a:rPr lang="en-US" sz="1100" dirty="0">
                <a:solidFill>
                  <a:srgbClr val="374151"/>
                </a:solidFill>
                <a:latin typeface="Consolas" pitchFamily="34" charset="0"/>
                <a:ea typeface="Consolas" pitchFamily="34" charset="-122"/>
                <a:cs typeface="Consolas" pitchFamily="34" charset="-120"/>
              </a:rPr>
              <a:t>freq ~ 59   •  app_share &gt; 50%  •  promo_share elevated</a:t>
            </a:r>
            <a:endParaRPr lang="en-US" sz="1100" dirty="0"/>
          </a:p>
        </p:txBody>
      </p:sp>
      <p:sp>
        <p:nvSpPr>
          <p:cNvPr id="19" name="Shape 17"/>
          <p:cNvSpPr/>
          <p:nvPr/>
        </p:nvSpPr>
        <p:spPr>
          <a:xfrm>
            <a:off x="4663440" y="2606040"/>
            <a:ext cx="3749040" cy="1143000"/>
          </a:xfrm>
          <a:prstGeom prst="rect">
            <a:avLst/>
          </a:prstGeom>
          <a:solidFill>
            <a:srgbClr val="F3F4F6"/>
          </a:solidFill>
          <a:ln w="6350">
            <a:solidFill>
              <a:srgbClr val="D1D5DB"/>
            </a:solidFill>
            <a:prstDash val="solid"/>
          </a:ln>
        </p:spPr>
      </p:sp>
      <p:sp>
        <p:nvSpPr>
          <p:cNvPr id="20" name="Shape 18"/>
          <p:cNvSpPr/>
          <p:nvPr/>
        </p:nvSpPr>
        <p:spPr>
          <a:xfrm>
            <a:off x="4663440" y="2606040"/>
            <a:ext cx="73152" cy="1143000"/>
          </a:xfrm>
          <a:prstGeom prst="rect">
            <a:avLst/>
          </a:prstGeom>
          <a:solidFill>
            <a:srgbClr val="DC2626"/>
          </a:solidFill>
          <a:ln/>
        </p:spPr>
      </p:sp>
      <p:sp>
        <p:nvSpPr>
          <p:cNvPr id="21" name="Text 19"/>
          <p:cNvSpPr/>
          <p:nvPr/>
        </p:nvSpPr>
        <p:spPr>
          <a:xfrm>
            <a:off x="4846320" y="2697480"/>
            <a:ext cx="3474720" cy="320040"/>
          </a:xfrm>
          <a:prstGeom prst="rect">
            <a:avLst/>
          </a:prstGeom>
          <a:noFill/>
          <a:ln/>
        </p:spPr>
        <p:txBody>
          <a:bodyPr wrap="square" lIns="0" tIns="0" rIns="0" bIns="0" rtlCol="0" anchor="ctr"/>
          <a:lstStyle/>
          <a:p>
            <a:pPr indent="0" marL="0">
              <a:buNone/>
            </a:pPr>
            <a:r>
              <a:rPr lang="en-US" sz="1600" b="1" dirty="0">
                <a:solidFill>
                  <a:srgbClr val="1F2937"/>
                </a:solidFill>
                <a:latin typeface="Arial" pitchFamily="34" charset="0"/>
                <a:ea typeface="Arial" pitchFamily="34" charset="-122"/>
                <a:cs typeface="Arial" pitchFamily="34" charset="-120"/>
              </a:rPr>
              <a:t>Casual Drifters</a:t>
            </a:r>
            <a:endParaRPr lang="en-US" sz="1600" dirty="0"/>
          </a:p>
        </p:txBody>
      </p:sp>
      <p:sp>
        <p:nvSpPr>
          <p:cNvPr id="22" name="Text 20"/>
          <p:cNvSpPr/>
          <p:nvPr/>
        </p:nvSpPr>
        <p:spPr>
          <a:xfrm>
            <a:off x="4846320" y="3063240"/>
            <a:ext cx="3474720" cy="548640"/>
          </a:xfrm>
          <a:prstGeom prst="rect">
            <a:avLst/>
          </a:prstGeom>
          <a:noFill/>
          <a:ln/>
        </p:spPr>
        <p:txBody>
          <a:bodyPr wrap="square" lIns="0" tIns="0" rIns="0" bIns="0" rtlCol="0" anchor="ctr"/>
          <a:lstStyle/>
          <a:p>
            <a:pPr indent="0" marL="0">
              <a:buNone/>
            </a:pPr>
            <a:r>
              <a:rPr lang="en-US" sz="1100" dirty="0">
                <a:solidFill>
                  <a:srgbClr val="374151"/>
                </a:solidFill>
                <a:latin typeface="Consolas" pitchFamily="34" charset="0"/>
                <a:ea typeface="Consolas" pitchFamily="34" charset="-122"/>
                <a:cs typeface="Consolas" pitchFamily="34" charset="-120"/>
              </a:rPr>
              <a:t>freq ~ 16   •  recency ~ 66d  •  ~half lapse out</a:t>
            </a:r>
            <a:endParaRPr lang="en-US" sz="1100" dirty="0"/>
          </a:p>
        </p:txBody>
      </p:sp>
      <p:sp>
        <p:nvSpPr>
          <p:cNvPr id="23" name="Shape 21"/>
          <p:cNvSpPr/>
          <p:nvPr/>
        </p:nvSpPr>
        <p:spPr>
          <a:xfrm>
            <a:off x="640080" y="4023360"/>
            <a:ext cx="7863840" cy="502920"/>
          </a:xfrm>
          <a:prstGeom prst="rect">
            <a:avLst/>
          </a:prstGeom>
          <a:solidFill>
            <a:srgbClr val="E0F7FA"/>
          </a:solidFill>
          <a:ln w="12700">
            <a:solidFill>
              <a:srgbClr val="0891B2"/>
            </a:solidFill>
            <a:prstDash val="solid"/>
          </a:ln>
        </p:spPr>
      </p:sp>
      <p:sp>
        <p:nvSpPr>
          <p:cNvPr id="24" name="Text 22"/>
          <p:cNvSpPr/>
          <p:nvPr/>
        </p:nvSpPr>
        <p:spPr>
          <a:xfrm>
            <a:off x="822960" y="4114800"/>
            <a:ext cx="7498080" cy="320040"/>
          </a:xfrm>
          <a:prstGeom prst="rect">
            <a:avLst/>
          </a:prstGeom>
          <a:noFill/>
          <a:ln/>
        </p:spPr>
        <p:txBody>
          <a:bodyPr wrap="square" lIns="0" tIns="0" rIns="0" bIns="0" rtlCol="0" anchor="ctr"/>
          <a:lstStyle/>
          <a:p>
            <a:pPr indent="0" marL="0">
              <a:buNone/>
            </a:pPr>
            <a:r>
              <a:rPr lang="en-US" sz="1200" i="1" dirty="0">
                <a:solidFill>
                  <a:srgbClr val="1F2937"/>
                </a:solidFill>
                <a:latin typeface="Arial" pitchFamily="34" charset="0"/>
                <a:ea typeface="Arial" pitchFamily="34" charset="-122"/>
                <a:cs typeface="Arial" pitchFamily="34" charset="-120"/>
              </a:rPr>
              <a:t>The cross-tab against the engineered ground-truth labels validates the clusters. In real client work you don't have ground truth — that's why you stress-test cluster stability with multiple k and seeds.</a:t>
            </a:r>
            <a:endParaRPr lang="en-US" sz="12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9144000" cy="45720"/>
          </a:xfrm>
          <a:prstGeom prst="rect">
            <a:avLst/>
          </a:prstGeom>
          <a:solidFill>
            <a:srgbClr val="0891B2"/>
          </a:solidFill>
          <a:ln/>
        </p:spPr>
      </p:sp>
      <p:sp>
        <p:nvSpPr>
          <p:cNvPr id="3" name="Text 1"/>
          <p:cNvSpPr/>
          <p:nvPr/>
        </p:nvSpPr>
        <p:spPr>
          <a:xfrm>
            <a:off x="640080" y="4828032"/>
            <a:ext cx="5486400" cy="228600"/>
          </a:xfrm>
          <a:prstGeom prst="rect">
            <a:avLst/>
          </a:prstGeom>
          <a:noFill/>
          <a:ln/>
        </p:spPr>
        <p:txBody>
          <a:bodyPr wrap="square" lIns="0" tIns="0" rIns="0" bIns="0" rtlCol="0" anchor="ctr"/>
          <a:lstStyle/>
          <a:p>
            <a:pPr indent="0" marL="0">
              <a:buNone/>
            </a:pPr>
            <a:r>
              <a:rPr lang="en-US" sz="900" dirty="0">
                <a:solidFill>
                  <a:srgbClr val="9CA3AF"/>
                </a:solidFill>
                <a:latin typeface="Arial" pitchFamily="34" charset="0"/>
                <a:ea typeface="Arial" pitchFamily="34" charset="-122"/>
                <a:cs typeface="Arial" pitchFamily="34" charset="-120"/>
              </a:rPr>
              <a:t>NIDA  |  MADT6004  |  Module 4 — recommendation</a:t>
            </a:r>
            <a:endParaRPr lang="en-US" sz="900" dirty="0"/>
          </a:p>
        </p:txBody>
      </p:sp>
      <p:sp>
        <p:nvSpPr>
          <p:cNvPr id="4" name="Text 2"/>
          <p:cNvSpPr/>
          <p:nvPr/>
        </p:nvSpPr>
        <p:spPr>
          <a:xfrm>
            <a:off x="7772400" y="4800600"/>
            <a:ext cx="914400" cy="274320"/>
          </a:xfrm>
          <a:prstGeom prst="rect">
            <a:avLst/>
          </a:prstGeom>
          <a:noFill/>
          <a:ln/>
        </p:spPr>
        <p:txBody>
          <a:bodyPr wrap="square" lIns="0" tIns="0" rIns="0" bIns="0" rtlCol="0" anchor="ctr"/>
          <a:lstStyle/>
          <a:p>
            <a:pPr algn="r" indent="0" marL="0">
              <a:buNone/>
            </a:pPr>
            <a:r>
              <a:rPr lang="en-US" sz="1200" b="1" dirty="0">
                <a:solidFill>
                  <a:srgbClr val="0891B2"/>
                </a:solidFill>
                <a:latin typeface="Arial" pitchFamily="34" charset="0"/>
                <a:ea typeface="Arial" pitchFamily="34" charset="-122"/>
                <a:cs typeface="Arial" pitchFamily="34" charset="-120"/>
              </a:rPr>
              <a:t>MADT</a:t>
            </a:r>
            <a:endParaRPr lang="en-US" sz="1200" dirty="0"/>
          </a:p>
        </p:txBody>
      </p:sp>
      <p:sp>
        <p:nvSpPr>
          <p:cNvPr id="5" name="Text 3"/>
          <p:cNvSpPr/>
          <p:nvPr/>
        </p:nvSpPr>
        <p:spPr>
          <a:xfrm>
            <a:off x="640080" y="274320"/>
            <a:ext cx="7863840" cy="502920"/>
          </a:xfrm>
          <a:prstGeom prst="rect">
            <a:avLst/>
          </a:prstGeom>
          <a:noFill/>
          <a:ln/>
        </p:spPr>
        <p:txBody>
          <a:bodyPr wrap="square" lIns="0" tIns="0" rIns="0" bIns="0" rtlCol="0" anchor="ctr"/>
          <a:lstStyle/>
          <a:p>
            <a:pPr indent="0" marL="0">
              <a:buNone/>
            </a:pPr>
            <a:r>
              <a:rPr lang="en-US" sz="2800" b="1" dirty="0">
                <a:solidFill>
                  <a:srgbClr val="1F2937"/>
                </a:solidFill>
                <a:latin typeface="Arial" pitchFamily="34" charset="0"/>
                <a:ea typeface="Arial" pitchFamily="34" charset="-122"/>
                <a:cs typeface="Arial" pitchFamily="34" charset="-120"/>
              </a:rPr>
              <a:t>Item-item recommendation + segment network</a:t>
            </a:r>
            <a:endParaRPr lang="en-US" sz="2800" dirty="0"/>
          </a:p>
        </p:txBody>
      </p:sp>
      <p:sp>
        <p:nvSpPr>
          <p:cNvPr id="6" name="Text 4"/>
          <p:cNvSpPr/>
          <p:nvPr/>
        </p:nvSpPr>
        <p:spPr>
          <a:xfrm>
            <a:off x="640080" y="777240"/>
            <a:ext cx="7863840" cy="274320"/>
          </a:xfrm>
          <a:prstGeom prst="rect">
            <a:avLst/>
          </a:prstGeom>
          <a:noFill/>
          <a:ln/>
        </p:spPr>
        <p:txBody>
          <a:bodyPr wrap="square" lIns="0" tIns="0" rIns="0" bIns="0" rtlCol="0" anchor="ctr"/>
          <a:lstStyle/>
          <a:p>
            <a:pPr indent="0" marL="0">
              <a:buNone/>
            </a:pPr>
            <a:r>
              <a:rPr lang="en-US" sz="1300" i="1" dirty="0">
                <a:solidFill>
                  <a:srgbClr val="6B7280"/>
                </a:solidFill>
                <a:latin typeface="Arial" pitchFamily="34" charset="0"/>
                <a:ea typeface="Arial" pitchFamily="34" charset="-122"/>
                <a:cs typeface="Arial" pitchFamily="34" charset="-120"/>
              </a:rPr>
              <a:t>Co-purchase similarity → segment ↔ top-product graph</a:t>
            </a:r>
            <a:endParaRPr lang="en-US" sz="1300" dirty="0"/>
          </a:p>
        </p:txBody>
      </p:sp>
      <p:sp>
        <p:nvSpPr>
          <p:cNvPr id="7" name="Text 5"/>
          <p:cNvSpPr/>
          <p:nvPr/>
        </p:nvSpPr>
        <p:spPr>
          <a:xfrm>
            <a:off x="640080" y="1280160"/>
            <a:ext cx="3749040" cy="320040"/>
          </a:xfrm>
          <a:prstGeom prst="rect">
            <a:avLst/>
          </a:prstGeom>
          <a:noFill/>
          <a:ln/>
        </p:spPr>
        <p:txBody>
          <a:bodyPr wrap="square" lIns="0" tIns="0" rIns="0" bIns="0" rtlCol="0" anchor="ctr"/>
          <a:lstStyle/>
          <a:p>
            <a:pPr indent="0" marL="0">
              <a:buNone/>
            </a:pPr>
            <a:r>
              <a:rPr lang="en-US" sz="1400" b="1" dirty="0">
                <a:solidFill>
                  <a:srgbClr val="0891B2"/>
                </a:solidFill>
                <a:latin typeface="Arial" pitchFamily="34" charset="0"/>
                <a:ea typeface="Arial" pitchFamily="34" charset="-122"/>
                <a:cs typeface="Arial" pitchFamily="34" charset="-120"/>
              </a:rPr>
              <a:t>Item-item cosine similarity</a:t>
            </a:r>
            <a:endParaRPr lang="en-US" sz="1400" dirty="0"/>
          </a:p>
        </p:txBody>
      </p:sp>
      <p:sp>
        <p:nvSpPr>
          <p:cNvPr id="8" name="Shape 6"/>
          <p:cNvSpPr/>
          <p:nvPr/>
        </p:nvSpPr>
        <p:spPr>
          <a:xfrm>
            <a:off x="640080" y="1645920"/>
            <a:ext cx="3749040" cy="1463040"/>
          </a:xfrm>
          <a:prstGeom prst="rect">
            <a:avLst/>
          </a:prstGeom>
          <a:solidFill>
            <a:srgbClr val="F3F4F6"/>
          </a:solidFill>
          <a:ln w="6350">
            <a:solidFill>
              <a:srgbClr val="D1D5DB"/>
            </a:solidFill>
            <a:prstDash val="solid"/>
          </a:ln>
        </p:spPr>
      </p:sp>
      <p:sp>
        <p:nvSpPr>
          <p:cNvPr id="9" name="Text 7"/>
          <p:cNvSpPr/>
          <p:nvPr/>
        </p:nvSpPr>
        <p:spPr>
          <a:xfrm>
            <a:off x="777240" y="1737360"/>
            <a:ext cx="3474720" cy="1280160"/>
          </a:xfrm>
          <a:prstGeom prst="rect">
            <a:avLst/>
          </a:prstGeom>
          <a:noFill/>
          <a:ln/>
        </p:spPr>
        <p:txBody>
          <a:bodyPr wrap="square" lIns="0" tIns="0" rIns="0" bIns="0" rtlCol="0" anchor="t"/>
          <a:lstStyle/>
          <a:p>
            <a:pPr indent="0" marL="0">
              <a:buNone/>
            </a:pPr>
            <a:r>
              <a:rPr lang="en-US" sz="1000" dirty="0">
                <a:solidFill>
                  <a:srgbClr val="374151"/>
                </a:solidFill>
                <a:latin typeface="Consolas" pitchFamily="34" charset="0"/>
                <a:ea typeface="Consolas" pitchFamily="34" charset="-122"/>
                <a:cs typeface="Consolas" pitchFamily="34" charset="-120"/>
              </a:rPr>
              <a:t>matrix = cp.pivot(</a:t>
            </a:r>
            <a:endParaRPr lang="en-US" sz="1000" dirty="0"/>
          </a:p>
          <a:p>
            <a:pPr indent="0" marL="0">
              <a:buNone/>
            </a:pPr>
            <a:r>
              <a:rPr lang="en-US" sz="1000" dirty="0">
                <a:solidFill>
                  <a:srgbClr val="374151"/>
                </a:solidFill>
                <a:latin typeface="Consolas" pitchFamily="34" charset="0"/>
                <a:ea typeface="Consolas" pitchFamily="34" charset="-122"/>
                <a:cs typeface="Consolas" pitchFamily="34" charset="-120"/>
              </a:rPr>
              <a:t>  index='customer_id',</a:t>
            </a:r>
            <a:endParaRPr lang="en-US" sz="1000" dirty="0"/>
          </a:p>
          <a:p>
            <a:pPr indent="0" marL="0">
              <a:buNone/>
            </a:pPr>
            <a:r>
              <a:rPr lang="en-US" sz="1000" dirty="0">
                <a:solidFill>
                  <a:srgbClr val="374151"/>
                </a:solidFill>
                <a:latin typeface="Consolas" pitchFamily="34" charset="0"/>
                <a:ea typeface="Consolas" pitchFamily="34" charset="-122"/>
                <a:cs typeface="Consolas" pitchFamily="34" charset="-120"/>
              </a:rPr>
              <a:t>  columns='product_id',</a:t>
            </a:r>
            <a:endParaRPr lang="en-US" sz="1000" dirty="0"/>
          </a:p>
          <a:p>
            <a:pPr indent="0" marL="0">
              <a:buNone/>
            </a:pPr>
            <a:r>
              <a:rPr lang="en-US" sz="1000" dirty="0">
                <a:solidFill>
                  <a:srgbClr val="374151"/>
                </a:solidFill>
                <a:latin typeface="Consolas" pitchFamily="34" charset="0"/>
                <a:ea typeface="Consolas" pitchFamily="34" charset="-122"/>
                <a:cs typeface="Consolas" pitchFamily="34" charset="-120"/>
              </a:rPr>
              <a:t>  values='n').fillna(0)</a:t>
            </a:r>
            <a:endParaRPr lang="en-US" sz="1000" dirty="0"/>
          </a:p>
          <a:p>
            <a:pPr indent="0" marL="0">
              <a:buNone/>
            </a:pPr>
            <a:r>
              <a:rPr lang="en-US" sz="1000" dirty="0">
                <a:solidFill>
                  <a:srgbClr val="374151"/>
                </a:solidFill>
                <a:latin typeface="Consolas" pitchFamily="34" charset="0"/>
                <a:ea typeface="Consolas" pitchFamily="34" charset="-122"/>
                <a:cs typeface="Consolas" pitchFamily="34" charset="-120"/>
              </a:rPr>
              <a:t>sim = cosine_similarity(</a:t>
            </a:r>
            <a:endParaRPr lang="en-US" sz="1000" dirty="0"/>
          </a:p>
          <a:p>
            <a:pPr indent="0" marL="0">
              <a:buNone/>
            </a:pPr>
            <a:r>
              <a:rPr lang="en-US" sz="1000" dirty="0">
                <a:solidFill>
                  <a:srgbClr val="374151"/>
                </a:solidFill>
                <a:latin typeface="Consolas" pitchFamily="34" charset="0"/>
                <a:ea typeface="Consolas" pitchFamily="34" charset="-122"/>
                <a:cs typeface="Consolas" pitchFamily="34" charset="-120"/>
              </a:rPr>
              <a:t>  (matrix&gt;0).astype(int).T)</a:t>
            </a:r>
            <a:endParaRPr lang="en-US" sz="1000" dirty="0"/>
          </a:p>
        </p:txBody>
      </p:sp>
      <p:sp>
        <p:nvSpPr>
          <p:cNvPr id="10" name="Text 8"/>
          <p:cNvSpPr/>
          <p:nvPr/>
        </p:nvSpPr>
        <p:spPr>
          <a:xfrm>
            <a:off x="640080" y="3154680"/>
            <a:ext cx="3749040" cy="548640"/>
          </a:xfrm>
          <a:prstGeom prst="rect">
            <a:avLst/>
          </a:prstGeom>
          <a:noFill/>
          <a:ln/>
        </p:spPr>
        <p:txBody>
          <a:bodyPr wrap="square" lIns="0" tIns="0" rIns="0" bIns="0" rtlCol="0" anchor="t"/>
          <a:lstStyle/>
          <a:p>
            <a:pPr indent="0" marL="0">
              <a:buNone/>
            </a:pPr>
            <a:r>
              <a:rPr lang="en-US" sz="1100" i="1" dirty="0">
                <a:solidFill>
                  <a:srgbClr val="374151"/>
                </a:solidFill>
                <a:latin typeface="Arial" pitchFamily="34" charset="0"/>
                <a:ea typeface="Arial" pitchFamily="34" charset="-122"/>
                <a:cs typeface="Arial" pitchFamily="34" charset="-120"/>
              </a:rPr>
              <a:t>→ Latte → top neighbors: Croissant, Espresso, Almond Croissant, Cinnamon Roll, Brownie</a:t>
            </a:r>
            <a:endParaRPr lang="en-US" sz="1100" dirty="0"/>
          </a:p>
        </p:txBody>
      </p:sp>
      <p:sp>
        <p:nvSpPr>
          <p:cNvPr id="11" name="Text 9"/>
          <p:cNvSpPr/>
          <p:nvPr/>
        </p:nvSpPr>
        <p:spPr>
          <a:xfrm>
            <a:off x="4572000" y="1280160"/>
            <a:ext cx="3931920" cy="320040"/>
          </a:xfrm>
          <a:prstGeom prst="rect">
            <a:avLst/>
          </a:prstGeom>
          <a:noFill/>
          <a:ln/>
        </p:spPr>
        <p:txBody>
          <a:bodyPr wrap="square" lIns="0" tIns="0" rIns="0" bIns="0" rtlCol="0" anchor="ctr"/>
          <a:lstStyle/>
          <a:p>
            <a:pPr indent="0" marL="0">
              <a:buNone/>
            </a:pPr>
            <a:r>
              <a:rPr lang="en-US" sz="1400" b="1" dirty="0">
                <a:solidFill>
                  <a:srgbClr val="0891B2"/>
                </a:solidFill>
                <a:latin typeface="Arial" pitchFamily="34" charset="0"/>
                <a:ea typeface="Arial" pitchFamily="34" charset="-122"/>
                <a:cs typeface="Arial" pitchFamily="34" charset="-120"/>
              </a:rPr>
              <a:t>Segment ↔ top product network</a:t>
            </a:r>
            <a:endParaRPr lang="en-US" sz="1400" dirty="0"/>
          </a:p>
        </p:txBody>
      </p:sp>
      <p:sp>
        <p:nvSpPr>
          <p:cNvPr id="12" name="Text 10"/>
          <p:cNvSpPr/>
          <p:nvPr/>
        </p:nvSpPr>
        <p:spPr>
          <a:xfrm>
            <a:off x="4572000" y="1645920"/>
            <a:ext cx="3931920" cy="2286000"/>
          </a:xfrm>
          <a:prstGeom prst="rect">
            <a:avLst/>
          </a:prstGeom>
          <a:noFill/>
          <a:ln/>
        </p:spPr>
        <p:txBody>
          <a:bodyPr wrap="square" lIns="0" tIns="0" rIns="0" bIns="0" rtlCol="0" anchor="t"/>
          <a:lstStyle/>
          <a:p>
            <a:pPr indent="0" marL="0">
              <a:buNone/>
            </a:pPr>
            <a:r>
              <a:rPr lang="en-US" sz="1200" b="1" dirty="0">
                <a:solidFill>
                  <a:srgbClr val="374151"/>
                </a:solidFill>
                <a:latin typeface="Arial" pitchFamily="34" charset="0"/>
                <a:ea typeface="Arial" pitchFamily="34" charset="-122"/>
                <a:cs typeface="Arial" pitchFamily="34" charset="-120"/>
              </a:rPr>
              <a:t>Nodes: </a:t>
            </a:r>
            <a:pPr indent="0" marL="0">
              <a:buNone/>
            </a:pPr>
            <a:r>
              <a:rPr lang="en-US" sz="1200" dirty="0">
                <a:solidFill>
                  <a:srgbClr val="374151"/>
                </a:solidFill>
                <a:latin typeface="Arial" pitchFamily="34" charset="0"/>
                <a:ea typeface="Arial" pitchFamily="34" charset="-122"/>
                <a:cs typeface="Arial" pitchFamily="34" charset="-120"/>
              </a:rPr>
              <a:t>segments (teal) + products (amber)
</a:t>
            </a:r>
            <a:pPr indent="0" marL="0">
              <a:buNone/>
            </a:pPr>
            <a:r>
              <a:rPr lang="en-US" sz="1200" b="1" dirty="0">
                <a:solidFill>
                  <a:srgbClr val="374151"/>
                </a:solidFill>
                <a:latin typeface="Arial" pitchFamily="34" charset="0"/>
                <a:ea typeface="Arial" pitchFamily="34" charset="-122"/>
                <a:cs typeface="Arial" pitchFamily="34" charset="-120"/>
              </a:rPr>
              <a:t>Edges: </a:t>
            </a:r>
            <a:pPr indent="0" marL="0">
              <a:buNone/>
            </a:pPr>
            <a:r>
              <a:rPr lang="en-US" sz="1200" dirty="0">
                <a:solidFill>
                  <a:srgbClr val="374151"/>
                </a:solidFill>
                <a:latin typeface="Arial" pitchFamily="34" charset="0"/>
                <a:ea typeface="Arial" pitchFamily="34" charset="-122"/>
                <a:cs typeface="Arial" pitchFamily="34" charset="-120"/>
              </a:rPr>
              <a:t>weighted by purchase volume per segment
</a:t>
            </a:r>
            <a:pPr indent="0" marL="0">
              <a:buNone/>
            </a:pPr>
            <a:r>
              <a:rPr lang="en-US" sz="1200" b="1" dirty="0">
                <a:solidFill>
                  <a:srgbClr val="374151"/>
                </a:solidFill>
                <a:latin typeface="Arial" pitchFamily="34" charset="0"/>
                <a:ea typeface="Arial" pitchFamily="34" charset="-122"/>
                <a:cs typeface="Arial" pitchFamily="34" charset="-120"/>
              </a:rPr>
              <a:t>Look for: </a:t>
            </a:r>
            <a:pPr indent="0" marL="0">
              <a:buNone/>
            </a:pPr>
            <a:r>
              <a:rPr lang="en-US" sz="1200" dirty="0">
                <a:solidFill>
                  <a:srgbClr val="374151"/>
                </a:solidFill>
                <a:latin typeface="Arial" pitchFamily="34" charset="0"/>
                <a:ea typeface="Arial" pitchFamily="34" charset="-122"/>
                <a:cs typeface="Arial" pitchFamily="34" charset="-120"/>
              </a:rPr>
              <a:t>products that bridge multiple segments — those are your anchor SKUs for cross-segment campaigns.</a:t>
            </a:r>
            <a:endParaRPr lang="en-US" sz="1200" dirty="0"/>
          </a:p>
        </p:txBody>
      </p:sp>
      <p:sp>
        <p:nvSpPr>
          <p:cNvPr id="13" name="Shape 11"/>
          <p:cNvSpPr/>
          <p:nvPr/>
        </p:nvSpPr>
        <p:spPr>
          <a:xfrm>
            <a:off x="640080" y="4023360"/>
            <a:ext cx="7863840" cy="502920"/>
          </a:xfrm>
          <a:prstGeom prst="rect">
            <a:avLst/>
          </a:prstGeom>
          <a:solidFill>
            <a:srgbClr val="E0F7FA"/>
          </a:solidFill>
          <a:ln w="12700">
            <a:solidFill>
              <a:srgbClr val="0891B2"/>
            </a:solidFill>
            <a:prstDash val="solid"/>
          </a:ln>
        </p:spPr>
      </p:sp>
      <p:sp>
        <p:nvSpPr>
          <p:cNvPr id="14" name="Text 12"/>
          <p:cNvSpPr/>
          <p:nvPr/>
        </p:nvSpPr>
        <p:spPr>
          <a:xfrm>
            <a:off x="822960" y="4114800"/>
            <a:ext cx="7498080" cy="320040"/>
          </a:xfrm>
          <a:prstGeom prst="rect">
            <a:avLst/>
          </a:prstGeom>
          <a:noFill/>
          <a:ln/>
        </p:spPr>
        <p:txBody>
          <a:bodyPr wrap="square" lIns="0" tIns="0" rIns="0" bIns="0" rtlCol="0" anchor="ctr"/>
          <a:lstStyle/>
          <a:p>
            <a:pPr indent="0" marL="0">
              <a:buNone/>
            </a:pPr>
            <a:r>
              <a:rPr lang="en-US" sz="1200" i="1" dirty="0">
                <a:solidFill>
                  <a:srgbClr val="1F2937"/>
                </a:solidFill>
                <a:latin typeface="Arial" pitchFamily="34" charset="0"/>
                <a:ea typeface="Arial" pitchFamily="34" charset="-122"/>
                <a:cs typeface="Arial" pitchFamily="34" charset="-120"/>
              </a:rPr>
              <a:t>The graph is not just a pretty picture. Bridge products are operationally important — they're what you put on the loyalty home screen for everyone.</a:t>
            </a:r>
            <a:endParaRPr lang="en-US" sz="12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1F2937"/>
        </a:solidFill>
      </p:bgPr>
    </p:bg>
    <p:spTree>
      <p:nvGrpSpPr>
        <p:cNvPr id="1" name=""/>
        <p:cNvGrpSpPr/>
        <p:nvPr/>
      </p:nvGrpSpPr>
      <p:grpSpPr>
        <a:xfrm>
          <a:off x="0" y="0"/>
          <a:ext cx="0" cy="0"/>
          <a:chOff x="0" y="0"/>
          <a:chExt cx="0" cy="0"/>
        </a:xfrm>
      </p:grpSpPr>
      <p:sp>
        <p:nvSpPr>
          <p:cNvPr id="2" name="Shape 0"/>
          <p:cNvSpPr/>
          <p:nvPr/>
        </p:nvSpPr>
        <p:spPr>
          <a:xfrm>
            <a:off x="0" y="0"/>
            <a:ext cx="9144000" cy="45720"/>
          </a:xfrm>
          <a:prstGeom prst="rect">
            <a:avLst/>
          </a:prstGeom>
          <a:solidFill>
            <a:srgbClr val="0891B2"/>
          </a:solidFill>
          <a:ln/>
        </p:spPr>
      </p:sp>
      <p:sp>
        <p:nvSpPr>
          <p:cNvPr id="3" name="Text 1"/>
          <p:cNvSpPr/>
          <p:nvPr/>
        </p:nvSpPr>
        <p:spPr>
          <a:xfrm>
            <a:off x="640080" y="1188720"/>
            <a:ext cx="2286000" cy="1280160"/>
          </a:xfrm>
          <a:prstGeom prst="rect">
            <a:avLst/>
          </a:prstGeom>
          <a:noFill/>
          <a:ln/>
        </p:spPr>
        <p:txBody>
          <a:bodyPr wrap="square" lIns="0" tIns="0" rIns="0" bIns="0" rtlCol="0" anchor="ctr"/>
          <a:lstStyle/>
          <a:p>
            <a:pPr indent="0" marL="0">
              <a:buNone/>
            </a:pPr>
            <a:r>
              <a:rPr lang="en-US" sz="8000" b="1" dirty="0">
                <a:solidFill>
                  <a:srgbClr val="0891B2"/>
                </a:solidFill>
                <a:latin typeface="Arial" pitchFamily="34" charset="0"/>
                <a:ea typeface="Arial" pitchFamily="34" charset="-122"/>
                <a:cs typeface="Arial" pitchFamily="34" charset="-120"/>
              </a:rPr>
              <a:t>05</a:t>
            </a:r>
            <a:endParaRPr lang="en-US" sz="8000" dirty="0"/>
          </a:p>
        </p:txBody>
      </p:sp>
      <p:sp>
        <p:nvSpPr>
          <p:cNvPr id="4" name="Shape 2"/>
          <p:cNvSpPr/>
          <p:nvPr/>
        </p:nvSpPr>
        <p:spPr>
          <a:xfrm>
            <a:off x="640080" y="2606040"/>
            <a:ext cx="3200400" cy="0"/>
          </a:xfrm>
          <a:prstGeom prst="line">
            <a:avLst/>
          </a:prstGeom>
          <a:noFill/>
          <a:ln w="31750">
            <a:solidFill>
              <a:srgbClr val="0891B2"/>
            </a:solidFill>
            <a:prstDash val="solid"/>
          </a:ln>
        </p:spPr>
      </p:sp>
      <p:sp>
        <p:nvSpPr>
          <p:cNvPr id="5" name="Text 3"/>
          <p:cNvSpPr/>
          <p:nvPr/>
        </p:nvSpPr>
        <p:spPr>
          <a:xfrm>
            <a:off x="640080" y="2788920"/>
            <a:ext cx="7863840" cy="640080"/>
          </a:xfrm>
          <a:prstGeom prst="rect">
            <a:avLst/>
          </a:prstGeom>
          <a:noFill/>
          <a:ln/>
        </p:spPr>
        <p:txBody>
          <a:bodyPr wrap="square" lIns="0" tIns="0" rIns="0" bIns="0" rtlCol="0" anchor="ctr"/>
          <a:lstStyle/>
          <a:p>
            <a:pPr indent="0" marL="0">
              <a:buNone/>
            </a:pPr>
            <a:r>
              <a:rPr lang="en-US" sz="3600" b="1" dirty="0">
                <a:solidFill>
                  <a:srgbClr val="FFFFFF"/>
                </a:solidFill>
                <a:latin typeface="Arial" pitchFamily="34" charset="0"/>
                <a:ea typeface="Arial" pitchFamily="34" charset="-122"/>
                <a:cs typeface="Arial" pitchFamily="34" charset="-120"/>
              </a:rPr>
              <a:t>Listen</a:t>
            </a:r>
            <a:endParaRPr lang="en-US" sz="3600" dirty="0"/>
          </a:p>
        </p:txBody>
      </p:sp>
      <p:sp>
        <p:nvSpPr>
          <p:cNvPr id="6" name="Text 4"/>
          <p:cNvSpPr/>
          <p:nvPr/>
        </p:nvSpPr>
        <p:spPr>
          <a:xfrm>
            <a:off x="640080" y="3520440"/>
            <a:ext cx="7863840" cy="457200"/>
          </a:xfrm>
          <a:prstGeom prst="rect">
            <a:avLst/>
          </a:prstGeom>
          <a:noFill/>
          <a:ln/>
        </p:spPr>
        <p:txBody>
          <a:bodyPr wrap="square" lIns="0" tIns="0" rIns="0" bIns="0" rtlCol="0" anchor="ctr"/>
          <a:lstStyle/>
          <a:p>
            <a:pPr indent="0" marL="0">
              <a:buNone/>
            </a:pPr>
            <a:r>
              <a:rPr lang="en-US" sz="1600" i="1" dirty="0">
                <a:solidFill>
                  <a:srgbClr val="9CA3AF"/>
                </a:solidFill>
                <a:latin typeface="Arial" pitchFamily="34" charset="0"/>
                <a:ea typeface="Arial" pitchFamily="34" charset="-122"/>
                <a:cs typeface="Arial" pitchFamily="34" charset="-120"/>
              </a:rPr>
              <a:t>What are customers actually saying?</a:t>
            </a:r>
            <a:endParaRPr lang="en-US" sz="1600" dirty="0"/>
          </a:p>
        </p:txBody>
      </p:sp>
      <p:sp>
        <p:nvSpPr>
          <p:cNvPr id="7" name="Text 5"/>
          <p:cNvSpPr/>
          <p:nvPr/>
        </p:nvSpPr>
        <p:spPr>
          <a:xfrm>
            <a:off x="7680960" y="228600"/>
            <a:ext cx="1097280" cy="365760"/>
          </a:xfrm>
          <a:prstGeom prst="rect">
            <a:avLst/>
          </a:prstGeom>
          <a:noFill/>
          <a:ln/>
        </p:spPr>
        <p:txBody>
          <a:bodyPr wrap="square" rtlCol="0" anchor="ctr"/>
          <a:lstStyle/>
          <a:p>
            <a:pPr algn="r" indent="0" marL="0">
              <a:buNone/>
            </a:pPr>
            <a:r>
              <a:rPr lang="en-US" sz="1300" b="1" dirty="0">
                <a:solidFill>
                  <a:srgbClr val="0891B2"/>
                </a:solidFill>
                <a:latin typeface="Arial" pitchFamily="34" charset="0"/>
                <a:ea typeface="Arial" pitchFamily="34" charset="-122"/>
                <a:cs typeface="Arial" pitchFamily="34" charset="-120"/>
              </a:rPr>
              <a:t>MADT</a:t>
            </a:r>
            <a:endParaRPr lang="en-US" sz="13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9144000" cy="45720"/>
          </a:xfrm>
          <a:prstGeom prst="rect">
            <a:avLst/>
          </a:prstGeom>
          <a:solidFill>
            <a:srgbClr val="0891B2"/>
          </a:solidFill>
          <a:ln/>
        </p:spPr>
      </p:sp>
      <p:sp>
        <p:nvSpPr>
          <p:cNvPr id="3" name="Text 1"/>
          <p:cNvSpPr/>
          <p:nvPr/>
        </p:nvSpPr>
        <p:spPr>
          <a:xfrm>
            <a:off x="640080" y="4828032"/>
            <a:ext cx="5486400" cy="228600"/>
          </a:xfrm>
          <a:prstGeom prst="rect">
            <a:avLst/>
          </a:prstGeom>
          <a:noFill/>
          <a:ln/>
        </p:spPr>
        <p:txBody>
          <a:bodyPr wrap="square" lIns="0" tIns="0" rIns="0" bIns="0" rtlCol="0" anchor="ctr"/>
          <a:lstStyle/>
          <a:p>
            <a:pPr indent="0" marL="0">
              <a:buNone/>
            </a:pPr>
            <a:r>
              <a:rPr lang="en-US" sz="900" dirty="0">
                <a:solidFill>
                  <a:srgbClr val="9CA3AF"/>
                </a:solidFill>
                <a:latin typeface="Arial" pitchFamily="34" charset="0"/>
                <a:ea typeface="Arial" pitchFamily="34" charset="-122"/>
                <a:cs typeface="Arial" pitchFamily="34" charset="-120"/>
              </a:rPr>
              <a:t>NIDA  |  MADT6004  |  Module 5 — PyThaiNLP</a:t>
            </a:r>
            <a:endParaRPr lang="en-US" sz="900" dirty="0"/>
          </a:p>
        </p:txBody>
      </p:sp>
      <p:sp>
        <p:nvSpPr>
          <p:cNvPr id="4" name="Text 2"/>
          <p:cNvSpPr/>
          <p:nvPr/>
        </p:nvSpPr>
        <p:spPr>
          <a:xfrm>
            <a:off x="7772400" y="4800600"/>
            <a:ext cx="914400" cy="274320"/>
          </a:xfrm>
          <a:prstGeom prst="rect">
            <a:avLst/>
          </a:prstGeom>
          <a:noFill/>
          <a:ln/>
        </p:spPr>
        <p:txBody>
          <a:bodyPr wrap="square" lIns="0" tIns="0" rIns="0" bIns="0" rtlCol="0" anchor="ctr"/>
          <a:lstStyle/>
          <a:p>
            <a:pPr algn="r" indent="0" marL="0">
              <a:buNone/>
            </a:pPr>
            <a:r>
              <a:rPr lang="en-US" sz="1200" b="1" dirty="0">
                <a:solidFill>
                  <a:srgbClr val="0891B2"/>
                </a:solidFill>
                <a:latin typeface="Arial" pitchFamily="34" charset="0"/>
                <a:ea typeface="Arial" pitchFamily="34" charset="-122"/>
                <a:cs typeface="Arial" pitchFamily="34" charset="-120"/>
              </a:rPr>
              <a:t>MADT</a:t>
            </a:r>
            <a:endParaRPr lang="en-US" sz="1200" dirty="0"/>
          </a:p>
        </p:txBody>
      </p:sp>
      <p:sp>
        <p:nvSpPr>
          <p:cNvPr id="5" name="Text 3"/>
          <p:cNvSpPr/>
          <p:nvPr/>
        </p:nvSpPr>
        <p:spPr>
          <a:xfrm>
            <a:off x="640080" y="274320"/>
            <a:ext cx="7863840" cy="502920"/>
          </a:xfrm>
          <a:prstGeom prst="rect">
            <a:avLst/>
          </a:prstGeom>
          <a:noFill/>
          <a:ln/>
        </p:spPr>
        <p:txBody>
          <a:bodyPr wrap="square" lIns="0" tIns="0" rIns="0" bIns="0" rtlCol="0" anchor="ctr"/>
          <a:lstStyle/>
          <a:p>
            <a:pPr indent="0" marL="0">
              <a:buNone/>
            </a:pPr>
            <a:r>
              <a:rPr lang="en-US" sz="2800" b="1" dirty="0">
                <a:solidFill>
                  <a:srgbClr val="1F2937"/>
                </a:solidFill>
                <a:latin typeface="Arial" pitchFamily="34" charset="0"/>
                <a:ea typeface="Arial" pitchFamily="34" charset="-122"/>
                <a:cs typeface="Arial" pitchFamily="34" charset="-120"/>
              </a:rPr>
              <a:t>Tokenize Thai. Clean. POS-tag.</a:t>
            </a:r>
            <a:endParaRPr lang="en-US" sz="2800" dirty="0"/>
          </a:p>
        </p:txBody>
      </p:sp>
      <p:sp>
        <p:nvSpPr>
          <p:cNvPr id="6" name="Text 4"/>
          <p:cNvSpPr/>
          <p:nvPr/>
        </p:nvSpPr>
        <p:spPr>
          <a:xfrm>
            <a:off x="640080" y="777240"/>
            <a:ext cx="7863840" cy="274320"/>
          </a:xfrm>
          <a:prstGeom prst="rect">
            <a:avLst/>
          </a:prstGeom>
          <a:noFill/>
          <a:ln/>
        </p:spPr>
        <p:txBody>
          <a:bodyPr wrap="square" lIns="0" tIns="0" rIns="0" bIns="0" rtlCol="0" anchor="ctr"/>
          <a:lstStyle/>
          <a:p>
            <a:pPr indent="0" marL="0">
              <a:buNone/>
            </a:pPr>
            <a:r>
              <a:rPr lang="en-US" sz="1300" i="1" dirty="0">
                <a:solidFill>
                  <a:srgbClr val="6B7280"/>
                </a:solidFill>
                <a:latin typeface="Arial" pitchFamily="34" charset="0"/>
                <a:ea typeface="Arial" pitchFamily="34" charset="-122"/>
                <a:cs typeface="Arial" pitchFamily="34" charset="-120"/>
              </a:rPr>
              <a:t>PyThaiNLP gets you 80% of the way for Thai text analytics.</a:t>
            </a:r>
            <a:endParaRPr lang="en-US" sz="1300" dirty="0"/>
          </a:p>
        </p:txBody>
      </p:sp>
      <p:sp>
        <p:nvSpPr>
          <p:cNvPr id="7" name="Shape 5"/>
          <p:cNvSpPr/>
          <p:nvPr/>
        </p:nvSpPr>
        <p:spPr>
          <a:xfrm>
            <a:off x="640080" y="1280160"/>
            <a:ext cx="7863840" cy="2194560"/>
          </a:xfrm>
          <a:prstGeom prst="rect">
            <a:avLst/>
          </a:prstGeom>
          <a:solidFill>
            <a:srgbClr val="F3F4F6"/>
          </a:solidFill>
          <a:ln w="6350">
            <a:solidFill>
              <a:srgbClr val="D1D5DB"/>
            </a:solidFill>
            <a:prstDash val="solid"/>
          </a:ln>
        </p:spPr>
      </p:sp>
      <p:sp>
        <p:nvSpPr>
          <p:cNvPr id="8" name="Text 6"/>
          <p:cNvSpPr/>
          <p:nvPr/>
        </p:nvSpPr>
        <p:spPr>
          <a:xfrm>
            <a:off x="777240" y="1371600"/>
            <a:ext cx="7589520" cy="2011680"/>
          </a:xfrm>
          <a:prstGeom prst="rect">
            <a:avLst/>
          </a:prstGeom>
          <a:noFill/>
          <a:ln/>
        </p:spPr>
        <p:txBody>
          <a:bodyPr wrap="square" lIns="0" tIns="0" rIns="0" bIns="0" rtlCol="0" anchor="t"/>
          <a:lstStyle/>
          <a:p>
            <a:pPr indent="0" marL="0">
              <a:buNone/>
            </a:pPr>
            <a:r>
              <a:rPr lang="en-US" sz="1100" dirty="0">
                <a:solidFill>
                  <a:srgbClr val="374151"/>
                </a:solidFill>
                <a:latin typeface="Consolas" pitchFamily="34" charset="0"/>
                <a:ea typeface="Consolas" pitchFamily="34" charset="-122"/>
                <a:cs typeface="Consolas" pitchFamily="34" charset="-120"/>
              </a:rPr>
              <a:t>from pythainlp.tokenize import word_tokenize</a:t>
            </a:r>
            <a:endParaRPr lang="en-US" sz="1100" dirty="0"/>
          </a:p>
          <a:p>
            <a:pPr indent="0" marL="0">
              <a:buNone/>
            </a:pPr>
            <a:r>
              <a:rPr lang="en-US" sz="1100" dirty="0">
                <a:solidFill>
                  <a:srgbClr val="374151"/>
                </a:solidFill>
                <a:latin typeface="Consolas" pitchFamily="34" charset="0"/>
                <a:ea typeface="Consolas" pitchFamily="34" charset="-122"/>
                <a:cs typeface="Consolas" pitchFamily="34" charset="-120"/>
              </a:rPr>
              <a:t>from pythainlp.corpus import thai_stopwords</a:t>
            </a:r>
            <a:endParaRPr lang="en-US" sz="1100" dirty="0"/>
          </a:p>
          <a:p>
            <a:pPr indent="0" marL="0">
              <a:buNone/>
            </a:pPr>
            <a:r>
              <a:rPr lang="en-US" sz="1100" dirty="0">
                <a:solidFill>
                  <a:srgbClr val="374151"/>
                </a:solidFill>
                <a:latin typeface="Consolas" pitchFamily="34" charset="0"/>
                <a:ea typeface="Consolas" pitchFamily="34" charset="-122"/>
                <a:cs typeface="Consolas" pitchFamily="34" charset="-120"/>
              </a:rPr>
              <a:t>from pythainlp.tag import pos_tag</a:t>
            </a:r>
            <a:endParaRPr lang="en-US" sz="1100" dirty="0"/>
          </a:p>
          <a:p>
            <a:pPr indent="0" marL="0">
              <a:buNone/>
            </a:pPr>
            <a:endParaRPr lang="en-US" sz="1100" dirty="0"/>
          </a:p>
          <a:p>
            <a:pPr indent="0" marL="0">
              <a:buNone/>
            </a:pPr>
            <a:r>
              <a:rPr lang="en-US" sz="1100" dirty="0">
                <a:solidFill>
                  <a:srgbClr val="374151"/>
                </a:solidFill>
                <a:latin typeface="Consolas" pitchFamily="34" charset="0"/>
                <a:ea typeface="Consolas" pitchFamily="34" charset="-122"/>
                <a:cs typeface="Consolas" pitchFamily="34" charset="-120"/>
              </a:rPr>
              <a:t>THAI_STOPS = set(thai_stopwords())</a:t>
            </a:r>
            <a:endParaRPr lang="en-US" sz="1100" dirty="0"/>
          </a:p>
          <a:p>
            <a:pPr indent="0" marL="0">
              <a:buNone/>
            </a:pPr>
            <a:endParaRPr lang="en-US" sz="1100" dirty="0"/>
          </a:p>
          <a:p>
            <a:pPr indent="0" marL="0">
              <a:buNone/>
            </a:pPr>
            <a:r>
              <a:rPr lang="en-US" sz="1100" dirty="0">
                <a:solidFill>
                  <a:srgbClr val="374151"/>
                </a:solidFill>
                <a:latin typeface="Consolas" pitchFamily="34" charset="0"/>
                <a:ea typeface="Consolas" pitchFamily="34" charset="-122"/>
                <a:cs typeface="Consolas" pitchFamily="34" charset="-120"/>
              </a:rPr>
              <a:t>def tokenize_thai_en(text):</a:t>
            </a:r>
            <a:endParaRPr lang="en-US" sz="1100" dirty="0"/>
          </a:p>
          <a:p>
            <a:pPr indent="0" marL="0">
              <a:buNone/>
            </a:pPr>
            <a:r>
              <a:rPr lang="en-US" sz="1100" dirty="0">
                <a:solidFill>
                  <a:srgbClr val="374151"/>
                </a:solidFill>
                <a:latin typeface="Consolas" pitchFamily="34" charset="0"/>
                <a:ea typeface="Consolas" pitchFamily="34" charset="-122"/>
                <a:cs typeface="Consolas" pitchFamily="34" charset="-120"/>
              </a:rPr>
              <a:t>    tokens = word_tokenize(text, engine='newmm')</a:t>
            </a:r>
            <a:endParaRPr lang="en-US" sz="1100" dirty="0"/>
          </a:p>
          <a:p>
            <a:pPr indent="0" marL="0">
              <a:buNone/>
            </a:pPr>
            <a:r>
              <a:rPr lang="en-US" sz="1100" dirty="0">
                <a:solidFill>
                  <a:srgbClr val="374151"/>
                </a:solidFill>
                <a:latin typeface="Consolas" pitchFamily="34" charset="0"/>
                <a:ea typeface="Consolas" pitchFamily="34" charset="-122"/>
                <a:cs typeface="Consolas" pitchFamily="34" charset="-120"/>
              </a:rPr>
              <a:t>    return [t for t in tokens if t not in THAI_STOPS</a:t>
            </a:r>
            <a:endParaRPr lang="en-US" sz="1100" dirty="0"/>
          </a:p>
          <a:p>
            <a:pPr indent="0" marL="0">
              <a:buNone/>
            </a:pPr>
            <a:r>
              <a:rPr lang="en-US" sz="1100" dirty="0">
                <a:solidFill>
                  <a:srgbClr val="374151"/>
                </a:solidFill>
                <a:latin typeface="Consolas" pitchFamily="34" charset="0"/>
                <a:ea typeface="Consolas" pitchFamily="34" charset="-122"/>
                <a:cs typeface="Consolas" pitchFamily="34" charset="-120"/>
              </a:rPr>
              <a:t>            and not re.fullmatch(r'[\d\W_]+', t)]</a:t>
            </a:r>
            <a:endParaRPr lang="en-US" sz="1100" dirty="0"/>
          </a:p>
          <a:p>
            <a:pPr indent="0" marL="0">
              <a:buNone/>
            </a:pPr>
            <a:endParaRPr lang="en-US" sz="1100" dirty="0"/>
          </a:p>
          <a:p>
            <a:pPr indent="0" marL="0">
              <a:buNone/>
            </a:pPr>
            <a:r>
              <a:rPr lang="en-US" sz="1100" dirty="0">
                <a:solidFill>
                  <a:srgbClr val="374151"/>
                </a:solidFill>
                <a:latin typeface="Consolas" pitchFamily="34" charset="0"/>
                <a:ea typeface="Consolas" pitchFamily="34" charset="-122"/>
                <a:cs typeface="Consolas" pitchFamily="34" charset="-120"/>
              </a:rPr>
              <a:t># Example: "ร้านดีมาก กาแฟอร่อย พนักงานบริการดี"</a:t>
            </a:r>
            <a:endParaRPr lang="en-US" sz="1100" dirty="0"/>
          </a:p>
          <a:p>
            <a:pPr indent="0" marL="0">
              <a:buNone/>
            </a:pPr>
            <a:r>
              <a:rPr lang="en-US" sz="1100" dirty="0">
                <a:solidFill>
                  <a:srgbClr val="374151"/>
                </a:solidFill>
                <a:latin typeface="Consolas" pitchFamily="34" charset="0"/>
                <a:ea typeface="Consolas" pitchFamily="34" charset="-122"/>
                <a:cs typeface="Consolas" pitchFamily="34" charset="-120"/>
              </a:rPr>
              <a:t># →  ['ร้าน', 'ดีมาก', 'กาแฟ', 'อร่อย', 'พนักงาน', 'บริการ', 'ดี']</a:t>
            </a:r>
            <a:endParaRPr lang="en-US" sz="1100" dirty="0"/>
          </a:p>
        </p:txBody>
      </p:sp>
      <p:sp>
        <p:nvSpPr>
          <p:cNvPr id="9" name="Shape 7"/>
          <p:cNvSpPr/>
          <p:nvPr/>
        </p:nvSpPr>
        <p:spPr>
          <a:xfrm>
            <a:off x="640080" y="3611880"/>
            <a:ext cx="7863840" cy="960120"/>
          </a:xfrm>
          <a:prstGeom prst="rect">
            <a:avLst/>
          </a:prstGeom>
          <a:solidFill>
            <a:srgbClr val="E0F7FA"/>
          </a:solidFill>
          <a:ln w="12700">
            <a:solidFill>
              <a:srgbClr val="0891B2"/>
            </a:solidFill>
            <a:prstDash val="solid"/>
          </a:ln>
        </p:spPr>
      </p:sp>
      <p:sp>
        <p:nvSpPr>
          <p:cNvPr id="10" name="Text 8"/>
          <p:cNvSpPr/>
          <p:nvPr/>
        </p:nvSpPr>
        <p:spPr>
          <a:xfrm>
            <a:off x="822960" y="3703320"/>
            <a:ext cx="7498080" cy="777240"/>
          </a:xfrm>
          <a:prstGeom prst="rect">
            <a:avLst/>
          </a:prstGeom>
          <a:noFill/>
          <a:ln/>
        </p:spPr>
        <p:txBody>
          <a:bodyPr wrap="square" lIns="0" tIns="0" rIns="0" bIns="0" rtlCol="0" anchor="ctr"/>
          <a:lstStyle/>
          <a:p>
            <a:pPr indent="0" marL="0">
              <a:buNone/>
            </a:pPr>
            <a:r>
              <a:rPr lang="en-US" sz="1200" i="1" dirty="0">
                <a:solidFill>
                  <a:srgbClr val="1F2937"/>
                </a:solidFill>
                <a:latin typeface="Arial" pitchFamily="34" charset="0"/>
                <a:ea typeface="Arial" pitchFamily="34" charset="-122"/>
                <a:cs typeface="Arial" pitchFamily="34" charset="-120"/>
              </a:rPr>
              <a:t>Thai has no spaces between words, mixed-script reviews are normal, and English code-switches in mid-sentence ('wifi ช้ามาก'). PyThaiNLP's newmm tokenizer handles this gracefully. NER requires a corpus download — POS-based extraction is the dependable fallback.</a:t>
            </a:r>
            <a:endParaRPr lang="en-US" sz="12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9144000" cy="45720"/>
          </a:xfrm>
          <a:prstGeom prst="rect">
            <a:avLst/>
          </a:prstGeom>
          <a:solidFill>
            <a:srgbClr val="0891B2"/>
          </a:solidFill>
          <a:ln/>
        </p:spPr>
      </p:sp>
      <p:sp>
        <p:nvSpPr>
          <p:cNvPr id="3" name="Text 1"/>
          <p:cNvSpPr/>
          <p:nvPr/>
        </p:nvSpPr>
        <p:spPr>
          <a:xfrm>
            <a:off x="640080" y="4828032"/>
            <a:ext cx="5486400" cy="228600"/>
          </a:xfrm>
          <a:prstGeom prst="rect">
            <a:avLst/>
          </a:prstGeom>
          <a:noFill/>
          <a:ln/>
        </p:spPr>
        <p:txBody>
          <a:bodyPr wrap="square" lIns="0" tIns="0" rIns="0" bIns="0" rtlCol="0" anchor="ctr"/>
          <a:lstStyle/>
          <a:p>
            <a:pPr indent="0" marL="0">
              <a:buNone/>
            </a:pPr>
            <a:r>
              <a:rPr lang="en-US" sz="900" dirty="0">
                <a:solidFill>
                  <a:srgbClr val="9CA3AF"/>
                </a:solidFill>
                <a:latin typeface="Arial" pitchFamily="34" charset="0"/>
                <a:ea typeface="Arial" pitchFamily="34" charset="-122"/>
                <a:cs typeface="Arial" pitchFamily="34" charset="-120"/>
              </a:rPr>
              <a:t>NIDA  |  MADT6004  |  Module 5 — bi-grams</a:t>
            </a:r>
            <a:endParaRPr lang="en-US" sz="900" dirty="0"/>
          </a:p>
        </p:txBody>
      </p:sp>
      <p:sp>
        <p:nvSpPr>
          <p:cNvPr id="4" name="Text 2"/>
          <p:cNvSpPr/>
          <p:nvPr/>
        </p:nvSpPr>
        <p:spPr>
          <a:xfrm>
            <a:off x="7772400" y="4800600"/>
            <a:ext cx="914400" cy="274320"/>
          </a:xfrm>
          <a:prstGeom prst="rect">
            <a:avLst/>
          </a:prstGeom>
          <a:noFill/>
          <a:ln/>
        </p:spPr>
        <p:txBody>
          <a:bodyPr wrap="square" lIns="0" tIns="0" rIns="0" bIns="0" rtlCol="0" anchor="ctr"/>
          <a:lstStyle/>
          <a:p>
            <a:pPr algn="r" indent="0" marL="0">
              <a:buNone/>
            </a:pPr>
            <a:r>
              <a:rPr lang="en-US" sz="1200" b="1" dirty="0">
                <a:solidFill>
                  <a:srgbClr val="0891B2"/>
                </a:solidFill>
                <a:latin typeface="Arial" pitchFamily="34" charset="0"/>
                <a:ea typeface="Arial" pitchFamily="34" charset="-122"/>
                <a:cs typeface="Arial" pitchFamily="34" charset="-120"/>
              </a:rPr>
              <a:t>MADT</a:t>
            </a:r>
            <a:endParaRPr lang="en-US" sz="1200" dirty="0"/>
          </a:p>
        </p:txBody>
      </p:sp>
      <p:sp>
        <p:nvSpPr>
          <p:cNvPr id="5" name="Text 3"/>
          <p:cNvSpPr/>
          <p:nvPr/>
        </p:nvSpPr>
        <p:spPr>
          <a:xfrm>
            <a:off x="640080" y="274320"/>
            <a:ext cx="7863840" cy="502920"/>
          </a:xfrm>
          <a:prstGeom prst="rect">
            <a:avLst/>
          </a:prstGeom>
          <a:noFill/>
          <a:ln/>
        </p:spPr>
        <p:txBody>
          <a:bodyPr wrap="square" lIns="0" tIns="0" rIns="0" bIns="0" rtlCol="0" anchor="ctr"/>
          <a:lstStyle/>
          <a:p>
            <a:pPr indent="0" marL="0">
              <a:buNone/>
            </a:pPr>
            <a:r>
              <a:rPr lang="en-US" sz="2800" b="1" dirty="0">
                <a:solidFill>
                  <a:srgbClr val="1F2937"/>
                </a:solidFill>
                <a:latin typeface="Arial" pitchFamily="34" charset="0"/>
                <a:ea typeface="Arial" pitchFamily="34" charset="-122"/>
                <a:cs typeface="Arial" pitchFamily="34" charset="-120"/>
              </a:rPr>
              <a:t>Bi-gram network</a:t>
            </a:r>
            <a:endParaRPr lang="en-US" sz="2800" dirty="0"/>
          </a:p>
        </p:txBody>
      </p:sp>
      <p:sp>
        <p:nvSpPr>
          <p:cNvPr id="6" name="Text 4"/>
          <p:cNvSpPr/>
          <p:nvPr/>
        </p:nvSpPr>
        <p:spPr>
          <a:xfrm>
            <a:off x="640080" y="777240"/>
            <a:ext cx="7863840" cy="274320"/>
          </a:xfrm>
          <a:prstGeom prst="rect">
            <a:avLst/>
          </a:prstGeom>
          <a:noFill/>
          <a:ln/>
        </p:spPr>
        <p:txBody>
          <a:bodyPr wrap="square" lIns="0" tIns="0" rIns="0" bIns="0" rtlCol="0" anchor="ctr"/>
          <a:lstStyle/>
          <a:p>
            <a:pPr indent="0" marL="0">
              <a:buNone/>
            </a:pPr>
            <a:r>
              <a:rPr lang="en-US" sz="1300" i="1" dirty="0">
                <a:solidFill>
                  <a:srgbClr val="6B7280"/>
                </a:solidFill>
                <a:latin typeface="Arial" pitchFamily="34" charset="0"/>
                <a:ea typeface="Arial" pitchFamily="34" charset="-122"/>
                <a:cs typeface="Arial" pitchFamily="34" charset="-120"/>
              </a:rPr>
              <a:t>What words travel together → the latent topics emerge</a:t>
            </a:r>
            <a:endParaRPr lang="en-US" sz="1300" dirty="0"/>
          </a:p>
        </p:txBody>
      </p:sp>
      <p:sp>
        <p:nvSpPr>
          <p:cNvPr id="7" name="Text 5"/>
          <p:cNvSpPr/>
          <p:nvPr/>
        </p:nvSpPr>
        <p:spPr>
          <a:xfrm>
            <a:off x="640080" y="1280160"/>
            <a:ext cx="7863840" cy="2286000"/>
          </a:xfrm>
          <a:prstGeom prst="rect">
            <a:avLst/>
          </a:prstGeom>
          <a:noFill/>
          <a:ln/>
        </p:spPr>
        <p:txBody>
          <a:bodyPr wrap="square" lIns="0" tIns="0" rIns="0" bIns="0" rtlCol="0" anchor="t"/>
          <a:lstStyle/>
          <a:p>
            <a:pPr indent="0" marL="0">
              <a:buNone/>
            </a:pPr>
            <a:r>
              <a:rPr lang="en-US" sz="1300" b="1" dirty="0">
                <a:solidFill>
                  <a:srgbClr val="0891B2"/>
                </a:solidFill>
                <a:latin typeface="Arial" pitchFamily="34" charset="0"/>
                <a:ea typeface="Arial" pitchFamily="34" charset="-122"/>
                <a:cs typeface="Arial" pitchFamily="34" charset="-120"/>
              </a:rPr>
              <a:t>1.  </a:t>
            </a:r>
            <a:pPr indent="0" marL="0">
              <a:buNone/>
            </a:pPr>
            <a:r>
              <a:rPr lang="en-US" sz="1300" dirty="0">
                <a:solidFill>
                  <a:srgbClr val="374151"/>
                </a:solidFill>
                <a:latin typeface="Arial" pitchFamily="34" charset="0"/>
                <a:ea typeface="Arial" pitchFamily="34" charset="-122"/>
                <a:cs typeface="Arial" pitchFamily="34" charset="-120"/>
              </a:rPr>
              <a:t>Tokenize each review, filter stopwords
</a:t>
            </a:r>
            <a:pPr indent="0" marL="0">
              <a:buNone/>
            </a:pPr>
            <a:r>
              <a:rPr lang="en-US" sz="1300" b="1" dirty="0">
                <a:solidFill>
                  <a:srgbClr val="0891B2"/>
                </a:solidFill>
                <a:latin typeface="Arial" pitchFamily="34" charset="0"/>
                <a:ea typeface="Arial" pitchFamily="34" charset="-122"/>
                <a:cs typeface="Arial" pitchFamily="34" charset="-120"/>
              </a:rPr>
              <a:t>2.  </a:t>
            </a:r>
            <a:pPr indent="0" marL="0">
              <a:buNone/>
            </a:pPr>
            <a:r>
              <a:rPr lang="en-US" sz="1300" dirty="0">
                <a:solidFill>
                  <a:srgbClr val="374151"/>
                </a:solidFill>
                <a:latin typeface="Arial" pitchFamily="34" charset="0"/>
                <a:ea typeface="Arial" pitchFamily="34" charset="-122"/>
                <a:cs typeface="Arial" pitchFamily="34" charset="-120"/>
              </a:rPr>
              <a:t>Build all (word_i, word_i+1) pairs
</a:t>
            </a:r>
            <a:pPr indent="0" marL="0">
              <a:buNone/>
            </a:pPr>
            <a:r>
              <a:rPr lang="en-US" sz="1300" b="1" dirty="0">
                <a:solidFill>
                  <a:srgbClr val="0891B2"/>
                </a:solidFill>
                <a:latin typeface="Arial" pitchFamily="34" charset="0"/>
                <a:ea typeface="Arial" pitchFamily="34" charset="-122"/>
                <a:cs typeface="Arial" pitchFamily="34" charset="-120"/>
              </a:rPr>
              <a:t>3.  </a:t>
            </a:r>
            <a:pPr indent="0" marL="0">
              <a:buNone/>
            </a:pPr>
            <a:r>
              <a:rPr lang="en-US" sz="1300" dirty="0">
                <a:solidFill>
                  <a:srgbClr val="374151"/>
                </a:solidFill>
                <a:latin typeface="Arial" pitchFamily="34" charset="0"/>
                <a:ea typeface="Arial" pitchFamily="34" charset="-122"/>
                <a:cs typeface="Arial" pitchFamily="34" charset="-120"/>
              </a:rPr>
              <a:t>Count across the corpus, keep pairs with count ≥ 8
</a:t>
            </a:r>
            <a:pPr indent="0" marL="0">
              <a:buNone/>
            </a:pPr>
            <a:r>
              <a:rPr lang="en-US" sz="1300" b="1" dirty="0">
                <a:solidFill>
                  <a:srgbClr val="0891B2"/>
                </a:solidFill>
                <a:latin typeface="Arial" pitchFamily="34" charset="0"/>
                <a:ea typeface="Arial" pitchFamily="34" charset="-122"/>
                <a:cs typeface="Arial" pitchFamily="34" charset="-120"/>
              </a:rPr>
              <a:t>4.  </a:t>
            </a:r>
            <a:pPr indent="0" marL="0">
              <a:buNone/>
            </a:pPr>
            <a:r>
              <a:rPr lang="en-US" sz="1300" dirty="0">
                <a:solidFill>
                  <a:srgbClr val="374151"/>
                </a:solidFill>
                <a:latin typeface="Arial" pitchFamily="34" charset="0"/>
                <a:ea typeface="Arial" pitchFamily="34" charset="-122"/>
                <a:cs typeface="Arial" pitchFamily="34" charset="-120"/>
              </a:rPr>
              <a:t>Build NetworkX graph — nodes = words, edges = bi-gram pairs, edge weight = count
</a:t>
            </a:r>
            <a:pPr indent="0" marL="0">
              <a:buNone/>
            </a:pPr>
            <a:r>
              <a:rPr lang="en-US" sz="1300" b="1" dirty="0">
                <a:solidFill>
                  <a:srgbClr val="0891B2"/>
                </a:solidFill>
                <a:latin typeface="Arial" pitchFamily="34" charset="0"/>
                <a:ea typeface="Arial" pitchFamily="34" charset="-122"/>
                <a:cs typeface="Arial" pitchFamily="34" charset="-120"/>
              </a:rPr>
              <a:t>5.  </a:t>
            </a:r>
            <a:pPr indent="0" marL="0">
              <a:buNone/>
            </a:pPr>
            <a:r>
              <a:rPr lang="en-US" sz="1300" dirty="0">
                <a:solidFill>
                  <a:srgbClr val="374151"/>
                </a:solidFill>
                <a:latin typeface="Arial" pitchFamily="34" charset="0"/>
                <a:ea typeface="Arial" pitchFamily="34" charset="-122"/>
                <a:cs typeface="Arial" pitchFamily="34" charset="-120"/>
              </a:rPr>
              <a:t>Force-directed layout (spring) → semantic clusters appear as dense subgraphs
</a:t>
            </a:r>
            <a:endParaRPr lang="en-US" sz="1300" dirty="0"/>
          </a:p>
        </p:txBody>
      </p:sp>
      <p:sp>
        <p:nvSpPr>
          <p:cNvPr id="8" name="Shape 6"/>
          <p:cNvSpPr/>
          <p:nvPr/>
        </p:nvSpPr>
        <p:spPr>
          <a:xfrm>
            <a:off x="640080" y="3657600"/>
            <a:ext cx="7863840" cy="914400"/>
          </a:xfrm>
          <a:prstGeom prst="rect">
            <a:avLst/>
          </a:prstGeom>
          <a:solidFill>
            <a:srgbClr val="E0F7FA"/>
          </a:solidFill>
          <a:ln w="12700">
            <a:solidFill>
              <a:srgbClr val="0891B2"/>
            </a:solidFill>
            <a:prstDash val="solid"/>
          </a:ln>
        </p:spPr>
      </p:sp>
      <p:sp>
        <p:nvSpPr>
          <p:cNvPr id="9" name="Text 7"/>
          <p:cNvSpPr/>
          <p:nvPr/>
        </p:nvSpPr>
        <p:spPr>
          <a:xfrm>
            <a:off x="822960" y="3749040"/>
            <a:ext cx="7498080" cy="731520"/>
          </a:xfrm>
          <a:prstGeom prst="rect">
            <a:avLst/>
          </a:prstGeom>
          <a:noFill/>
          <a:ln/>
        </p:spPr>
        <p:txBody>
          <a:bodyPr wrap="square" lIns="0" tIns="0" rIns="0" bIns="0" rtlCol="0" anchor="ctr"/>
          <a:lstStyle/>
          <a:p>
            <a:pPr indent="0" marL="0">
              <a:buNone/>
            </a:pPr>
            <a:r>
              <a:rPr lang="en-US" sz="1200" i="1" dirty="0">
                <a:solidFill>
                  <a:srgbClr val="1F2937"/>
                </a:solidFill>
                <a:latin typeface="Arial" pitchFamily="34" charset="0"/>
                <a:ea typeface="Arial" pitchFamily="34" charset="-122"/>
                <a:cs typeface="Arial" pitchFamily="34" charset="-120"/>
              </a:rPr>
              <a:t>The bi-gram net is the cheapest topic model. You'll see a 'wait time' cluster (รอ-นาน-คิว-ยาว), a 'taste' cluster (อร่อย-กาแฟ-หอม), and a 'service' cluster (พนักงาน-บริการ-ดี). No model fitting required.</a:t>
            </a:r>
            <a:endParaRPr lang="en-US" sz="12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9144000" cy="45720"/>
          </a:xfrm>
          <a:prstGeom prst="rect">
            <a:avLst/>
          </a:prstGeom>
          <a:solidFill>
            <a:srgbClr val="0891B2"/>
          </a:solidFill>
          <a:ln/>
        </p:spPr>
      </p:sp>
      <p:sp>
        <p:nvSpPr>
          <p:cNvPr id="3" name="Text 1"/>
          <p:cNvSpPr/>
          <p:nvPr/>
        </p:nvSpPr>
        <p:spPr>
          <a:xfrm>
            <a:off x="640080" y="4828032"/>
            <a:ext cx="5486400" cy="228600"/>
          </a:xfrm>
          <a:prstGeom prst="rect">
            <a:avLst/>
          </a:prstGeom>
          <a:noFill/>
          <a:ln/>
        </p:spPr>
        <p:txBody>
          <a:bodyPr wrap="square" lIns="0" tIns="0" rIns="0" bIns="0" rtlCol="0" anchor="ctr"/>
          <a:lstStyle/>
          <a:p>
            <a:pPr indent="0" marL="0">
              <a:buNone/>
            </a:pPr>
            <a:r>
              <a:rPr lang="en-US" sz="900" dirty="0">
                <a:solidFill>
                  <a:srgbClr val="9CA3AF"/>
                </a:solidFill>
                <a:latin typeface="Arial" pitchFamily="34" charset="0"/>
                <a:ea typeface="Arial" pitchFamily="34" charset="-122"/>
                <a:cs typeface="Arial" pitchFamily="34" charset="-120"/>
              </a:rPr>
              <a:t>NIDA  |  MADT6004  |  Module 5 — entities</a:t>
            </a:r>
            <a:endParaRPr lang="en-US" sz="900" dirty="0"/>
          </a:p>
        </p:txBody>
      </p:sp>
      <p:sp>
        <p:nvSpPr>
          <p:cNvPr id="4" name="Text 2"/>
          <p:cNvSpPr/>
          <p:nvPr/>
        </p:nvSpPr>
        <p:spPr>
          <a:xfrm>
            <a:off x="7772400" y="4800600"/>
            <a:ext cx="914400" cy="274320"/>
          </a:xfrm>
          <a:prstGeom prst="rect">
            <a:avLst/>
          </a:prstGeom>
          <a:noFill/>
          <a:ln/>
        </p:spPr>
        <p:txBody>
          <a:bodyPr wrap="square" lIns="0" tIns="0" rIns="0" bIns="0" rtlCol="0" anchor="ctr"/>
          <a:lstStyle/>
          <a:p>
            <a:pPr algn="r" indent="0" marL="0">
              <a:buNone/>
            </a:pPr>
            <a:r>
              <a:rPr lang="en-US" sz="1200" b="1" dirty="0">
                <a:solidFill>
                  <a:srgbClr val="0891B2"/>
                </a:solidFill>
                <a:latin typeface="Arial" pitchFamily="34" charset="0"/>
                <a:ea typeface="Arial" pitchFamily="34" charset="-122"/>
                <a:cs typeface="Arial" pitchFamily="34" charset="-120"/>
              </a:rPr>
              <a:t>MADT</a:t>
            </a:r>
            <a:endParaRPr lang="en-US" sz="1200" dirty="0"/>
          </a:p>
        </p:txBody>
      </p:sp>
      <p:sp>
        <p:nvSpPr>
          <p:cNvPr id="5" name="Text 3"/>
          <p:cNvSpPr/>
          <p:nvPr/>
        </p:nvSpPr>
        <p:spPr>
          <a:xfrm>
            <a:off x="640080" y="274320"/>
            <a:ext cx="7863840" cy="502920"/>
          </a:xfrm>
          <a:prstGeom prst="rect">
            <a:avLst/>
          </a:prstGeom>
          <a:noFill/>
          <a:ln/>
        </p:spPr>
        <p:txBody>
          <a:bodyPr wrap="square" lIns="0" tIns="0" rIns="0" bIns="0" rtlCol="0" anchor="ctr"/>
          <a:lstStyle/>
          <a:p>
            <a:pPr indent="0" marL="0">
              <a:buNone/>
            </a:pPr>
            <a:r>
              <a:rPr lang="en-US" sz="2800" b="1" dirty="0">
                <a:solidFill>
                  <a:srgbClr val="1F2937"/>
                </a:solidFill>
                <a:latin typeface="Arial" pitchFamily="34" charset="0"/>
                <a:ea typeface="Arial" pitchFamily="34" charset="-122"/>
                <a:cs typeface="Arial" pitchFamily="34" charset="-120"/>
              </a:rPr>
              <a:t>Entity ↔ adjective network</a:t>
            </a:r>
            <a:endParaRPr lang="en-US" sz="2800" dirty="0"/>
          </a:p>
        </p:txBody>
      </p:sp>
      <p:sp>
        <p:nvSpPr>
          <p:cNvPr id="6" name="Text 4"/>
          <p:cNvSpPr/>
          <p:nvPr/>
        </p:nvSpPr>
        <p:spPr>
          <a:xfrm>
            <a:off x="640080" y="777240"/>
            <a:ext cx="7863840" cy="274320"/>
          </a:xfrm>
          <a:prstGeom prst="rect">
            <a:avLst/>
          </a:prstGeom>
          <a:noFill/>
          <a:ln/>
        </p:spPr>
        <p:txBody>
          <a:bodyPr wrap="square" lIns="0" tIns="0" rIns="0" bIns="0" rtlCol="0" anchor="ctr"/>
          <a:lstStyle/>
          <a:p>
            <a:pPr indent="0" marL="0">
              <a:buNone/>
            </a:pPr>
            <a:r>
              <a:rPr lang="en-US" sz="1300" i="1" dirty="0">
                <a:solidFill>
                  <a:srgbClr val="6B7280"/>
                </a:solidFill>
                <a:latin typeface="Arial" pitchFamily="34" charset="0"/>
                <a:ea typeface="Arial" pitchFamily="34" charset="-122"/>
                <a:cs typeface="Arial" pitchFamily="34" charset="-120"/>
              </a:rPr>
              <a:t>Nouns are what they talk about. Adjectives are what they call it.</a:t>
            </a:r>
            <a:endParaRPr lang="en-US" sz="1300" dirty="0"/>
          </a:p>
        </p:txBody>
      </p:sp>
      <p:sp>
        <p:nvSpPr>
          <p:cNvPr id="7" name="Text 5"/>
          <p:cNvSpPr/>
          <p:nvPr/>
        </p:nvSpPr>
        <p:spPr>
          <a:xfrm>
            <a:off x="640080" y="1280160"/>
            <a:ext cx="7863840" cy="320040"/>
          </a:xfrm>
          <a:prstGeom prst="rect">
            <a:avLst/>
          </a:prstGeom>
          <a:noFill/>
          <a:ln/>
        </p:spPr>
        <p:txBody>
          <a:bodyPr wrap="square" lIns="0" tIns="0" rIns="0" bIns="0" rtlCol="0" anchor="ctr"/>
          <a:lstStyle/>
          <a:p>
            <a:pPr indent="0" marL="0">
              <a:buNone/>
            </a:pPr>
            <a:r>
              <a:rPr lang="en-US" sz="1400" b="1" dirty="0">
                <a:solidFill>
                  <a:srgbClr val="1F2937"/>
                </a:solidFill>
                <a:latin typeface="Arial" pitchFamily="34" charset="0"/>
                <a:ea typeface="Arial" pitchFamily="34" charset="-122"/>
                <a:cs typeface="Arial" pitchFamily="34" charset="-120"/>
              </a:rPr>
              <a:t>POS tags we use (ORCHID tagset)</a:t>
            </a:r>
            <a:endParaRPr lang="en-US" sz="1400" dirty="0"/>
          </a:p>
        </p:txBody>
      </p:sp>
      <p:sp>
        <p:nvSpPr>
          <p:cNvPr id="8" name="Text 6"/>
          <p:cNvSpPr/>
          <p:nvPr/>
        </p:nvSpPr>
        <p:spPr>
          <a:xfrm>
            <a:off x="640080" y="1691640"/>
            <a:ext cx="2286000" cy="365760"/>
          </a:xfrm>
          <a:prstGeom prst="rect">
            <a:avLst/>
          </a:prstGeom>
          <a:noFill/>
          <a:ln/>
        </p:spPr>
        <p:txBody>
          <a:bodyPr wrap="square" lIns="0" tIns="0" rIns="0" bIns="0" rtlCol="0" anchor="ctr"/>
          <a:lstStyle/>
          <a:p>
            <a:pPr indent="0" marL="0">
              <a:buNone/>
            </a:pPr>
            <a:r>
              <a:rPr lang="en-US" sz="1300" b="1" dirty="0">
                <a:solidFill>
                  <a:srgbClr val="0891B2"/>
                </a:solidFill>
                <a:latin typeface="Consolas" pitchFamily="34" charset="0"/>
                <a:ea typeface="Consolas" pitchFamily="34" charset="-122"/>
                <a:cs typeface="Consolas" pitchFamily="34" charset="-120"/>
              </a:rPr>
              <a:t>NCMN, NPRP, NTTL</a:t>
            </a:r>
            <a:endParaRPr lang="en-US" sz="1300" dirty="0"/>
          </a:p>
        </p:txBody>
      </p:sp>
      <p:sp>
        <p:nvSpPr>
          <p:cNvPr id="9" name="Text 7"/>
          <p:cNvSpPr/>
          <p:nvPr/>
        </p:nvSpPr>
        <p:spPr>
          <a:xfrm>
            <a:off x="3017520" y="1691640"/>
            <a:ext cx="3657600" cy="365760"/>
          </a:xfrm>
          <a:prstGeom prst="rect">
            <a:avLst/>
          </a:prstGeom>
          <a:noFill/>
          <a:ln/>
        </p:spPr>
        <p:txBody>
          <a:bodyPr wrap="square" lIns="0" tIns="0" rIns="0" bIns="0" rtlCol="0" anchor="ctr"/>
          <a:lstStyle/>
          <a:p>
            <a:pPr indent="0" marL="0">
              <a:buNone/>
            </a:pPr>
            <a:r>
              <a:rPr lang="en-US" sz="1200" dirty="0">
                <a:solidFill>
                  <a:srgbClr val="374151"/>
                </a:solidFill>
                <a:latin typeface="Arial" pitchFamily="34" charset="0"/>
                <a:ea typeface="Arial" pitchFamily="34" charset="-122"/>
                <a:cs typeface="Arial" pitchFamily="34" charset="-120"/>
              </a:rPr>
              <a:t>common nouns, proper nouns, titles</a:t>
            </a:r>
            <a:endParaRPr lang="en-US" sz="1200" dirty="0"/>
          </a:p>
        </p:txBody>
      </p:sp>
      <p:sp>
        <p:nvSpPr>
          <p:cNvPr id="10" name="Text 8"/>
          <p:cNvSpPr/>
          <p:nvPr/>
        </p:nvSpPr>
        <p:spPr>
          <a:xfrm>
            <a:off x="6766560" y="1691640"/>
            <a:ext cx="1737360" cy="365760"/>
          </a:xfrm>
          <a:prstGeom prst="rect">
            <a:avLst/>
          </a:prstGeom>
          <a:noFill/>
          <a:ln/>
        </p:spPr>
        <p:txBody>
          <a:bodyPr wrap="square" lIns="0" tIns="0" rIns="0" bIns="0" rtlCol="0" anchor="ctr"/>
          <a:lstStyle/>
          <a:p>
            <a:pPr indent="0" marL="0">
              <a:buNone/>
            </a:pPr>
            <a:r>
              <a:rPr lang="en-US" sz="1200" b="1" i="1" dirty="0">
                <a:solidFill>
                  <a:srgbClr val="0891B2"/>
                </a:solidFill>
                <a:latin typeface="Arial" pitchFamily="34" charset="0"/>
                <a:ea typeface="Arial" pitchFamily="34" charset="-122"/>
                <a:cs typeface="Arial" pitchFamily="34" charset="-120"/>
              </a:rPr>
              <a:t>→ entities</a:t>
            </a:r>
            <a:endParaRPr lang="en-US" sz="1200" dirty="0"/>
          </a:p>
        </p:txBody>
      </p:sp>
      <p:sp>
        <p:nvSpPr>
          <p:cNvPr id="11" name="Text 9"/>
          <p:cNvSpPr/>
          <p:nvPr/>
        </p:nvSpPr>
        <p:spPr>
          <a:xfrm>
            <a:off x="640080" y="2148840"/>
            <a:ext cx="2286000" cy="365760"/>
          </a:xfrm>
          <a:prstGeom prst="rect">
            <a:avLst/>
          </a:prstGeom>
          <a:noFill/>
          <a:ln/>
        </p:spPr>
        <p:txBody>
          <a:bodyPr wrap="square" lIns="0" tIns="0" rIns="0" bIns="0" rtlCol="0" anchor="ctr"/>
          <a:lstStyle/>
          <a:p>
            <a:pPr indent="0" marL="0">
              <a:buNone/>
            </a:pPr>
            <a:r>
              <a:rPr lang="en-US" sz="1300" b="1" dirty="0">
                <a:solidFill>
                  <a:srgbClr val="D97706"/>
                </a:solidFill>
                <a:latin typeface="Consolas" pitchFamily="34" charset="0"/>
                <a:ea typeface="Consolas" pitchFamily="34" charset="-122"/>
                <a:cs typeface="Consolas" pitchFamily="34" charset="-120"/>
              </a:rPr>
              <a:t>VATT, ADJX, ADVN</a:t>
            </a:r>
            <a:endParaRPr lang="en-US" sz="1300" dirty="0"/>
          </a:p>
        </p:txBody>
      </p:sp>
      <p:sp>
        <p:nvSpPr>
          <p:cNvPr id="12" name="Text 10"/>
          <p:cNvSpPr/>
          <p:nvPr/>
        </p:nvSpPr>
        <p:spPr>
          <a:xfrm>
            <a:off x="3017520" y="2148840"/>
            <a:ext cx="3657600" cy="365760"/>
          </a:xfrm>
          <a:prstGeom prst="rect">
            <a:avLst/>
          </a:prstGeom>
          <a:noFill/>
          <a:ln/>
        </p:spPr>
        <p:txBody>
          <a:bodyPr wrap="square" lIns="0" tIns="0" rIns="0" bIns="0" rtlCol="0" anchor="ctr"/>
          <a:lstStyle/>
          <a:p>
            <a:pPr indent="0" marL="0">
              <a:buNone/>
            </a:pPr>
            <a:r>
              <a:rPr lang="en-US" sz="1200" dirty="0">
                <a:solidFill>
                  <a:srgbClr val="374151"/>
                </a:solidFill>
                <a:latin typeface="Arial" pitchFamily="34" charset="0"/>
                <a:ea typeface="Arial" pitchFamily="34" charset="-122"/>
                <a:cs typeface="Arial" pitchFamily="34" charset="-120"/>
              </a:rPr>
              <a:t>stative-attributive verbs, adjectives</a:t>
            </a:r>
            <a:endParaRPr lang="en-US" sz="1200" dirty="0"/>
          </a:p>
        </p:txBody>
      </p:sp>
      <p:sp>
        <p:nvSpPr>
          <p:cNvPr id="13" name="Text 11"/>
          <p:cNvSpPr/>
          <p:nvPr/>
        </p:nvSpPr>
        <p:spPr>
          <a:xfrm>
            <a:off x="6766560" y="2148840"/>
            <a:ext cx="1737360" cy="365760"/>
          </a:xfrm>
          <a:prstGeom prst="rect">
            <a:avLst/>
          </a:prstGeom>
          <a:noFill/>
          <a:ln/>
        </p:spPr>
        <p:txBody>
          <a:bodyPr wrap="square" lIns="0" tIns="0" rIns="0" bIns="0" rtlCol="0" anchor="ctr"/>
          <a:lstStyle/>
          <a:p>
            <a:pPr indent="0" marL="0">
              <a:buNone/>
            </a:pPr>
            <a:r>
              <a:rPr lang="en-US" sz="1200" b="1" i="1" dirty="0">
                <a:solidFill>
                  <a:srgbClr val="D97706"/>
                </a:solidFill>
                <a:latin typeface="Arial" pitchFamily="34" charset="0"/>
                <a:ea typeface="Arial" pitchFamily="34" charset="-122"/>
                <a:cs typeface="Arial" pitchFamily="34" charset="-120"/>
              </a:rPr>
              <a:t>→ descriptors</a:t>
            </a:r>
            <a:endParaRPr lang="en-US" sz="1200" dirty="0"/>
          </a:p>
        </p:txBody>
      </p:sp>
      <p:sp>
        <p:nvSpPr>
          <p:cNvPr id="14" name="Text 12"/>
          <p:cNvSpPr/>
          <p:nvPr/>
        </p:nvSpPr>
        <p:spPr>
          <a:xfrm>
            <a:off x="640080" y="2743200"/>
            <a:ext cx="7863840" cy="274320"/>
          </a:xfrm>
          <a:prstGeom prst="rect">
            <a:avLst/>
          </a:prstGeom>
          <a:noFill/>
          <a:ln/>
        </p:spPr>
        <p:txBody>
          <a:bodyPr wrap="square" lIns="0" tIns="0" rIns="0" bIns="0" rtlCol="0" anchor="ctr"/>
          <a:lstStyle/>
          <a:p>
            <a:pPr indent="0" marL="0">
              <a:buNone/>
            </a:pPr>
            <a:r>
              <a:rPr lang="en-US" sz="1200" i="1" dirty="0">
                <a:solidFill>
                  <a:srgbClr val="374151"/>
                </a:solidFill>
                <a:latin typeface="Arial" pitchFamily="34" charset="0"/>
                <a:ea typeface="Arial" pitchFamily="34" charset="-122"/>
                <a:cs typeface="Arial" pitchFamily="34" charset="-120"/>
              </a:rPr>
              <a:t>Co-occurrence within the same review → edge in the entity-adjective graph</a:t>
            </a:r>
            <a:endParaRPr lang="en-US" sz="1200" dirty="0"/>
          </a:p>
        </p:txBody>
      </p:sp>
      <p:sp>
        <p:nvSpPr>
          <p:cNvPr id="15" name="Shape 13"/>
          <p:cNvSpPr/>
          <p:nvPr/>
        </p:nvSpPr>
        <p:spPr>
          <a:xfrm>
            <a:off x="640080" y="3108960"/>
            <a:ext cx="7863840" cy="1463040"/>
          </a:xfrm>
          <a:prstGeom prst="rect">
            <a:avLst/>
          </a:prstGeom>
          <a:solidFill>
            <a:srgbClr val="F3F4F6"/>
          </a:solidFill>
          <a:ln w="6350">
            <a:solidFill>
              <a:srgbClr val="D1D5DB"/>
            </a:solidFill>
            <a:prstDash val="solid"/>
          </a:ln>
        </p:spPr>
      </p:sp>
      <p:sp>
        <p:nvSpPr>
          <p:cNvPr id="16" name="Text 14"/>
          <p:cNvSpPr/>
          <p:nvPr/>
        </p:nvSpPr>
        <p:spPr>
          <a:xfrm>
            <a:off x="777240" y="3200400"/>
            <a:ext cx="7589520" cy="1280160"/>
          </a:xfrm>
          <a:prstGeom prst="rect">
            <a:avLst/>
          </a:prstGeom>
          <a:noFill/>
          <a:ln/>
        </p:spPr>
        <p:txBody>
          <a:bodyPr wrap="square" lIns="0" tIns="0" rIns="0" bIns="0" rtlCol="0" anchor="t"/>
          <a:lstStyle/>
          <a:p>
            <a:pPr indent="0" marL="0">
              <a:buNone/>
            </a:pPr>
            <a:r>
              <a:rPr lang="en-US" sz="1100" dirty="0">
                <a:solidFill>
                  <a:srgbClr val="374151"/>
                </a:solidFill>
                <a:latin typeface="Consolas" pitchFamily="34" charset="0"/>
                <a:ea typeface="Consolas" pitchFamily="34" charset="-122"/>
                <a:cs typeface="Consolas" pitchFamily="34" charset="-120"/>
              </a:rPr>
              <a:t>for review in reviews:</a:t>
            </a:r>
            <a:endParaRPr lang="en-US" sz="1100" dirty="0"/>
          </a:p>
          <a:p>
            <a:pPr indent="0" marL="0">
              <a:buNone/>
            </a:pPr>
            <a:r>
              <a:rPr lang="en-US" sz="1100" dirty="0">
                <a:solidFill>
                  <a:srgbClr val="374151"/>
                </a:solidFill>
                <a:latin typeface="Consolas" pitchFamily="34" charset="0"/>
                <a:ea typeface="Consolas" pitchFamily="34" charset="-122"/>
                <a:cs typeface="Consolas" pitchFamily="34" charset="-120"/>
              </a:rPr>
              <a:t>    nouns = [w for w, t in pos_tag(tokens) if t in {'NCMN','NPRP','NTTL'}]</a:t>
            </a:r>
            <a:endParaRPr lang="en-US" sz="1100" dirty="0"/>
          </a:p>
          <a:p>
            <a:pPr indent="0" marL="0">
              <a:buNone/>
            </a:pPr>
            <a:r>
              <a:rPr lang="en-US" sz="1100" dirty="0">
                <a:solidFill>
                  <a:srgbClr val="374151"/>
                </a:solidFill>
                <a:latin typeface="Consolas" pitchFamily="34" charset="0"/>
                <a:ea typeface="Consolas" pitchFamily="34" charset="-122"/>
                <a:cs typeface="Consolas" pitchFamily="34" charset="-120"/>
              </a:rPr>
              <a:t>    adjs  = [w for w, t in pos_tag(tokens) if t in {'VATT','ADJX','ADVN'}]</a:t>
            </a:r>
            <a:endParaRPr lang="en-US" sz="1100" dirty="0"/>
          </a:p>
          <a:p>
            <a:pPr indent="0" marL="0">
              <a:buNone/>
            </a:pPr>
            <a:r>
              <a:rPr lang="en-US" sz="1100" dirty="0">
                <a:solidFill>
                  <a:srgbClr val="374151"/>
                </a:solidFill>
                <a:latin typeface="Consolas" pitchFamily="34" charset="0"/>
                <a:ea typeface="Consolas" pitchFamily="34" charset="-122"/>
                <a:cs typeface="Consolas" pitchFamily="34" charset="-120"/>
              </a:rPr>
              <a:t>    for n in nouns:</a:t>
            </a:r>
            <a:endParaRPr lang="en-US" sz="1100" dirty="0"/>
          </a:p>
          <a:p>
            <a:pPr indent="0" marL="0">
              <a:buNone/>
            </a:pPr>
            <a:r>
              <a:rPr lang="en-US" sz="1100" dirty="0">
                <a:solidFill>
                  <a:srgbClr val="374151"/>
                </a:solidFill>
                <a:latin typeface="Consolas" pitchFamily="34" charset="0"/>
                <a:ea typeface="Consolas" pitchFamily="34" charset="-122"/>
                <a:cs typeface="Consolas" pitchFamily="34" charset="-120"/>
              </a:rPr>
              <a:t>        for a in adjs:</a:t>
            </a:r>
            <a:endParaRPr lang="en-US" sz="1100" dirty="0"/>
          </a:p>
          <a:p>
            <a:pPr indent="0" marL="0">
              <a:buNone/>
            </a:pPr>
            <a:r>
              <a:rPr lang="en-US" sz="1100" dirty="0">
                <a:solidFill>
                  <a:srgbClr val="374151"/>
                </a:solidFill>
                <a:latin typeface="Consolas" pitchFamily="34" charset="0"/>
                <a:ea typeface="Consolas" pitchFamily="34" charset="-122"/>
                <a:cs typeface="Consolas" pitchFamily="34" charset="-120"/>
              </a:rPr>
              <a:t>            pairs[(n, a)] += 1</a:t>
            </a:r>
            <a:endParaRPr lang="en-US" sz="11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9144000" cy="45720"/>
          </a:xfrm>
          <a:prstGeom prst="rect">
            <a:avLst/>
          </a:prstGeom>
          <a:solidFill>
            <a:srgbClr val="0891B2"/>
          </a:solidFill>
          <a:ln/>
        </p:spPr>
      </p:sp>
      <p:sp>
        <p:nvSpPr>
          <p:cNvPr id="3" name="Text 1"/>
          <p:cNvSpPr/>
          <p:nvPr/>
        </p:nvSpPr>
        <p:spPr>
          <a:xfrm>
            <a:off x="640080" y="4828032"/>
            <a:ext cx="5486400" cy="228600"/>
          </a:xfrm>
          <a:prstGeom prst="rect">
            <a:avLst/>
          </a:prstGeom>
          <a:noFill/>
          <a:ln/>
        </p:spPr>
        <p:txBody>
          <a:bodyPr wrap="square" lIns="0" tIns="0" rIns="0" bIns="0" rtlCol="0" anchor="ctr"/>
          <a:lstStyle/>
          <a:p>
            <a:pPr indent="0" marL="0">
              <a:buNone/>
            </a:pPr>
            <a:r>
              <a:rPr lang="en-US" sz="900" dirty="0">
                <a:solidFill>
                  <a:srgbClr val="9CA3AF"/>
                </a:solidFill>
                <a:latin typeface="Arial" pitchFamily="34" charset="0"/>
                <a:ea typeface="Arial" pitchFamily="34" charset="-122"/>
                <a:cs typeface="Arial" pitchFamily="34" charset="-120"/>
              </a:rPr>
              <a:t>NIDA  |  MADT6004  |  Module 5 — leading indicator</a:t>
            </a:r>
            <a:endParaRPr lang="en-US" sz="900" dirty="0"/>
          </a:p>
        </p:txBody>
      </p:sp>
      <p:sp>
        <p:nvSpPr>
          <p:cNvPr id="4" name="Text 2"/>
          <p:cNvSpPr/>
          <p:nvPr/>
        </p:nvSpPr>
        <p:spPr>
          <a:xfrm>
            <a:off x="7772400" y="4800600"/>
            <a:ext cx="914400" cy="274320"/>
          </a:xfrm>
          <a:prstGeom prst="rect">
            <a:avLst/>
          </a:prstGeom>
          <a:noFill/>
          <a:ln/>
        </p:spPr>
        <p:txBody>
          <a:bodyPr wrap="square" lIns="0" tIns="0" rIns="0" bIns="0" rtlCol="0" anchor="ctr"/>
          <a:lstStyle/>
          <a:p>
            <a:pPr algn="r" indent="0" marL="0">
              <a:buNone/>
            </a:pPr>
            <a:r>
              <a:rPr lang="en-US" sz="1200" b="1" dirty="0">
                <a:solidFill>
                  <a:srgbClr val="0891B2"/>
                </a:solidFill>
                <a:latin typeface="Arial" pitchFamily="34" charset="0"/>
                <a:ea typeface="Arial" pitchFamily="34" charset="-122"/>
                <a:cs typeface="Arial" pitchFamily="34" charset="-120"/>
              </a:rPr>
              <a:t>MADT</a:t>
            </a:r>
            <a:endParaRPr lang="en-US" sz="1200" dirty="0"/>
          </a:p>
        </p:txBody>
      </p:sp>
      <p:sp>
        <p:nvSpPr>
          <p:cNvPr id="5" name="Text 3"/>
          <p:cNvSpPr/>
          <p:nvPr/>
        </p:nvSpPr>
        <p:spPr>
          <a:xfrm>
            <a:off x="640080" y="274320"/>
            <a:ext cx="7863840" cy="502920"/>
          </a:xfrm>
          <a:prstGeom prst="rect">
            <a:avLst/>
          </a:prstGeom>
          <a:noFill/>
          <a:ln/>
        </p:spPr>
        <p:txBody>
          <a:bodyPr wrap="square" lIns="0" tIns="0" rIns="0" bIns="0" rtlCol="0" anchor="ctr"/>
          <a:lstStyle/>
          <a:p>
            <a:pPr indent="0" marL="0">
              <a:buNone/>
            </a:pPr>
            <a:r>
              <a:rPr lang="en-US" sz="2800" b="1" dirty="0">
                <a:solidFill>
                  <a:srgbClr val="1F2937"/>
                </a:solidFill>
                <a:latin typeface="Arial" pitchFamily="34" charset="0"/>
                <a:ea typeface="Arial" pitchFamily="34" charset="-122"/>
                <a:cs typeface="Arial" pitchFamily="34" charset="-120"/>
              </a:rPr>
              <a:t>The Thonglor reveal</a:t>
            </a:r>
            <a:endParaRPr lang="en-US" sz="2800" dirty="0"/>
          </a:p>
        </p:txBody>
      </p:sp>
      <p:sp>
        <p:nvSpPr>
          <p:cNvPr id="6" name="Text 4"/>
          <p:cNvSpPr/>
          <p:nvPr/>
        </p:nvSpPr>
        <p:spPr>
          <a:xfrm>
            <a:off x="640080" y="777240"/>
            <a:ext cx="7863840" cy="274320"/>
          </a:xfrm>
          <a:prstGeom prst="rect">
            <a:avLst/>
          </a:prstGeom>
          <a:noFill/>
          <a:ln/>
        </p:spPr>
        <p:txBody>
          <a:bodyPr wrap="square" lIns="0" tIns="0" rIns="0" bIns="0" rtlCol="0" anchor="ctr"/>
          <a:lstStyle/>
          <a:p>
            <a:pPr indent="0" marL="0">
              <a:buNone/>
            </a:pPr>
            <a:r>
              <a:rPr lang="en-US" sz="1300" i="1" dirty="0">
                <a:solidFill>
                  <a:srgbClr val="6B7280"/>
                </a:solidFill>
                <a:latin typeface="Arial" pitchFamily="34" charset="0"/>
                <a:ea typeface="Arial" pitchFamily="34" charset="-122"/>
                <a:cs typeface="Arial" pitchFamily="34" charset="-120"/>
              </a:rPr>
              <a:t>Numbers say everything's fine. Reviews say it isn't.</a:t>
            </a:r>
            <a:endParaRPr lang="en-US" sz="1300" dirty="0"/>
          </a:p>
        </p:txBody>
      </p:sp>
      <p:sp>
        <p:nvSpPr>
          <p:cNvPr id="7" name="Text 5"/>
          <p:cNvSpPr/>
          <p:nvPr/>
        </p:nvSpPr>
        <p:spPr>
          <a:xfrm>
            <a:off x="640080" y="1280160"/>
            <a:ext cx="3749040" cy="320040"/>
          </a:xfrm>
          <a:prstGeom prst="rect">
            <a:avLst/>
          </a:prstGeom>
          <a:noFill/>
          <a:ln/>
        </p:spPr>
        <p:txBody>
          <a:bodyPr wrap="square" lIns="0" tIns="0" rIns="0" bIns="0" rtlCol="0" anchor="ctr"/>
          <a:lstStyle/>
          <a:p>
            <a:pPr indent="0" marL="0">
              <a:buNone/>
            </a:pPr>
            <a:r>
              <a:rPr lang="en-US" sz="1400" b="1" dirty="0">
                <a:solidFill>
                  <a:srgbClr val="DC2626"/>
                </a:solidFill>
                <a:latin typeface="Arial" pitchFamily="34" charset="0"/>
                <a:ea typeface="Arial" pitchFamily="34" charset="-122"/>
                <a:cs typeface="Arial" pitchFamily="34" charset="-120"/>
              </a:rPr>
              <a:t>Last 6 weeks</a:t>
            </a:r>
            <a:endParaRPr lang="en-US" sz="1400" dirty="0"/>
          </a:p>
        </p:txBody>
      </p:sp>
      <p:sp>
        <p:nvSpPr>
          <p:cNvPr id="8" name="Text 6"/>
          <p:cNvSpPr/>
          <p:nvPr/>
        </p:nvSpPr>
        <p:spPr>
          <a:xfrm>
            <a:off x="640080" y="1645920"/>
            <a:ext cx="3749040" cy="457200"/>
          </a:xfrm>
          <a:prstGeom prst="rect">
            <a:avLst/>
          </a:prstGeom>
          <a:noFill/>
          <a:ln/>
        </p:spPr>
        <p:txBody>
          <a:bodyPr wrap="square" lIns="0" tIns="0" rIns="0" bIns="0" rtlCol="0" anchor="ctr"/>
          <a:lstStyle/>
          <a:p>
            <a:pPr indent="0" marL="0">
              <a:buNone/>
            </a:pPr>
            <a:r>
              <a:rPr lang="en-US" sz="2600" b="1" dirty="0">
                <a:solidFill>
                  <a:srgbClr val="DC2626"/>
                </a:solidFill>
                <a:latin typeface="Arial" pitchFamily="34" charset="0"/>
                <a:ea typeface="Arial" pitchFamily="34" charset="-122"/>
                <a:cs typeface="Arial" pitchFamily="34" charset="-120"/>
              </a:rPr>
              <a:t>63% negative reviews</a:t>
            </a:r>
            <a:endParaRPr lang="en-US" sz="2600" dirty="0"/>
          </a:p>
        </p:txBody>
      </p:sp>
      <p:sp>
        <p:nvSpPr>
          <p:cNvPr id="9" name="Text 7"/>
          <p:cNvSpPr/>
          <p:nvPr/>
        </p:nvSpPr>
        <p:spPr>
          <a:xfrm>
            <a:off x="640080" y="2194560"/>
            <a:ext cx="3749040" cy="320040"/>
          </a:xfrm>
          <a:prstGeom prst="rect">
            <a:avLst/>
          </a:prstGeom>
          <a:noFill/>
          <a:ln/>
        </p:spPr>
        <p:txBody>
          <a:bodyPr wrap="square" lIns="0" tIns="0" rIns="0" bIns="0" rtlCol="0" anchor="ctr"/>
          <a:lstStyle/>
          <a:p>
            <a:pPr indent="0" marL="0">
              <a:buNone/>
            </a:pPr>
            <a:r>
              <a:rPr lang="en-US" sz="1200" i="1" dirty="0">
                <a:solidFill>
                  <a:srgbClr val="374151"/>
                </a:solidFill>
                <a:latin typeface="Arial" pitchFamily="34" charset="0"/>
                <a:ea typeface="Arial" pitchFamily="34" charset="-122"/>
                <a:cs typeface="Arial" pitchFamily="34" charset="-120"/>
              </a:rPr>
              <a:t>Avg rating: 3.7  (only -0.4 vs prior)</a:t>
            </a:r>
            <a:endParaRPr lang="en-US" sz="1200" dirty="0"/>
          </a:p>
        </p:txBody>
      </p:sp>
      <p:sp>
        <p:nvSpPr>
          <p:cNvPr id="10" name="Text 8"/>
          <p:cNvSpPr/>
          <p:nvPr/>
        </p:nvSpPr>
        <p:spPr>
          <a:xfrm>
            <a:off x="4572000" y="1280160"/>
            <a:ext cx="3931920" cy="320040"/>
          </a:xfrm>
          <a:prstGeom prst="rect">
            <a:avLst/>
          </a:prstGeom>
          <a:noFill/>
          <a:ln/>
        </p:spPr>
        <p:txBody>
          <a:bodyPr wrap="square" lIns="0" tIns="0" rIns="0" bIns="0" rtlCol="0" anchor="ctr"/>
          <a:lstStyle/>
          <a:p>
            <a:pPr indent="0" marL="0">
              <a:buNone/>
            </a:pPr>
            <a:r>
              <a:rPr lang="en-US" sz="1400" b="1" dirty="0">
                <a:solidFill>
                  <a:srgbClr val="0891B2"/>
                </a:solidFill>
                <a:latin typeface="Arial" pitchFamily="34" charset="0"/>
                <a:ea typeface="Arial" pitchFamily="34" charset="-122"/>
                <a:cs typeface="Arial" pitchFamily="34" charset="-120"/>
              </a:rPr>
              <a:t>Prior period</a:t>
            </a:r>
            <a:endParaRPr lang="en-US" sz="1400" dirty="0"/>
          </a:p>
        </p:txBody>
      </p:sp>
      <p:sp>
        <p:nvSpPr>
          <p:cNvPr id="11" name="Text 9"/>
          <p:cNvSpPr/>
          <p:nvPr/>
        </p:nvSpPr>
        <p:spPr>
          <a:xfrm>
            <a:off x="4572000" y="1645920"/>
            <a:ext cx="3931920" cy="457200"/>
          </a:xfrm>
          <a:prstGeom prst="rect">
            <a:avLst/>
          </a:prstGeom>
          <a:noFill/>
          <a:ln/>
        </p:spPr>
        <p:txBody>
          <a:bodyPr wrap="square" lIns="0" tIns="0" rIns="0" bIns="0" rtlCol="0" anchor="ctr"/>
          <a:lstStyle/>
          <a:p>
            <a:pPr indent="0" marL="0">
              <a:buNone/>
            </a:pPr>
            <a:r>
              <a:rPr lang="en-US" sz="2600" b="1" dirty="0">
                <a:solidFill>
                  <a:srgbClr val="0891B2"/>
                </a:solidFill>
                <a:latin typeface="Arial" pitchFamily="34" charset="0"/>
                <a:ea typeface="Arial" pitchFamily="34" charset="-122"/>
                <a:cs typeface="Arial" pitchFamily="34" charset="-120"/>
              </a:rPr>
              <a:t>23% negative reviews</a:t>
            </a:r>
            <a:endParaRPr lang="en-US" sz="2600" dirty="0"/>
          </a:p>
        </p:txBody>
      </p:sp>
      <p:sp>
        <p:nvSpPr>
          <p:cNvPr id="12" name="Text 10"/>
          <p:cNvSpPr/>
          <p:nvPr/>
        </p:nvSpPr>
        <p:spPr>
          <a:xfrm>
            <a:off x="4572000" y="2194560"/>
            <a:ext cx="3931920" cy="320040"/>
          </a:xfrm>
          <a:prstGeom prst="rect">
            <a:avLst/>
          </a:prstGeom>
          <a:noFill/>
          <a:ln/>
        </p:spPr>
        <p:txBody>
          <a:bodyPr wrap="square" lIns="0" tIns="0" rIns="0" bIns="0" rtlCol="0" anchor="ctr"/>
          <a:lstStyle/>
          <a:p>
            <a:pPr indent="0" marL="0">
              <a:buNone/>
            </a:pPr>
            <a:r>
              <a:rPr lang="en-US" sz="1200" i="1" dirty="0">
                <a:solidFill>
                  <a:srgbClr val="374151"/>
                </a:solidFill>
                <a:latin typeface="Arial" pitchFamily="34" charset="0"/>
                <a:ea typeface="Arial" pitchFamily="34" charset="-122"/>
                <a:cs typeface="Arial" pitchFamily="34" charset="-120"/>
              </a:rPr>
              <a:t>Avg rating: 4.1</a:t>
            </a:r>
            <a:endParaRPr lang="en-US" sz="1200" dirty="0"/>
          </a:p>
        </p:txBody>
      </p:sp>
      <p:sp>
        <p:nvSpPr>
          <p:cNvPr id="13" name="Shape 11"/>
          <p:cNvSpPr/>
          <p:nvPr/>
        </p:nvSpPr>
        <p:spPr>
          <a:xfrm>
            <a:off x="640080" y="2743200"/>
            <a:ext cx="7863840" cy="1325880"/>
          </a:xfrm>
          <a:prstGeom prst="rect">
            <a:avLst/>
          </a:prstGeom>
          <a:solidFill>
            <a:srgbClr val="FEF3C7"/>
          </a:solidFill>
          <a:ln w="12700">
            <a:solidFill>
              <a:srgbClr val="D97706"/>
            </a:solidFill>
            <a:prstDash val="solid"/>
          </a:ln>
        </p:spPr>
      </p:sp>
      <p:sp>
        <p:nvSpPr>
          <p:cNvPr id="14" name="Text 12"/>
          <p:cNvSpPr/>
          <p:nvPr/>
        </p:nvSpPr>
        <p:spPr>
          <a:xfrm>
            <a:off x="777240" y="2834640"/>
            <a:ext cx="7680960" cy="320040"/>
          </a:xfrm>
          <a:prstGeom prst="rect">
            <a:avLst/>
          </a:prstGeom>
          <a:noFill/>
          <a:ln/>
        </p:spPr>
        <p:txBody>
          <a:bodyPr wrap="square" lIns="0" tIns="0" rIns="0" bIns="0" rtlCol="0" anchor="ctr"/>
          <a:lstStyle/>
          <a:p>
            <a:pPr indent="0" marL="0">
              <a:buNone/>
            </a:pPr>
            <a:r>
              <a:rPr lang="en-US" sz="1600" b="1" dirty="0">
                <a:solidFill>
                  <a:srgbClr val="D97706"/>
                </a:solidFill>
                <a:latin typeface="Arial" pitchFamily="34" charset="0"/>
                <a:ea typeface="Arial" pitchFamily="34" charset="-122"/>
                <a:cs typeface="Arial" pitchFamily="34" charset="-120"/>
              </a:rPr>
              <a:t>The leading indicator</a:t>
            </a:r>
            <a:endParaRPr lang="en-US" sz="1600" dirty="0"/>
          </a:p>
        </p:txBody>
      </p:sp>
      <p:sp>
        <p:nvSpPr>
          <p:cNvPr id="15" name="Text 13"/>
          <p:cNvSpPr/>
          <p:nvPr/>
        </p:nvSpPr>
        <p:spPr>
          <a:xfrm>
            <a:off x="777240" y="3154680"/>
            <a:ext cx="7680960" cy="868680"/>
          </a:xfrm>
          <a:prstGeom prst="rect">
            <a:avLst/>
          </a:prstGeom>
          <a:noFill/>
          <a:ln/>
        </p:spPr>
        <p:txBody>
          <a:bodyPr wrap="square" lIns="0" tIns="0" rIns="0" bIns="0" rtlCol="0" anchor="t"/>
          <a:lstStyle/>
          <a:p>
            <a:pPr indent="0" marL="0">
              <a:buNone/>
            </a:pPr>
            <a:r>
              <a:rPr lang="en-US" sz="1200" dirty="0">
                <a:solidFill>
                  <a:srgbClr val="374151"/>
                </a:solidFill>
                <a:latin typeface="Arial" pitchFamily="34" charset="0"/>
                <a:ea typeface="Arial" pitchFamily="34" charset="-122"/>
                <a:cs typeface="Arial" pitchFamily="34" charset="-120"/>
              </a:rPr>
              <a:t>Negative review volume tripled. Average rating barely moved. By the time the rating drops, the customers are already gone — they're rating their last visit, not their next.</a:t>
            </a:r>
            <a:endParaRPr lang="en-US" sz="1200" dirty="0"/>
          </a:p>
          <a:p>
            <a:pPr indent="0" marL="0">
              <a:buNone/>
            </a:pPr>
            <a:endParaRPr lang="en-US" sz="1200" dirty="0"/>
          </a:p>
          <a:p>
            <a:pPr indent="0" marL="0">
              <a:buNone/>
            </a:pPr>
            <a:r>
              <a:rPr lang="en-US" sz="1200" dirty="0">
                <a:solidFill>
                  <a:srgbClr val="374151"/>
                </a:solidFill>
                <a:latin typeface="Arial" pitchFamily="34" charset="0"/>
                <a:ea typeface="Arial" pitchFamily="34" charset="-122"/>
                <a:cs typeface="Arial" pitchFamily="34" charset="-120"/>
              </a:rPr>
              <a:t>This is what dashboards miss. Sentiment monitoring catches it weeks earlier.</a:t>
            </a:r>
            <a:endParaRPr lang="en-US" sz="1200" dirty="0"/>
          </a:p>
        </p:txBody>
      </p:sp>
      <p:sp>
        <p:nvSpPr>
          <p:cNvPr id="16" name="Shape 14"/>
          <p:cNvSpPr/>
          <p:nvPr/>
        </p:nvSpPr>
        <p:spPr>
          <a:xfrm>
            <a:off x="640080" y="4206240"/>
            <a:ext cx="7863840" cy="457200"/>
          </a:xfrm>
          <a:prstGeom prst="rect">
            <a:avLst/>
          </a:prstGeom>
          <a:solidFill>
            <a:srgbClr val="FEF3C7"/>
          </a:solidFill>
          <a:ln w="12700">
            <a:solidFill>
              <a:srgbClr val="D97706"/>
            </a:solidFill>
            <a:prstDash val="solid"/>
          </a:ln>
        </p:spPr>
      </p:sp>
      <p:sp>
        <p:nvSpPr>
          <p:cNvPr id="17" name="Text 15"/>
          <p:cNvSpPr/>
          <p:nvPr/>
        </p:nvSpPr>
        <p:spPr>
          <a:xfrm>
            <a:off x="822960" y="4297680"/>
            <a:ext cx="7498080" cy="274320"/>
          </a:xfrm>
          <a:prstGeom prst="rect">
            <a:avLst/>
          </a:prstGeom>
          <a:noFill/>
          <a:ln/>
        </p:spPr>
        <p:txBody>
          <a:bodyPr wrap="square" lIns="0" tIns="0" rIns="0" bIns="0" rtlCol="0" anchor="ctr"/>
          <a:lstStyle/>
          <a:p>
            <a:pPr indent="0" marL="0">
              <a:buNone/>
            </a:pPr>
            <a:r>
              <a:rPr lang="en-US" sz="1200" i="1" dirty="0">
                <a:solidFill>
                  <a:srgbClr val="1F2937"/>
                </a:solidFill>
                <a:latin typeface="Arial" pitchFamily="34" charset="0"/>
                <a:ea typeface="Arial" pitchFamily="34" charset="-122"/>
                <a:cs typeface="Arial" pitchFamily="34" charset="-120"/>
              </a:rPr>
              <a:t>The Thonglor pattern is engineered into the data. But it is exactly the kind of pattern you find at every Thai retail client when you actually read the reviews.</a:t>
            </a:r>
            <a:endParaRPr lang="en-US" sz="12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9144000" cy="45720"/>
          </a:xfrm>
          <a:prstGeom prst="rect">
            <a:avLst/>
          </a:prstGeom>
          <a:solidFill>
            <a:srgbClr val="0891B2"/>
          </a:solidFill>
          <a:ln/>
        </p:spPr>
      </p:sp>
      <p:sp>
        <p:nvSpPr>
          <p:cNvPr id="3" name="Text 1"/>
          <p:cNvSpPr/>
          <p:nvPr/>
        </p:nvSpPr>
        <p:spPr>
          <a:xfrm>
            <a:off x="640080" y="4828032"/>
            <a:ext cx="5486400" cy="228600"/>
          </a:xfrm>
          <a:prstGeom prst="rect">
            <a:avLst/>
          </a:prstGeom>
          <a:noFill/>
          <a:ln/>
        </p:spPr>
        <p:txBody>
          <a:bodyPr wrap="square" lIns="0" tIns="0" rIns="0" bIns="0" rtlCol="0" anchor="ctr"/>
          <a:lstStyle/>
          <a:p>
            <a:pPr indent="0" marL="0">
              <a:buNone/>
            </a:pPr>
            <a:r>
              <a:rPr lang="en-US" sz="900" dirty="0">
                <a:solidFill>
                  <a:srgbClr val="9CA3AF"/>
                </a:solidFill>
                <a:latin typeface="Arial" pitchFamily="34" charset="0"/>
                <a:ea typeface="Arial" pitchFamily="34" charset="-122"/>
                <a:cs typeface="Arial" pitchFamily="34" charset="-120"/>
              </a:rPr>
              <a:t>NIDA  |  MADT6004  |  Closing</a:t>
            </a:r>
            <a:endParaRPr lang="en-US" sz="900" dirty="0"/>
          </a:p>
        </p:txBody>
      </p:sp>
      <p:sp>
        <p:nvSpPr>
          <p:cNvPr id="4" name="Text 2"/>
          <p:cNvSpPr/>
          <p:nvPr/>
        </p:nvSpPr>
        <p:spPr>
          <a:xfrm>
            <a:off x="7772400" y="4800600"/>
            <a:ext cx="914400" cy="274320"/>
          </a:xfrm>
          <a:prstGeom prst="rect">
            <a:avLst/>
          </a:prstGeom>
          <a:noFill/>
          <a:ln/>
        </p:spPr>
        <p:txBody>
          <a:bodyPr wrap="square" lIns="0" tIns="0" rIns="0" bIns="0" rtlCol="0" anchor="ctr"/>
          <a:lstStyle/>
          <a:p>
            <a:pPr algn="r" indent="0" marL="0">
              <a:buNone/>
            </a:pPr>
            <a:r>
              <a:rPr lang="en-US" sz="1200" b="1" dirty="0">
                <a:solidFill>
                  <a:srgbClr val="0891B2"/>
                </a:solidFill>
                <a:latin typeface="Arial" pitchFamily="34" charset="0"/>
                <a:ea typeface="Arial" pitchFamily="34" charset="-122"/>
                <a:cs typeface="Arial" pitchFamily="34" charset="-120"/>
              </a:rPr>
              <a:t>MADT</a:t>
            </a:r>
            <a:endParaRPr lang="en-US" sz="1200" dirty="0"/>
          </a:p>
        </p:txBody>
      </p:sp>
      <p:sp>
        <p:nvSpPr>
          <p:cNvPr id="5" name="Text 3"/>
          <p:cNvSpPr/>
          <p:nvPr/>
        </p:nvSpPr>
        <p:spPr>
          <a:xfrm>
            <a:off x="640080" y="274320"/>
            <a:ext cx="7863840" cy="502920"/>
          </a:xfrm>
          <a:prstGeom prst="rect">
            <a:avLst/>
          </a:prstGeom>
          <a:noFill/>
          <a:ln/>
        </p:spPr>
        <p:txBody>
          <a:bodyPr wrap="square" lIns="0" tIns="0" rIns="0" bIns="0" rtlCol="0" anchor="ctr"/>
          <a:lstStyle/>
          <a:p>
            <a:pPr indent="0" marL="0">
              <a:buNone/>
            </a:pPr>
            <a:r>
              <a:rPr lang="en-US" sz="2800" b="1" dirty="0">
                <a:solidFill>
                  <a:srgbClr val="1F2937"/>
                </a:solidFill>
                <a:latin typeface="Arial" pitchFamily="34" charset="0"/>
                <a:ea typeface="Arial" pitchFamily="34" charset="-122"/>
                <a:cs typeface="Arial" pitchFamily="34" charset="-120"/>
              </a:rPr>
              <a:t>The loop closes</a:t>
            </a:r>
            <a:endParaRPr lang="en-US" sz="2800" dirty="0"/>
          </a:p>
        </p:txBody>
      </p:sp>
      <p:sp>
        <p:nvSpPr>
          <p:cNvPr id="6" name="Text 4"/>
          <p:cNvSpPr/>
          <p:nvPr/>
        </p:nvSpPr>
        <p:spPr>
          <a:xfrm>
            <a:off x="640080" y="777240"/>
            <a:ext cx="7863840" cy="274320"/>
          </a:xfrm>
          <a:prstGeom prst="rect">
            <a:avLst/>
          </a:prstGeom>
          <a:noFill/>
          <a:ln/>
        </p:spPr>
        <p:txBody>
          <a:bodyPr wrap="square" lIns="0" tIns="0" rIns="0" bIns="0" rtlCol="0" anchor="ctr"/>
          <a:lstStyle/>
          <a:p>
            <a:pPr indent="0" marL="0">
              <a:buNone/>
            </a:pPr>
            <a:r>
              <a:rPr lang="en-US" sz="1300" i="1" dirty="0">
                <a:solidFill>
                  <a:srgbClr val="6B7280"/>
                </a:solidFill>
                <a:latin typeface="Arial" pitchFamily="34" charset="0"/>
                <a:ea typeface="Arial" pitchFamily="34" charset="-122"/>
                <a:cs typeface="Arial" pitchFamily="34" charset="-120"/>
              </a:rPr>
              <a:t>Five modules. One thread. The techniques compose.</a:t>
            </a:r>
            <a:endParaRPr lang="en-US" sz="1300" dirty="0"/>
          </a:p>
        </p:txBody>
      </p:sp>
      <p:sp>
        <p:nvSpPr>
          <p:cNvPr id="7" name="Text 5"/>
          <p:cNvSpPr/>
          <p:nvPr/>
        </p:nvSpPr>
        <p:spPr>
          <a:xfrm>
            <a:off x="640080" y="1371600"/>
            <a:ext cx="2468880" cy="365760"/>
          </a:xfrm>
          <a:prstGeom prst="rect">
            <a:avLst/>
          </a:prstGeom>
          <a:noFill/>
          <a:ln/>
        </p:spPr>
        <p:txBody>
          <a:bodyPr wrap="square" lIns="0" tIns="0" rIns="0" bIns="0" rtlCol="0" anchor="ctr"/>
          <a:lstStyle/>
          <a:p>
            <a:pPr indent="0" marL="0">
              <a:buNone/>
            </a:pPr>
            <a:r>
              <a:rPr lang="en-US" sz="1300" b="1" dirty="0">
                <a:solidFill>
                  <a:srgbClr val="0891B2"/>
                </a:solidFill>
                <a:latin typeface="Arial" pitchFamily="34" charset="0"/>
                <a:ea typeface="Arial" pitchFamily="34" charset="-122"/>
                <a:cs typeface="Arial" pitchFamily="34" charset="-120"/>
              </a:rPr>
              <a:t>[Module 1] What's true</a:t>
            </a:r>
            <a:endParaRPr lang="en-US" sz="1300" dirty="0"/>
          </a:p>
        </p:txBody>
      </p:sp>
      <p:sp>
        <p:nvSpPr>
          <p:cNvPr id="8" name="Text 6"/>
          <p:cNvSpPr/>
          <p:nvPr/>
        </p:nvSpPr>
        <p:spPr>
          <a:xfrm>
            <a:off x="3337560" y="1371600"/>
            <a:ext cx="2468880" cy="365760"/>
          </a:xfrm>
          <a:prstGeom prst="rect">
            <a:avLst/>
          </a:prstGeom>
          <a:noFill/>
          <a:ln/>
        </p:spPr>
        <p:txBody>
          <a:bodyPr wrap="square" lIns="0" tIns="0" rIns="0" bIns="0" rtlCol="0" anchor="ctr"/>
          <a:lstStyle/>
          <a:p>
            <a:pPr indent="0" marL="0">
              <a:buNone/>
            </a:pPr>
            <a:r>
              <a:rPr lang="en-US" sz="1300" b="1" dirty="0">
                <a:solidFill>
                  <a:srgbClr val="059669"/>
                </a:solidFill>
                <a:latin typeface="Arial" pitchFamily="34" charset="0"/>
                <a:ea typeface="Arial" pitchFamily="34" charset="-122"/>
                <a:cs typeface="Arial" pitchFamily="34" charset="-120"/>
              </a:rPr>
              <a:t>[Module 2] What's coming</a:t>
            </a:r>
            <a:endParaRPr lang="en-US" sz="1300" dirty="0"/>
          </a:p>
        </p:txBody>
      </p:sp>
      <p:sp>
        <p:nvSpPr>
          <p:cNvPr id="9" name="Text 7"/>
          <p:cNvSpPr/>
          <p:nvPr/>
        </p:nvSpPr>
        <p:spPr>
          <a:xfrm>
            <a:off x="6035040" y="1371600"/>
            <a:ext cx="2468880" cy="365760"/>
          </a:xfrm>
          <a:prstGeom prst="rect">
            <a:avLst/>
          </a:prstGeom>
          <a:noFill/>
          <a:ln/>
        </p:spPr>
        <p:txBody>
          <a:bodyPr wrap="square" lIns="0" tIns="0" rIns="0" bIns="0" rtlCol="0" anchor="ctr"/>
          <a:lstStyle/>
          <a:p>
            <a:pPr indent="0" marL="0">
              <a:buNone/>
            </a:pPr>
            <a:r>
              <a:rPr lang="en-US" sz="1300" b="1" dirty="0">
                <a:solidFill>
                  <a:srgbClr val="DC2626"/>
                </a:solidFill>
                <a:latin typeface="Arial" pitchFamily="34" charset="0"/>
                <a:ea typeface="Arial" pitchFamily="34" charset="-122"/>
                <a:cs typeface="Arial" pitchFamily="34" charset="-120"/>
              </a:rPr>
              <a:t>[Module 5] What they say</a:t>
            </a:r>
            <a:endParaRPr lang="en-US" sz="1300" dirty="0"/>
          </a:p>
        </p:txBody>
      </p:sp>
      <p:sp>
        <p:nvSpPr>
          <p:cNvPr id="10" name="Text 8"/>
          <p:cNvSpPr/>
          <p:nvPr/>
        </p:nvSpPr>
        <p:spPr>
          <a:xfrm>
            <a:off x="6035040" y="1783080"/>
            <a:ext cx="2468880" cy="365760"/>
          </a:xfrm>
          <a:prstGeom prst="rect">
            <a:avLst/>
          </a:prstGeom>
          <a:noFill/>
          <a:ln/>
        </p:spPr>
        <p:txBody>
          <a:bodyPr wrap="square" lIns="0" tIns="0" rIns="0" bIns="0" rtlCol="0" anchor="ctr"/>
          <a:lstStyle/>
          <a:p>
            <a:pPr indent="0" marL="0">
              <a:buNone/>
            </a:pPr>
            <a:r>
              <a:rPr lang="en-US" sz="1800" dirty="0">
                <a:solidFill>
                  <a:srgbClr val="DC2626"/>
                </a:solidFill>
                <a:latin typeface="Arial" pitchFamily="34" charset="0"/>
                <a:ea typeface="Arial" pitchFamily="34" charset="-122"/>
                <a:cs typeface="Arial" pitchFamily="34" charset="-120"/>
              </a:rPr>
              <a:t>↓</a:t>
            </a:r>
            <a:endParaRPr lang="en-US" sz="1800" dirty="0"/>
          </a:p>
        </p:txBody>
      </p:sp>
      <p:sp>
        <p:nvSpPr>
          <p:cNvPr id="11" name="Text 9"/>
          <p:cNvSpPr/>
          <p:nvPr/>
        </p:nvSpPr>
        <p:spPr>
          <a:xfrm>
            <a:off x="6035040" y="2103120"/>
            <a:ext cx="2468880" cy="274320"/>
          </a:xfrm>
          <a:prstGeom prst="rect">
            <a:avLst/>
          </a:prstGeom>
          <a:noFill/>
          <a:ln/>
        </p:spPr>
        <p:txBody>
          <a:bodyPr wrap="square" lIns="0" tIns="0" rIns="0" bIns="0" rtlCol="0" anchor="ctr"/>
          <a:lstStyle/>
          <a:p>
            <a:pPr indent="0" marL="0">
              <a:buNone/>
            </a:pPr>
            <a:r>
              <a:rPr lang="en-US" sz="1000" i="1" dirty="0">
                <a:solidFill>
                  <a:srgbClr val="6B7280"/>
                </a:solidFill>
                <a:latin typeface="Arial" pitchFamily="34" charset="0"/>
                <a:ea typeface="Arial" pitchFamily="34" charset="-122"/>
                <a:cs typeface="Arial" pitchFamily="34" charset="-120"/>
              </a:rPr>
              <a:t>sentiment as feature</a:t>
            </a:r>
            <a:endParaRPr lang="en-US" sz="1000" dirty="0"/>
          </a:p>
        </p:txBody>
      </p:sp>
      <p:sp>
        <p:nvSpPr>
          <p:cNvPr id="12" name="Shape 10"/>
          <p:cNvSpPr/>
          <p:nvPr/>
        </p:nvSpPr>
        <p:spPr>
          <a:xfrm>
            <a:off x="2743200" y="2560320"/>
            <a:ext cx="3657600" cy="548640"/>
          </a:xfrm>
          <a:prstGeom prst="rect">
            <a:avLst/>
          </a:prstGeom>
          <a:solidFill>
            <a:srgbClr val="D97706"/>
          </a:solidFill>
          <a:ln/>
        </p:spPr>
      </p:sp>
      <p:sp>
        <p:nvSpPr>
          <p:cNvPr id="13" name="Text 11"/>
          <p:cNvSpPr/>
          <p:nvPr/>
        </p:nvSpPr>
        <p:spPr>
          <a:xfrm>
            <a:off x="2743200" y="2560320"/>
            <a:ext cx="3657600" cy="548640"/>
          </a:xfrm>
          <a:prstGeom prst="rect">
            <a:avLst/>
          </a:prstGeom>
          <a:noFill/>
          <a:ln/>
        </p:spPr>
        <p:txBody>
          <a:bodyPr wrap="square" lIns="0" tIns="0" rIns="0" bIns="0"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[Module 3] Who responds</a:t>
            </a:r>
            <a:endParaRPr lang="en-US" sz="1400" dirty="0"/>
          </a:p>
        </p:txBody>
      </p:sp>
      <p:sp>
        <p:nvSpPr>
          <p:cNvPr id="14" name="Text 12"/>
          <p:cNvSpPr/>
          <p:nvPr/>
        </p:nvSpPr>
        <p:spPr>
          <a:xfrm>
            <a:off x="2743200" y="3200400"/>
            <a:ext cx="3657600" cy="274320"/>
          </a:xfrm>
          <a:prstGeom prst="rect">
            <a:avLst/>
          </a:prstGeom>
          <a:noFill/>
          <a:ln/>
        </p:spPr>
        <p:txBody>
          <a:bodyPr wrap="square" lIns="0" tIns="0" rIns="0" bIns="0" rtlCol="0" anchor="ctr"/>
          <a:lstStyle/>
          <a:p>
            <a:pPr algn="ctr" indent="0" marL="0">
              <a:buNone/>
            </a:pPr>
            <a:r>
              <a:rPr lang="en-US" sz="1100" i="1" dirty="0">
                <a:solidFill>
                  <a:srgbClr val="6B7280"/>
                </a:solidFill>
                <a:latin typeface="Arial" pitchFamily="34" charset="0"/>
                <a:ea typeface="Arial" pitchFamily="34" charset="-122"/>
                <a:cs typeface="Arial" pitchFamily="34" charset="-120"/>
              </a:rPr>
              <a:t>↓ segment as filter</a:t>
            </a:r>
            <a:endParaRPr lang="en-US" sz="1100" dirty="0"/>
          </a:p>
        </p:txBody>
      </p:sp>
      <p:sp>
        <p:nvSpPr>
          <p:cNvPr id="15" name="Shape 13"/>
          <p:cNvSpPr/>
          <p:nvPr/>
        </p:nvSpPr>
        <p:spPr>
          <a:xfrm>
            <a:off x="2743200" y="3566160"/>
            <a:ext cx="3657600" cy="548640"/>
          </a:xfrm>
          <a:prstGeom prst="rect">
            <a:avLst/>
          </a:prstGeom>
          <a:solidFill>
            <a:srgbClr val="6D28D9"/>
          </a:solidFill>
          <a:ln/>
        </p:spPr>
      </p:sp>
      <p:sp>
        <p:nvSpPr>
          <p:cNvPr id="16" name="Text 14"/>
          <p:cNvSpPr/>
          <p:nvPr/>
        </p:nvSpPr>
        <p:spPr>
          <a:xfrm>
            <a:off x="2743200" y="3566160"/>
            <a:ext cx="3657600" cy="548640"/>
          </a:xfrm>
          <a:prstGeom prst="rect">
            <a:avLst/>
          </a:prstGeom>
          <a:noFill/>
          <a:ln/>
        </p:spPr>
        <p:txBody>
          <a:bodyPr wrap="square" lIns="0" tIns="0" rIns="0" bIns="0"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[Module 4] Who they are</a:t>
            </a:r>
            <a:endParaRPr lang="en-US" sz="1400" dirty="0"/>
          </a:p>
        </p:txBody>
      </p:sp>
      <p:sp>
        <p:nvSpPr>
          <p:cNvPr id="17" name="Shape 15"/>
          <p:cNvSpPr/>
          <p:nvPr/>
        </p:nvSpPr>
        <p:spPr>
          <a:xfrm>
            <a:off x="640080" y="4297680"/>
            <a:ext cx="7863840" cy="457200"/>
          </a:xfrm>
          <a:prstGeom prst="rect">
            <a:avLst/>
          </a:prstGeom>
          <a:solidFill>
            <a:srgbClr val="E0F7FA"/>
          </a:solidFill>
          <a:ln w="12700">
            <a:solidFill>
              <a:srgbClr val="0891B2"/>
            </a:solidFill>
            <a:prstDash val="solid"/>
          </a:ln>
        </p:spPr>
      </p:sp>
      <p:sp>
        <p:nvSpPr>
          <p:cNvPr id="18" name="Text 16"/>
          <p:cNvSpPr/>
          <p:nvPr/>
        </p:nvSpPr>
        <p:spPr>
          <a:xfrm>
            <a:off x="822960" y="4389120"/>
            <a:ext cx="7498080" cy="274320"/>
          </a:xfrm>
          <a:prstGeom prst="rect">
            <a:avLst/>
          </a:prstGeom>
          <a:noFill/>
          <a:ln/>
        </p:spPr>
        <p:txBody>
          <a:bodyPr wrap="square" lIns="0" tIns="0" rIns="0" bIns="0" rtlCol="0" anchor="ctr"/>
          <a:lstStyle/>
          <a:p>
            <a:pPr indent="0" marL="0">
              <a:buNone/>
            </a:pPr>
            <a:r>
              <a:rPr lang="en-US" sz="1200" i="1" dirty="0">
                <a:solidFill>
                  <a:srgbClr val="1F2937"/>
                </a:solidFill>
                <a:latin typeface="Arial" pitchFamily="34" charset="0"/>
                <a:ea typeface="Arial" pitchFamily="34" charset="-122"/>
                <a:cs typeface="Arial" pitchFamily="34" charset="-120"/>
              </a:rPr>
              <a:t>Module 5's sentiment becomes a feature in Module 3. Module 4's segments filter Module 3's targets. Module 1's findings calibrate Module 2's forecasts. The techniques are not silos.</a:t>
            </a:r>
            <a:endParaRPr lang="en-US" sz="120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9144000" cy="45720"/>
          </a:xfrm>
          <a:prstGeom prst="rect">
            <a:avLst/>
          </a:prstGeom>
          <a:solidFill>
            <a:srgbClr val="0891B2"/>
          </a:solidFill>
          <a:ln/>
        </p:spPr>
      </p:sp>
      <p:sp>
        <p:nvSpPr>
          <p:cNvPr id="3" name="Text 1"/>
          <p:cNvSpPr/>
          <p:nvPr/>
        </p:nvSpPr>
        <p:spPr>
          <a:xfrm>
            <a:off x="640080" y="4828032"/>
            <a:ext cx="5486400" cy="228600"/>
          </a:xfrm>
          <a:prstGeom prst="rect">
            <a:avLst/>
          </a:prstGeom>
          <a:noFill/>
          <a:ln/>
        </p:spPr>
        <p:txBody>
          <a:bodyPr wrap="square" lIns="0" tIns="0" rIns="0" bIns="0" rtlCol="0" anchor="ctr"/>
          <a:lstStyle/>
          <a:p>
            <a:pPr indent="0" marL="0">
              <a:buNone/>
            </a:pPr>
            <a:r>
              <a:rPr lang="en-US" sz="900" dirty="0">
                <a:solidFill>
                  <a:srgbClr val="9CA3AF"/>
                </a:solidFill>
                <a:latin typeface="Arial" pitchFamily="34" charset="0"/>
                <a:ea typeface="Arial" pitchFamily="34" charset="-122"/>
                <a:cs typeface="Arial" pitchFamily="34" charset="-120"/>
              </a:rPr>
              <a:t>NIDA  |  MADT6004  |  Takeaways</a:t>
            </a:r>
            <a:endParaRPr lang="en-US" sz="900" dirty="0"/>
          </a:p>
        </p:txBody>
      </p:sp>
      <p:sp>
        <p:nvSpPr>
          <p:cNvPr id="4" name="Text 2"/>
          <p:cNvSpPr/>
          <p:nvPr/>
        </p:nvSpPr>
        <p:spPr>
          <a:xfrm>
            <a:off x="7772400" y="4800600"/>
            <a:ext cx="914400" cy="274320"/>
          </a:xfrm>
          <a:prstGeom prst="rect">
            <a:avLst/>
          </a:prstGeom>
          <a:noFill/>
          <a:ln/>
        </p:spPr>
        <p:txBody>
          <a:bodyPr wrap="square" lIns="0" tIns="0" rIns="0" bIns="0" rtlCol="0" anchor="ctr"/>
          <a:lstStyle/>
          <a:p>
            <a:pPr algn="r" indent="0" marL="0">
              <a:buNone/>
            </a:pPr>
            <a:r>
              <a:rPr lang="en-US" sz="1200" b="1" dirty="0">
                <a:solidFill>
                  <a:srgbClr val="0891B2"/>
                </a:solidFill>
                <a:latin typeface="Arial" pitchFamily="34" charset="0"/>
                <a:ea typeface="Arial" pitchFamily="34" charset="-122"/>
                <a:cs typeface="Arial" pitchFamily="34" charset="-120"/>
              </a:rPr>
              <a:t>MADT</a:t>
            </a:r>
            <a:endParaRPr lang="en-US" sz="1200" dirty="0"/>
          </a:p>
        </p:txBody>
      </p:sp>
      <p:sp>
        <p:nvSpPr>
          <p:cNvPr id="5" name="Text 3"/>
          <p:cNvSpPr/>
          <p:nvPr/>
        </p:nvSpPr>
        <p:spPr>
          <a:xfrm>
            <a:off x="640080" y="274320"/>
            <a:ext cx="7863840" cy="502920"/>
          </a:xfrm>
          <a:prstGeom prst="rect">
            <a:avLst/>
          </a:prstGeom>
          <a:noFill/>
          <a:ln/>
        </p:spPr>
        <p:txBody>
          <a:bodyPr wrap="square" lIns="0" tIns="0" rIns="0" bIns="0" rtlCol="0" anchor="ctr"/>
          <a:lstStyle/>
          <a:p>
            <a:pPr indent="0" marL="0">
              <a:buNone/>
            </a:pPr>
            <a:r>
              <a:rPr lang="en-US" sz="2800" b="1" dirty="0">
                <a:solidFill>
                  <a:srgbClr val="1F2937"/>
                </a:solidFill>
                <a:latin typeface="Arial" pitchFamily="34" charset="0"/>
                <a:ea typeface="Arial" pitchFamily="34" charset="-122"/>
                <a:cs typeface="Arial" pitchFamily="34" charset="-120"/>
              </a:rPr>
              <a:t>Eight habits worth taking with you</a:t>
            </a:r>
            <a:endParaRPr lang="en-US" sz="2800" dirty="0"/>
          </a:p>
        </p:txBody>
      </p:sp>
      <p:sp>
        <p:nvSpPr>
          <p:cNvPr id="6" name="Text 4"/>
          <p:cNvSpPr/>
          <p:nvPr/>
        </p:nvSpPr>
        <p:spPr>
          <a:xfrm>
            <a:off x="640080" y="777240"/>
            <a:ext cx="7863840" cy="274320"/>
          </a:xfrm>
          <a:prstGeom prst="rect">
            <a:avLst/>
          </a:prstGeom>
          <a:noFill/>
          <a:ln/>
        </p:spPr>
        <p:txBody>
          <a:bodyPr wrap="square" lIns="0" tIns="0" rIns="0" bIns="0" rtlCol="0" anchor="ctr"/>
          <a:lstStyle/>
          <a:p>
            <a:pPr indent="0" marL="0">
              <a:buNone/>
            </a:pPr>
            <a:r>
              <a:rPr lang="en-US" sz="1300" i="1" dirty="0">
                <a:solidFill>
                  <a:srgbClr val="6B7280"/>
                </a:solidFill>
                <a:latin typeface="Arial" pitchFamily="34" charset="0"/>
                <a:ea typeface="Arial" pitchFamily="34" charset="-122"/>
                <a:cs typeface="Arial" pitchFamily="34" charset="-120"/>
              </a:rPr>
              <a:t>If you remember nothing else.</a:t>
            </a:r>
            <a:endParaRPr lang="en-US" sz="1300" dirty="0"/>
          </a:p>
        </p:txBody>
      </p:sp>
      <p:sp>
        <p:nvSpPr>
          <p:cNvPr id="7" name="Text 5"/>
          <p:cNvSpPr/>
          <p:nvPr/>
        </p:nvSpPr>
        <p:spPr>
          <a:xfrm>
            <a:off x="640080" y="1280160"/>
            <a:ext cx="7863840" cy="365760"/>
          </a:xfrm>
          <a:prstGeom prst="rect">
            <a:avLst/>
          </a:prstGeom>
          <a:noFill/>
          <a:ln/>
        </p:spPr>
        <p:txBody>
          <a:bodyPr wrap="square" lIns="0" tIns="0" rIns="0" bIns="0" rtlCol="0" anchor="ctr"/>
          <a:lstStyle/>
          <a:p>
            <a:pPr indent="0" marL="0">
              <a:buNone/>
            </a:pPr>
            <a:r>
              <a:rPr lang="en-US" sz="1300" dirty="0">
                <a:solidFill>
                  <a:srgbClr val="374151"/>
                </a:solidFill>
                <a:latin typeface="Arial" pitchFamily="34" charset="0"/>
                <a:ea typeface="Arial" pitchFamily="34" charset="-122"/>
                <a:cs typeface="Arial" pitchFamily="34" charset="-120"/>
              </a:rPr>
              <a:t>1. Pre-register hypotheses. The dictionary is the audit trail.</a:t>
            </a:r>
            <a:endParaRPr lang="en-US" sz="1300" dirty="0"/>
          </a:p>
        </p:txBody>
      </p:sp>
      <p:sp>
        <p:nvSpPr>
          <p:cNvPr id="8" name="Text 6"/>
          <p:cNvSpPr/>
          <p:nvPr/>
        </p:nvSpPr>
        <p:spPr>
          <a:xfrm>
            <a:off x="640080" y="1664208"/>
            <a:ext cx="7863840" cy="365760"/>
          </a:xfrm>
          <a:prstGeom prst="rect">
            <a:avLst/>
          </a:prstGeom>
          <a:noFill/>
          <a:ln/>
        </p:spPr>
        <p:txBody>
          <a:bodyPr wrap="square" lIns="0" tIns="0" rIns="0" bIns="0" rtlCol="0" anchor="ctr"/>
          <a:lstStyle/>
          <a:p>
            <a:pPr indent="0" marL="0">
              <a:buNone/>
            </a:pPr>
            <a:r>
              <a:rPr lang="en-US" sz="1300" dirty="0">
                <a:solidFill>
                  <a:srgbClr val="374151"/>
                </a:solidFill>
                <a:latin typeface="Arial" pitchFamily="34" charset="0"/>
                <a:ea typeface="Arial" pitchFamily="34" charset="-122"/>
                <a:cs typeface="Arial" pitchFamily="34" charset="-120"/>
              </a:rPr>
              <a:t>2. Pick the test by data type — not by what you remember.</a:t>
            </a:r>
            <a:endParaRPr lang="en-US" sz="1300" dirty="0"/>
          </a:p>
        </p:txBody>
      </p:sp>
      <p:sp>
        <p:nvSpPr>
          <p:cNvPr id="9" name="Text 7"/>
          <p:cNvSpPr/>
          <p:nvPr/>
        </p:nvSpPr>
        <p:spPr>
          <a:xfrm>
            <a:off x="640080" y="2048256"/>
            <a:ext cx="7863840" cy="365760"/>
          </a:xfrm>
          <a:prstGeom prst="rect">
            <a:avLst/>
          </a:prstGeom>
          <a:noFill/>
          <a:ln/>
        </p:spPr>
        <p:txBody>
          <a:bodyPr wrap="square" lIns="0" tIns="0" rIns="0" bIns="0" rtlCol="0" anchor="ctr"/>
          <a:lstStyle/>
          <a:p>
            <a:pPr indent="0" marL="0">
              <a:buNone/>
            </a:pPr>
            <a:r>
              <a:rPr lang="en-US" sz="1300" dirty="0">
                <a:solidFill>
                  <a:srgbClr val="374151"/>
                </a:solidFill>
                <a:latin typeface="Arial" pitchFamily="34" charset="0"/>
                <a:ea typeface="Arial" pitchFamily="34" charset="-122"/>
                <a:cs typeface="Arial" pitchFamily="34" charset="-120"/>
              </a:rPr>
              <a:t>3. FDR-correct when you sweep. Always.</a:t>
            </a:r>
            <a:endParaRPr lang="en-US" sz="1300" dirty="0"/>
          </a:p>
        </p:txBody>
      </p:sp>
      <p:sp>
        <p:nvSpPr>
          <p:cNvPr id="10" name="Text 8"/>
          <p:cNvSpPr/>
          <p:nvPr/>
        </p:nvSpPr>
        <p:spPr>
          <a:xfrm>
            <a:off x="640080" y="2432304"/>
            <a:ext cx="7863840" cy="365760"/>
          </a:xfrm>
          <a:prstGeom prst="rect">
            <a:avLst/>
          </a:prstGeom>
          <a:noFill/>
          <a:ln/>
        </p:spPr>
        <p:txBody>
          <a:bodyPr wrap="square" lIns="0" tIns="0" rIns="0" bIns="0" rtlCol="0" anchor="ctr"/>
          <a:lstStyle/>
          <a:p>
            <a:pPr indent="0" marL="0">
              <a:buNone/>
            </a:pPr>
            <a:r>
              <a:rPr lang="en-US" sz="1300" dirty="0">
                <a:solidFill>
                  <a:srgbClr val="374151"/>
                </a:solidFill>
                <a:latin typeface="Arial" pitchFamily="34" charset="0"/>
                <a:ea typeface="Arial" pitchFamily="34" charset="-122"/>
                <a:cs typeface="Arial" pitchFamily="34" charset="-120"/>
              </a:rPr>
              <a:t>4. Confirm with regression + interactions when the simple test surprises you.</a:t>
            </a:r>
            <a:endParaRPr lang="en-US" sz="1300" dirty="0"/>
          </a:p>
        </p:txBody>
      </p:sp>
      <p:sp>
        <p:nvSpPr>
          <p:cNvPr id="11" name="Text 9"/>
          <p:cNvSpPr/>
          <p:nvPr/>
        </p:nvSpPr>
        <p:spPr>
          <a:xfrm>
            <a:off x="640080" y="2816352"/>
            <a:ext cx="7863840" cy="365760"/>
          </a:xfrm>
          <a:prstGeom prst="rect">
            <a:avLst/>
          </a:prstGeom>
          <a:noFill/>
          <a:ln/>
        </p:spPr>
        <p:txBody>
          <a:bodyPr wrap="square" lIns="0" tIns="0" rIns="0" bIns="0" rtlCol="0" anchor="ctr"/>
          <a:lstStyle/>
          <a:p>
            <a:pPr indent="0" marL="0">
              <a:buNone/>
            </a:pPr>
            <a:r>
              <a:rPr lang="en-US" sz="1300" dirty="0">
                <a:solidFill>
                  <a:srgbClr val="374151"/>
                </a:solidFill>
                <a:latin typeface="Arial" pitchFamily="34" charset="0"/>
                <a:ea typeface="Arial" pitchFamily="34" charset="-122"/>
                <a:cs typeface="Arial" pitchFamily="34" charset="-120"/>
              </a:rPr>
              <a:t>5. Try the simple forecasts first. They often win.</a:t>
            </a:r>
            <a:endParaRPr lang="en-US" sz="1300" dirty="0"/>
          </a:p>
        </p:txBody>
      </p:sp>
      <p:sp>
        <p:nvSpPr>
          <p:cNvPr id="12" name="Text 10"/>
          <p:cNvSpPr/>
          <p:nvPr/>
        </p:nvSpPr>
        <p:spPr>
          <a:xfrm>
            <a:off x="640080" y="3200400"/>
            <a:ext cx="7863840" cy="365760"/>
          </a:xfrm>
          <a:prstGeom prst="rect">
            <a:avLst/>
          </a:prstGeom>
          <a:noFill/>
          <a:ln/>
        </p:spPr>
        <p:txBody>
          <a:bodyPr wrap="square" lIns="0" tIns="0" rIns="0" bIns="0" rtlCol="0" anchor="ctr"/>
          <a:lstStyle/>
          <a:p>
            <a:pPr indent="0" marL="0">
              <a:buNone/>
            </a:pPr>
            <a:r>
              <a:rPr lang="en-US" sz="1300" dirty="0">
                <a:solidFill>
                  <a:srgbClr val="374151"/>
                </a:solidFill>
                <a:latin typeface="Arial" pitchFamily="34" charset="0"/>
                <a:ea typeface="Arial" pitchFamily="34" charset="-122"/>
                <a:cs typeface="Arial" pitchFamily="34" charset="-120"/>
              </a:rPr>
              <a:t>6. Measure model fit with the metric the business actually cares about.</a:t>
            </a:r>
            <a:endParaRPr lang="en-US" sz="1300" dirty="0"/>
          </a:p>
        </p:txBody>
      </p:sp>
      <p:sp>
        <p:nvSpPr>
          <p:cNvPr id="13" name="Text 11"/>
          <p:cNvSpPr/>
          <p:nvPr/>
        </p:nvSpPr>
        <p:spPr>
          <a:xfrm>
            <a:off x="640080" y="3584448"/>
            <a:ext cx="7863840" cy="365760"/>
          </a:xfrm>
          <a:prstGeom prst="rect">
            <a:avLst/>
          </a:prstGeom>
          <a:noFill/>
          <a:ln/>
        </p:spPr>
        <p:txBody>
          <a:bodyPr wrap="square" lIns="0" tIns="0" rIns="0" bIns="0" rtlCol="0" anchor="ctr"/>
          <a:lstStyle/>
          <a:p>
            <a:pPr indent="0" marL="0">
              <a:buNone/>
            </a:pPr>
            <a:r>
              <a:rPr lang="en-US" sz="1300" dirty="0">
                <a:solidFill>
                  <a:srgbClr val="374151"/>
                </a:solidFill>
                <a:latin typeface="Arial" pitchFamily="34" charset="0"/>
                <a:ea typeface="Arial" pitchFamily="34" charset="-122"/>
                <a:cs typeface="Arial" pitchFamily="34" charset="-120"/>
              </a:rPr>
              <a:t>7. Imbalanced classes need stratified splits and lift charts. Accuracy is misleading.</a:t>
            </a:r>
            <a:endParaRPr lang="en-US" sz="1300" dirty="0"/>
          </a:p>
        </p:txBody>
      </p:sp>
      <p:sp>
        <p:nvSpPr>
          <p:cNvPr id="14" name="Text 12"/>
          <p:cNvSpPr/>
          <p:nvPr/>
        </p:nvSpPr>
        <p:spPr>
          <a:xfrm>
            <a:off x="640080" y="3968496"/>
            <a:ext cx="7863840" cy="365760"/>
          </a:xfrm>
          <a:prstGeom prst="rect">
            <a:avLst/>
          </a:prstGeom>
          <a:noFill/>
          <a:ln/>
        </p:spPr>
        <p:txBody>
          <a:bodyPr wrap="square" lIns="0" tIns="0" rIns="0" bIns="0" rtlCol="0" anchor="ctr"/>
          <a:lstStyle/>
          <a:p>
            <a:pPr indent="0" marL="0">
              <a:buNone/>
            </a:pPr>
            <a:r>
              <a:rPr lang="en-US" sz="1300" dirty="0">
                <a:solidFill>
                  <a:srgbClr val="374151"/>
                </a:solidFill>
                <a:latin typeface="Arial" pitchFamily="34" charset="0"/>
                <a:ea typeface="Arial" pitchFamily="34" charset="-122"/>
                <a:cs typeface="Arial" pitchFamily="34" charset="-120"/>
              </a:rPr>
              <a:t>8. Read the reviews. Sentiment is a leading indicator for the dashboards.</a:t>
            </a:r>
            <a:endParaRPr lang="en-US" sz="1300" dirty="0"/>
          </a:p>
        </p:txBody>
      </p:sp>
      <p:sp>
        <p:nvSpPr>
          <p:cNvPr id="15" name="Shape 13"/>
          <p:cNvSpPr/>
          <p:nvPr/>
        </p:nvSpPr>
        <p:spPr>
          <a:xfrm>
            <a:off x="640080" y="4434840"/>
            <a:ext cx="7863840" cy="365760"/>
          </a:xfrm>
          <a:prstGeom prst="rect">
            <a:avLst/>
          </a:prstGeom>
          <a:solidFill>
            <a:srgbClr val="E0F7FA"/>
          </a:solidFill>
          <a:ln w="12700">
            <a:solidFill>
              <a:srgbClr val="0891B2"/>
            </a:solidFill>
            <a:prstDash val="solid"/>
          </a:ln>
        </p:spPr>
      </p:sp>
      <p:sp>
        <p:nvSpPr>
          <p:cNvPr id="16" name="Text 14"/>
          <p:cNvSpPr/>
          <p:nvPr/>
        </p:nvSpPr>
        <p:spPr>
          <a:xfrm>
            <a:off x="822960" y="4526280"/>
            <a:ext cx="7498080" cy="182880"/>
          </a:xfrm>
          <a:prstGeom prst="rect">
            <a:avLst/>
          </a:prstGeom>
          <a:noFill/>
          <a:ln/>
        </p:spPr>
        <p:txBody>
          <a:bodyPr wrap="square" lIns="0" tIns="0" rIns="0" bIns="0" rtlCol="0" anchor="ctr"/>
          <a:lstStyle/>
          <a:p>
            <a:pPr indent="0" marL="0">
              <a:buNone/>
            </a:pPr>
            <a:r>
              <a:rPr lang="en-US" sz="1200" i="1" dirty="0">
                <a:solidFill>
                  <a:srgbClr val="1F2937"/>
                </a:solidFill>
                <a:latin typeface="Arial" pitchFamily="34" charset="0"/>
                <a:ea typeface="Arial" pitchFamily="34" charset="-122"/>
                <a:cs typeface="Arial" pitchFamily="34" charset="-120"/>
              </a:rPr>
              <a:t>These habits travel. Different industry, different tools — same disciplines.</a:t>
            </a:r>
            <a:endParaRPr lang="en-US" sz="120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1F2937"/>
        </a:solidFill>
      </p:bgPr>
    </p:bg>
    <p:spTree>
      <p:nvGrpSpPr>
        <p:cNvPr id="1" name=""/>
        <p:cNvGrpSpPr/>
        <p:nvPr/>
      </p:nvGrpSpPr>
      <p:grpSpPr>
        <a:xfrm>
          <a:off x="0" y="0"/>
          <a:ext cx="0" cy="0"/>
          <a:chOff x="0" y="0"/>
          <a:chExt cx="0" cy="0"/>
        </a:xfrm>
      </p:grpSpPr>
      <p:sp>
        <p:nvSpPr>
          <p:cNvPr id="2" name="Shape 0"/>
          <p:cNvSpPr/>
          <p:nvPr/>
        </p:nvSpPr>
        <p:spPr>
          <a:xfrm>
            <a:off x="0" y="0"/>
            <a:ext cx="9144000" cy="45720"/>
          </a:xfrm>
          <a:prstGeom prst="rect">
            <a:avLst/>
          </a:prstGeom>
          <a:solidFill>
            <a:srgbClr val="0891B2"/>
          </a:solidFill>
          <a:ln/>
        </p:spPr>
      </p:sp>
      <p:sp>
        <p:nvSpPr>
          <p:cNvPr id="3" name="Text 1"/>
          <p:cNvSpPr/>
          <p:nvPr/>
        </p:nvSpPr>
        <p:spPr>
          <a:xfrm>
            <a:off x="7680960" y="228600"/>
            <a:ext cx="1097280" cy="365760"/>
          </a:xfrm>
          <a:prstGeom prst="rect">
            <a:avLst/>
          </a:prstGeom>
          <a:noFill/>
          <a:ln/>
        </p:spPr>
        <p:txBody>
          <a:bodyPr wrap="square" rtlCol="0" anchor="ctr"/>
          <a:lstStyle/>
          <a:p>
            <a:pPr algn="r" indent="0" marL="0">
              <a:buNone/>
            </a:pPr>
            <a:r>
              <a:rPr lang="en-US" sz="1300" b="1" dirty="0">
                <a:solidFill>
                  <a:srgbClr val="0891B2"/>
                </a:solidFill>
                <a:latin typeface="Arial" pitchFamily="34" charset="0"/>
                <a:ea typeface="Arial" pitchFamily="34" charset="-122"/>
                <a:cs typeface="Arial" pitchFamily="34" charset="-120"/>
              </a:rPr>
              <a:t>MADT</a:t>
            </a:r>
            <a:endParaRPr lang="en-US" sz="1300" dirty="0"/>
          </a:p>
        </p:txBody>
      </p:sp>
      <p:sp>
        <p:nvSpPr>
          <p:cNvPr id="4" name="Shape 2"/>
          <p:cNvSpPr/>
          <p:nvPr/>
        </p:nvSpPr>
        <p:spPr>
          <a:xfrm>
            <a:off x="640080" y="1691640"/>
            <a:ext cx="73152" cy="1371600"/>
          </a:xfrm>
          <a:prstGeom prst="rect">
            <a:avLst/>
          </a:prstGeom>
          <a:solidFill>
            <a:srgbClr val="0891B2"/>
          </a:solidFill>
          <a:ln/>
        </p:spPr>
      </p:sp>
      <p:sp>
        <p:nvSpPr>
          <p:cNvPr id="5" name="Text 3"/>
          <p:cNvSpPr/>
          <p:nvPr/>
        </p:nvSpPr>
        <p:spPr>
          <a:xfrm>
            <a:off x="868680" y="1645920"/>
            <a:ext cx="7680960" cy="822960"/>
          </a:xfrm>
          <a:prstGeom prst="rect">
            <a:avLst/>
          </a:prstGeom>
          <a:noFill/>
          <a:ln/>
        </p:spPr>
        <p:txBody>
          <a:bodyPr wrap="square" lIns="0" tIns="0" rIns="0" bIns="0" rtlCol="0" anchor="ctr"/>
          <a:lstStyle/>
          <a:p>
            <a:pPr indent="0" marL="0">
              <a:buNone/>
            </a:pPr>
            <a:r>
              <a:rPr lang="en-US" sz="4400" b="1" dirty="0">
                <a:solidFill>
                  <a:srgbClr val="FFFFFF"/>
                </a:solidFill>
                <a:latin typeface="Arial" pitchFamily="34" charset="0"/>
                <a:ea typeface="Arial" pitchFamily="34" charset="-122"/>
                <a:cs typeface="Arial" pitchFamily="34" charset="-120"/>
              </a:rPr>
              <a:t>Thank you.</a:t>
            </a:r>
            <a:endParaRPr lang="en-US" sz="4400" dirty="0"/>
          </a:p>
        </p:txBody>
      </p:sp>
      <p:sp>
        <p:nvSpPr>
          <p:cNvPr id="6" name="Text 4"/>
          <p:cNvSpPr/>
          <p:nvPr/>
        </p:nvSpPr>
        <p:spPr>
          <a:xfrm>
            <a:off x="868680" y="2468880"/>
            <a:ext cx="7680960" cy="457200"/>
          </a:xfrm>
          <a:prstGeom prst="rect">
            <a:avLst/>
          </a:prstGeom>
          <a:noFill/>
          <a:ln/>
        </p:spPr>
        <p:txBody>
          <a:bodyPr wrap="square" lIns="0" tIns="0" rIns="0" bIns="0" rtlCol="0" anchor="ctr"/>
          <a:lstStyle/>
          <a:p>
            <a:pPr indent="0" marL="0">
              <a:buNone/>
            </a:pPr>
            <a:r>
              <a:rPr lang="en-US" sz="1800" i="1" dirty="0">
                <a:solidFill>
                  <a:srgbClr val="9CA3AF"/>
                </a:solidFill>
                <a:latin typeface="Arial" pitchFamily="34" charset="0"/>
                <a:ea typeface="Arial" pitchFamily="34" charset="-122"/>
                <a:cs typeface="Arial" pitchFamily="34" charset="-120"/>
              </a:rPr>
              <a:t>Now build something with it.</a:t>
            </a:r>
            <a:endParaRPr lang="en-US" sz="1800" dirty="0"/>
          </a:p>
        </p:txBody>
      </p:sp>
      <p:sp>
        <p:nvSpPr>
          <p:cNvPr id="7" name="Text 5"/>
          <p:cNvSpPr/>
          <p:nvPr/>
        </p:nvSpPr>
        <p:spPr>
          <a:xfrm>
            <a:off x="640080" y="4114800"/>
            <a:ext cx="7863840" cy="274320"/>
          </a:xfrm>
          <a:prstGeom prst="rect">
            <a:avLst/>
          </a:prstGeom>
          <a:noFill/>
          <a:ln/>
        </p:spPr>
        <p:txBody>
          <a:bodyPr wrap="square" lIns="0" tIns="0" rIns="0" bIns="0" rtlCol="0" anchor="ctr"/>
          <a:lstStyle/>
          <a:p>
            <a:pPr indent="0" marL="0">
              <a:buNone/>
            </a:pPr>
            <a:r>
              <a:rPr lang="en-US" sz="1200" dirty="0">
                <a:solidFill>
                  <a:srgbClr val="0891B2"/>
                </a:solidFill>
                <a:latin typeface="Consolas" pitchFamily="34" charset="0"/>
                <a:ea typeface="Consolas" pitchFamily="34" charset="-122"/>
                <a:cs typeface="Consolas" pitchFamily="34" charset="-120"/>
              </a:rPr>
              <a:t>github.com/thanachart/MADT6004  →  Integrated Data Analytics Exercise</a:t>
            </a:r>
            <a:endParaRPr lang="en-US" sz="1200" dirty="0"/>
          </a:p>
        </p:txBody>
      </p:sp>
      <p:sp>
        <p:nvSpPr>
          <p:cNvPr id="8" name="Text 6"/>
          <p:cNvSpPr/>
          <p:nvPr/>
        </p:nvSpPr>
        <p:spPr>
          <a:xfrm>
            <a:off x="640080" y="4434840"/>
            <a:ext cx="7863840" cy="274320"/>
          </a:xfrm>
          <a:prstGeom prst="rect">
            <a:avLst/>
          </a:prstGeom>
          <a:noFill/>
          <a:ln/>
        </p:spPr>
        <p:txBody>
          <a:bodyPr wrap="square" lIns="0" tIns="0" rIns="0" bIns="0" rtlCol="0" anchor="ctr"/>
          <a:lstStyle/>
          <a:p>
            <a:pPr indent="0" marL="0">
              <a:buNone/>
            </a:pPr>
            <a:r>
              <a:rPr lang="en-US" sz="1200" dirty="0">
                <a:solidFill>
                  <a:srgbClr val="9CA3AF"/>
                </a:solidFill>
                <a:latin typeface="Arial" pitchFamily="34" charset="0"/>
                <a:ea typeface="Arial" pitchFamily="34" charset="-122"/>
                <a:cs typeface="Arial" pitchFamily="34" charset="-120"/>
              </a:rPr>
              <a:t>MADT6004  |  Asst. Prof. Dr. Thanachart Ritbumroong  |  NIDA</a:t>
            </a:r>
            <a:endParaRPr lang="en-US" sz="12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30</Slides>
  <Notes>30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30</vt:i4>
      </vt:variant>
    </vt:vector>
  </HeadingPairs>
  <TitlesOfParts>
    <vt:vector size="3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2026-05-08T10:48:14Z</dcterms:created>
  <dcterms:modified xsi:type="dcterms:W3CDTF">2026-05-08T10:48:14Z</dcterms:modified>
</cp:coreProperties>
</file>